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44"/>
  </p:notesMasterIdLst>
  <p:sldIdLst>
    <p:sldId id="256" r:id="rId2"/>
    <p:sldId id="291" r:id="rId3"/>
    <p:sldId id="292" r:id="rId4"/>
    <p:sldId id="293" r:id="rId5"/>
    <p:sldId id="297" r:id="rId6"/>
    <p:sldId id="298" r:id="rId7"/>
    <p:sldId id="299" r:id="rId8"/>
    <p:sldId id="300" r:id="rId9"/>
    <p:sldId id="303" r:id="rId10"/>
    <p:sldId id="304" r:id="rId11"/>
    <p:sldId id="305" r:id="rId12"/>
    <p:sldId id="306" r:id="rId13"/>
    <p:sldId id="257" r:id="rId14"/>
    <p:sldId id="260" r:id="rId15"/>
    <p:sldId id="261" r:id="rId16"/>
    <p:sldId id="262" r:id="rId17"/>
    <p:sldId id="266" r:id="rId18"/>
    <p:sldId id="259"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910580-2A5A-4E45-925B-CACCF8C0B85F}" type="datetimeFigureOut">
              <a:rPr lang="fr-FR" smtClean="0"/>
              <a:t>15/05/2025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ED4D56-1D12-4C59-BE0B-E4F26EDE9652}" type="slidenum">
              <a:rPr lang="fr-FR" smtClean="0"/>
              <a:t>‹N°›</a:t>
            </a:fld>
            <a:endParaRPr lang="fr-FR"/>
          </a:p>
        </p:txBody>
      </p:sp>
    </p:spTree>
    <p:extLst>
      <p:ext uri="{BB962C8B-B14F-4D97-AF65-F5344CB8AC3E}">
        <p14:creationId xmlns:p14="http://schemas.microsoft.com/office/powerpoint/2010/main" val="428751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MA" dirty="0"/>
          </a:p>
        </p:txBody>
      </p:sp>
      <p:sp>
        <p:nvSpPr>
          <p:cNvPr id="4" name="Espace réservé du numéro de diapositive 3"/>
          <p:cNvSpPr>
            <a:spLocks noGrp="1"/>
          </p:cNvSpPr>
          <p:nvPr>
            <p:ph type="sldNum" sz="quarter" idx="5"/>
          </p:nvPr>
        </p:nvSpPr>
        <p:spPr/>
        <p:txBody>
          <a:bodyPr/>
          <a:lstStyle/>
          <a:p>
            <a:fld id="{D2ED4D56-1D12-4C59-BE0B-E4F26EDE9652}" type="slidenum">
              <a:rPr lang="fr-FR" smtClean="0"/>
              <a:t>41</a:t>
            </a:fld>
            <a:endParaRPr lang="fr-FR"/>
          </a:p>
        </p:txBody>
      </p:sp>
    </p:spTree>
    <p:extLst>
      <p:ext uri="{BB962C8B-B14F-4D97-AF65-F5344CB8AC3E}">
        <p14:creationId xmlns:p14="http://schemas.microsoft.com/office/powerpoint/2010/main" val="2258562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67BF7099-A69C-40A7-961E-56EC432041D2}" type="datetimeFigureOut">
              <a:rPr lang="fr-FR" smtClean="0"/>
              <a:t>15/05/2025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975904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15/05/2025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3597861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67BF7099-A69C-40A7-961E-56EC432041D2}" type="datetimeFigureOut">
              <a:rPr lang="fr-FR" smtClean="0"/>
              <a:t>15/05/2025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32520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7BF7099-A69C-40A7-961E-56EC432041D2}" type="datetimeFigureOut">
              <a:rPr lang="fr-FR" smtClean="0"/>
              <a:t>15/05/2025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792224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7BF7099-A69C-40A7-961E-56EC432041D2}" type="datetimeFigureOut">
              <a:rPr lang="fr-FR" smtClean="0"/>
              <a:t>15/05/2025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4645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7BF7099-A69C-40A7-961E-56EC432041D2}" type="datetimeFigureOut">
              <a:rPr lang="fr-FR" smtClean="0"/>
              <a:t>15/05/2025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3230939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7BF7099-A69C-40A7-961E-56EC432041D2}" type="datetimeFigureOut">
              <a:rPr lang="fr-FR" smtClean="0"/>
              <a:t>15/05/2025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4158727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7BF7099-A69C-40A7-961E-56EC432041D2}" type="datetimeFigureOut">
              <a:rPr lang="fr-FR" smtClean="0"/>
              <a:t>15/05/2025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4257094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7BF7099-A69C-40A7-961E-56EC432041D2}" type="datetimeFigureOut">
              <a:rPr lang="fr-FR" smtClean="0"/>
              <a:t>15/05/2025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653361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15/05/2025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167032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15/05/2025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77822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BF7099-A69C-40A7-961E-56EC432041D2}" type="datetimeFigureOut">
              <a:rPr lang="fr-FR" smtClean="0"/>
              <a:t>15/05/2025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0E51CD-4CEC-42A2-944E-03DCAE8EDECC}" type="slidenum">
              <a:rPr lang="fr-FR" smtClean="0"/>
              <a:t>‹N°›</a:t>
            </a:fld>
            <a:endParaRPr lang="fr-FR"/>
          </a:p>
        </p:txBody>
      </p:sp>
    </p:spTree>
    <p:extLst>
      <p:ext uri="{BB962C8B-B14F-4D97-AF65-F5344CB8AC3E}">
        <p14:creationId xmlns:p14="http://schemas.microsoft.com/office/powerpoint/2010/main" val="110272686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a:effectLst>
                  <a:outerShdw blurRad="38100" dist="38100" dir="2700000" algn="tl">
                    <a:srgbClr val="000000">
                      <a:alpha val="43137"/>
                    </a:srgbClr>
                  </a:outerShdw>
                </a:effectLst>
              </a:rPr>
              <a:t>CH8-Compléments</a:t>
            </a:r>
            <a:endParaRPr lang="fr-FR" b="1" dirty="0">
              <a:effectLst>
                <a:outerShdw blurRad="38100" dist="38100" dir="2700000" algn="tl">
                  <a:srgbClr val="000000">
                    <a:alpha val="43137"/>
                  </a:srgbClr>
                </a:outerShdw>
              </a:effectLst>
            </a:endParaRPr>
          </a:p>
        </p:txBody>
      </p:sp>
      <p:sp>
        <p:nvSpPr>
          <p:cNvPr id="3" name="Sous-titre 2"/>
          <p:cNvSpPr>
            <a:spLocks noGrp="1"/>
          </p:cNvSpPr>
          <p:nvPr>
            <p:ph type="subTitle" idx="1"/>
          </p:nvPr>
        </p:nvSpPr>
        <p:spPr/>
        <p:txBody>
          <a:bodyPr/>
          <a:lstStyle/>
          <a:p>
            <a:r>
              <a:rPr lang="fr-FR" dirty="0">
                <a:effectLst>
                  <a:outerShdw blurRad="38100" dist="38100" dir="2700000" algn="tl">
                    <a:srgbClr val="000000">
                      <a:alpha val="43137"/>
                    </a:srgbClr>
                  </a:outerShdw>
                </a:effectLst>
              </a:rPr>
              <a:t>Développement back-end</a:t>
            </a:r>
          </a:p>
        </p:txBody>
      </p:sp>
    </p:spTree>
    <p:extLst>
      <p:ext uri="{BB962C8B-B14F-4D97-AF65-F5344CB8AC3E}">
        <p14:creationId xmlns:p14="http://schemas.microsoft.com/office/powerpoint/2010/main" val="3258402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 (Définition)</a:t>
            </a:r>
          </a:p>
        </p:txBody>
      </p:sp>
      <p:sp>
        <p:nvSpPr>
          <p:cNvPr id="3" name="Espace réservé du contenu 2"/>
          <p:cNvSpPr>
            <a:spLocks noGrp="1"/>
          </p:cNvSpPr>
          <p:nvPr>
            <p:ph idx="1"/>
          </p:nvPr>
        </p:nvSpPr>
        <p:spPr/>
        <p:txBody>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 middleware fournit un mécanisme pratique pour inspecter et filtrer les requêtes HTTP entrant dans votre application. </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Par exemple,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inclut un middleware qui vérifie que l'utilisateur de votre application est authentifié. Si l'utilisateur n'est pas authentifié, le middleware redirigera l'utilisateur vers l'écran de connexion de votre application. Cependant, si l'utilisateur est authentifié, le middleware permettra à la demande de continuer plus loin dans l'application.</a:t>
            </a:r>
          </a:p>
        </p:txBody>
      </p:sp>
    </p:spTree>
    <p:extLst>
      <p:ext uri="{BB962C8B-B14F-4D97-AF65-F5344CB8AC3E}">
        <p14:creationId xmlns:p14="http://schemas.microsoft.com/office/powerpoint/2010/main" val="3128886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middlewares(Création du middleware)</a:t>
            </a:r>
          </a:p>
        </p:txBody>
      </p:sp>
      <p:sp>
        <p:nvSpPr>
          <p:cNvPr id="3" name="Espace réservé du contenu 2"/>
          <p:cNvSpPr>
            <a:spLocks noGrp="1"/>
          </p:cNvSpPr>
          <p:nvPr>
            <p:ph idx="1"/>
          </p:nvPr>
        </p:nvSpPr>
        <p:spPr/>
        <p:txBody>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façon la plus simple de créer un middleware est d’utiliser Artisan. Appeler la commande </a:t>
            </a:r>
            <a:r>
              <a:rPr lang="fr-FR" i="1" dirty="0" err="1">
                <a:solidFill>
                  <a:schemeClr val="accent1">
                    <a:lumMod val="50000"/>
                  </a:schemeClr>
                </a:solidFill>
                <a:latin typeface="Times New Roman" panose="02020603050405020304" pitchFamily="18" charset="0"/>
                <a:cs typeface="Times New Roman" panose="02020603050405020304" pitchFamily="18" charset="0"/>
              </a:rPr>
              <a:t>make:middleware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 pour effet de créer une structure de base de middleware dans le dossier réservé à cet usage: </a:t>
            </a:r>
            <a:r>
              <a:rPr lang="fr-FR" i="1" dirty="0" err="1">
                <a:solidFill>
                  <a:schemeClr val="accent1">
                    <a:lumMod val="50000"/>
                  </a:schemeClr>
                </a:solidFill>
                <a:latin typeface="Times New Roman" panose="02020603050405020304" pitchFamily="18" charset="0"/>
                <a:cs typeface="Times New Roman" panose="02020603050405020304" pitchFamily="18" charset="0"/>
              </a:rPr>
              <a:t>app</a:t>
            </a:r>
            <a:r>
              <a:rPr lang="fr-FR" i="1" dirty="0">
                <a:solidFill>
                  <a:schemeClr val="accent1">
                    <a:lumMod val="50000"/>
                  </a:schemeClr>
                </a:solidFill>
                <a:latin typeface="Times New Roman" panose="02020603050405020304" pitchFamily="18" charset="0"/>
                <a:cs typeface="Times New Roman" panose="02020603050405020304" pitchFamily="18" charset="0"/>
              </a:rPr>
              <a:t>/Http/Middleware</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commande de création d’un middleware:</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php</a:t>
            </a:r>
            <a:r>
              <a:rPr lang="fr-FR" i="1" dirty="0">
                <a:solidFill>
                  <a:schemeClr val="accent1">
                    <a:lumMod val="50000"/>
                  </a:schemeClr>
                </a:solidFill>
                <a:latin typeface="Times New Roman" panose="02020603050405020304" pitchFamily="18" charset="0"/>
                <a:cs typeface="Times New Roman" panose="02020603050405020304" pitchFamily="18" charset="0"/>
              </a:rPr>
              <a:t> artisan </a:t>
            </a:r>
            <a:r>
              <a:rPr lang="fr-FR" i="1" dirty="0" err="1">
                <a:solidFill>
                  <a:schemeClr val="accent1">
                    <a:lumMod val="50000"/>
                  </a:schemeClr>
                </a:solidFill>
                <a:latin typeface="Times New Roman" panose="02020603050405020304" pitchFamily="18" charset="0"/>
                <a:cs typeface="Times New Roman" panose="02020603050405020304" pitchFamily="18" charset="0"/>
              </a:rPr>
              <a:t>make:middleware</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NomMiddleware</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Cette commande placera une nouvelle classe </a:t>
            </a:r>
            <a:r>
              <a:rPr lang="fr-FR" i="1" dirty="0" err="1">
                <a:solidFill>
                  <a:schemeClr val="accent1">
                    <a:lumMod val="50000"/>
                  </a:schemeClr>
                </a:solidFill>
                <a:latin typeface="Times New Roman" panose="02020603050405020304" pitchFamily="18" charset="0"/>
                <a:cs typeface="Times New Roman" panose="02020603050405020304" pitchFamily="18" charset="0"/>
              </a:rPr>
              <a:t>NomMiddleware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dans le dossier : </a:t>
            </a:r>
            <a:r>
              <a:rPr lang="fr-FR" i="1" dirty="0" err="1">
                <a:solidFill>
                  <a:schemeClr val="accent1">
                    <a:lumMod val="50000"/>
                  </a:schemeClr>
                </a:solidFill>
                <a:latin typeface="Times New Roman" panose="02020603050405020304" pitchFamily="18" charset="0"/>
                <a:cs typeface="Times New Roman" panose="02020603050405020304" pitchFamily="18" charset="0"/>
              </a:rPr>
              <a:t>app</a:t>
            </a:r>
            <a:r>
              <a:rPr lang="fr-FR" i="1" dirty="0">
                <a:solidFill>
                  <a:schemeClr val="accent1">
                    <a:lumMod val="50000"/>
                  </a:schemeClr>
                </a:solidFill>
                <a:latin typeface="Times New Roman" panose="02020603050405020304" pitchFamily="18" charset="0"/>
                <a:cs typeface="Times New Roman" panose="02020603050405020304" pitchFamily="18" charset="0"/>
              </a:rPr>
              <a:t>/Http/Middleware</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8238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 (Création du middleware)</a:t>
            </a:r>
          </a:p>
        </p:txBody>
      </p:sp>
      <p:sp>
        <p:nvSpPr>
          <p:cNvPr id="3" name="Espace réservé du contenu 2"/>
          <p:cNvSpPr>
            <a:spLocks noGrp="1"/>
          </p:cNvSpPr>
          <p:nvPr>
            <p:ph idx="1"/>
          </p:nvPr>
        </p:nvSpPr>
        <p:spPr/>
        <p:txBody>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 middleware est une classe qui contient deux méthodes </a:t>
            </a:r>
            <a:r>
              <a:rPr lang="fr-FR" i="1" dirty="0" err="1">
                <a:solidFill>
                  <a:schemeClr val="accent1">
                    <a:lumMod val="50000"/>
                  </a:schemeClr>
                </a:solidFill>
                <a:latin typeface="Times New Roman" panose="02020603050405020304" pitchFamily="18" charset="0"/>
                <a:cs typeface="Times New Roman" panose="02020603050405020304" pitchFamily="18" charset="0"/>
              </a:rPr>
              <a:t>handle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et </a:t>
            </a:r>
            <a:r>
              <a:rPr lang="fr-FR" i="1" dirty="0" err="1">
                <a:solidFill>
                  <a:schemeClr val="accent1">
                    <a:lumMod val="50000"/>
                  </a:schemeClr>
                </a:solidFill>
                <a:latin typeface="Times New Roman" panose="02020603050405020304" pitchFamily="18" charset="0"/>
                <a:cs typeface="Times New Roman" panose="02020603050405020304" pitchFamily="18" charset="0"/>
              </a:rPr>
              <a:t>terminate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Sauf que </a:t>
            </a:r>
            <a:r>
              <a:rPr lang="fr-FR" i="1" dirty="0" err="1">
                <a:solidFill>
                  <a:schemeClr val="accent1">
                    <a:lumMod val="50000"/>
                  </a:schemeClr>
                </a:solidFill>
                <a:latin typeface="Times New Roman" panose="02020603050405020304" pitchFamily="18" charset="0"/>
                <a:cs typeface="Times New Roman" panose="02020603050405020304" pitchFamily="18" charset="0"/>
              </a:rPr>
              <a:t>terminate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elle n’est pas généré automatiquement il faut l’ajouter manuellement :</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i="1" dirty="0">
                <a:solidFill>
                  <a:schemeClr val="accent1">
                    <a:lumMod val="50000"/>
                  </a:schemeClr>
                </a:solidFill>
                <a:latin typeface="Times New Roman" panose="02020603050405020304" pitchFamily="18" charset="0"/>
                <a:cs typeface="Times New Roman" panose="02020603050405020304" pitchFamily="18" charset="0"/>
              </a:rPr>
              <a:t>public function handle(Request $request, Closure $next)</a:t>
            </a:r>
          </a:p>
          <a:p>
            <a:pPr marL="0" indent="0" algn="just">
              <a:buNone/>
            </a:pPr>
            <a:r>
              <a:rPr lang="en-US"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gn="just">
              <a:buNone/>
            </a:pPr>
            <a:r>
              <a:rPr lang="en-US" i="1" dirty="0">
                <a:solidFill>
                  <a:schemeClr val="accent1">
                    <a:lumMod val="50000"/>
                  </a:schemeClr>
                </a:solidFill>
                <a:latin typeface="Times New Roman" panose="02020603050405020304" pitchFamily="18" charset="0"/>
                <a:cs typeface="Times New Roman" panose="02020603050405020304" pitchFamily="18" charset="0"/>
              </a:rPr>
              <a:t>	return $next($request);</a:t>
            </a:r>
          </a:p>
          <a:p>
            <a:pPr marL="0" indent="0" algn="just">
              <a:buNone/>
            </a:pPr>
            <a:r>
              <a:rPr lang="en-US" i="1" dirty="0">
                <a:solidFill>
                  <a:schemeClr val="accent1">
                    <a:lumMod val="50000"/>
                  </a:schemeClr>
                </a:solidFill>
                <a:latin typeface="Times New Roman" panose="02020603050405020304" pitchFamily="18" charset="0"/>
                <a:cs typeface="Times New Roman" panose="02020603050405020304" pitchFamily="18" charset="0"/>
              </a:rPr>
              <a:t>    }</a:t>
            </a:r>
            <a:endParaRPr lang="fr-FR" i="1" dirty="0">
              <a:solidFill>
                <a:schemeClr val="accent1">
                  <a:lumMod val="50000"/>
                </a:schemeClr>
              </a:solidFill>
              <a:latin typeface="Times New Roman" panose="02020603050405020304" pitchFamily="18" charset="0"/>
              <a:cs typeface="Times New Roman" panose="02020603050405020304" pitchFamily="18" charset="0"/>
            </a:endParaRP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L’instruction</a:t>
            </a:r>
            <a:r>
              <a:rPr lang="fr-FR" i="1" dirty="0">
                <a:solidFill>
                  <a:schemeClr val="accent1">
                    <a:lumMod val="50000"/>
                  </a:schemeClr>
                </a:solidFill>
                <a:latin typeface="Times New Roman" panose="02020603050405020304" pitchFamily="18" charset="0"/>
                <a:cs typeface="Times New Roman" panose="02020603050405020304" pitchFamily="18" charset="0"/>
              </a:rPr>
              <a:t> return $</a:t>
            </a:r>
            <a:r>
              <a:rPr lang="en-US" i="1" dirty="0">
                <a:solidFill>
                  <a:schemeClr val="accent1">
                    <a:lumMod val="50000"/>
                  </a:schemeClr>
                </a:solidFill>
                <a:latin typeface="Times New Roman" panose="02020603050405020304" pitchFamily="18" charset="0"/>
                <a:cs typeface="Times New Roman" panose="02020603050405020304" pitchFamily="18" charset="0"/>
              </a:rPr>
              <a:t>next($request);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permet</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passer à la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requête</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suivante</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46072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 (Route middleware)</a:t>
            </a:r>
          </a:p>
        </p:txBody>
      </p:sp>
      <p:sp>
        <p:nvSpPr>
          <p:cNvPr id="3" name="Espace réservé du contenu 2"/>
          <p:cNvSpPr>
            <a:spLocks noGrp="1"/>
          </p:cNvSpPr>
          <p:nvPr>
            <p:ph idx="1"/>
          </p:nvPr>
        </p:nvSpPr>
        <p:spPr>
          <a:xfrm>
            <a:off x="838200" y="1825624"/>
            <a:ext cx="10515600" cy="5032375"/>
          </a:xfrm>
        </p:spPr>
        <p:txBody>
          <a:bodyPr>
            <a:normAutofit fontScale="92500" lnSpcReduction="10000"/>
          </a:bodyPr>
          <a:lstStyle/>
          <a:p>
            <a:pPr algn="just"/>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route par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exemle</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i="1" dirty="0">
                <a:solidFill>
                  <a:schemeClr val="accent1">
                    <a:lumMod val="50000"/>
                  </a:schemeClr>
                </a:solidFill>
                <a:latin typeface="Times New Roman" panose="02020603050405020304" pitchFamily="18" charset="0"/>
                <a:cs typeface="Times New Roman" panose="02020603050405020304" pitchFamily="18" charset="0"/>
              </a:rPr>
              <a:t>‘/</a:t>
            </a:r>
            <a:r>
              <a:rPr lang="en-US" i="1" dirty="0" err="1">
                <a:solidFill>
                  <a:schemeClr val="accent1">
                    <a:lumMod val="50000"/>
                  </a:schemeClr>
                </a:solidFill>
                <a:latin typeface="Times New Roman" panose="02020603050405020304" pitchFamily="18" charset="0"/>
                <a:cs typeface="Times New Roman" panose="02020603050405020304" pitchFamily="18" charset="0"/>
              </a:rPr>
              <a:t>accueil</a:t>
            </a:r>
            <a:r>
              <a:rPr lang="en-US" i="1" dirty="0">
                <a:solidFill>
                  <a:schemeClr val="accent1">
                    <a:lumMod val="50000"/>
                  </a:schemeClr>
                </a:solidFill>
                <a:latin typeface="Times New Roman" panose="02020603050405020304" pitchFamily="18" charset="0"/>
                <a:cs typeface="Times New Roman" panose="02020603050405020304" pitchFamily="18" charset="0"/>
              </a:rPr>
              <a:t>’ </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sera protégée par le middleware Controle1 de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cette</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manière:</a:t>
            </a:r>
          </a:p>
          <a:p>
            <a:pPr marL="0" indent="0" algn="just">
              <a:buNone/>
            </a:pP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Route::</a:t>
            </a:r>
            <a:r>
              <a:rPr lang="fr-FR"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i="1" dirty="0">
                <a:solidFill>
                  <a:schemeClr val="accent1">
                    <a:lumMod val="50000"/>
                  </a:schemeClr>
                </a:solidFill>
                <a:latin typeface="Times New Roman" panose="02020603050405020304" pitchFamily="18" charset="0"/>
                <a:cs typeface="Times New Roman" panose="02020603050405020304" pitchFamily="18" charset="0"/>
              </a:rPr>
              <a:t>(‘/accueil’,</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‘bienvenue dans mon site’;</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})-&gt;middleware(Controle1::class);</a:t>
            </a:r>
          </a:p>
          <a:p>
            <a:pPr algn="just"/>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Nous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pouvons</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ajouter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i="1" dirty="0" err="1">
                <a:solidFill>
                  <a:schemeClr val="accent1">
                    <a:lumMod val="50000"/>
                  </a:schemeClr>
                </a:solidFill>
                <a:latin typeface="Times New Roman" panose="02020603050405020304" pitchFamily="18" charset="0"/>
                <a:cs typeface="Times New Roman" panose="02020603050405020304" pitchFamily="18" charset="0"/>
              </a:rPr>
              <a:t>dd</a:t>
            </a:r>
            <a:r>
              <a:rPr lang="en-US" i="1" dirty="0">
                <a:solidFill>
                  <a:schemeClr val="accent1">
                    <a:lumMod val="50000"/>
                  </a:schemeClr>
                </a:solidFill>
                <a:latin typeface="Times New Roman" panose="02020603050405020304" pitchFamily="18" charset="0"/>
                <a:cs typeface="Times New Roman" panose="02020603050405020304" pitchFamily="18" charset="0"/>
              </a:rPr>
              <a:t>(‘Bonjour’)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dans</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fonction</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handle du middleware pour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s’assurer</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que la route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passe</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tout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d’abord</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par le middleware </a:t>
            </a:r>
            <a:r>
              <a:rPr lang="en-US"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avant</a:t>
            </a: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continuer:</a:t>
            </a:r>
          </a:p>
          <a:p>
            <a:pPr marL="0" indent="0" algn="just">
              <a:buNone/>
            </a:pPr>
            <a:r>
              <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i="1" dirty="0">
                <a:solidFill>
                  <a:schemeClr val="accent1">
                    <a:lumMod val="50000"/>
                  </a:schemeClr>
                </a:solidFill>
                <a:latin typeface="Times New Roman" panose="02020603050405020304" pitchFamily="18" charset="0"/>
                <a:cs typeface="Times New Roman" panose="02020603050405020304" pitchFamily="18" charset="0"/>
              </a:rPr>
              <a:t>public function handle(Request $</a:t>
            </a:r>
            <a:r>
              <a:rPr lang="en-US" i="1" dirty="0" err="1">
                <a:solidFill>
                  <a:schemeClr val="accent1">
                    <a:lumMod val="50000"/>
                  </a:schemeClr>
                </a:solidFill>
                <a:latin typeface="Times New Roman" panose="02020603050405020304" pitchFamily="18" charset="0"/>
                <a:cs typeface="Times New Roman" panose="02020603050405020304" pitchFamily="18" charset="0"/>
              </a:rPr>
              <a:t>request,Closure</a:t>
            </a:r>
            <a:r>
              <a:rPr lang="en-US" i="1" dirty="0">
                <a:solidFill>
                  <a:schemeClr val="accent1">
                    <a:lumMod val="50000"/>
                  </a:schemeClr>
                </a:solidFill>
                <a:latin typeface="Times New Roman" panose="02020603050405020304" pitchFamily="18" charset="0"/>
                <a:cs typeface="Times New Roman" panose="02020603050405020304" pitchFamily="18" charset="0"/>
              </a:rPr>
              <a:t> $next){</a:t>
            </a:r>
          </a:p>
          <a:p>
            <a:pPr marL="0" indent="0" algn="just">
              <a:buNone/>
            </a:pPr>
            <a:r>
              <a:rPr lang="en-US" i="1" dirty="0">
                <a:solidFill>
                  <a:schemeClr val="accent1">
                    <a:lumMod val="50000"/>
                  </a:schemeClr>
                </a:solidFill>
                <a:latin typeface="Times New Roman" panose="02020603050405020304" pitchFamily="18" charset="0"/>
                <a:cs typeface="Times New Roman" panose="02020603050405020304" pitchFamily="18" charset="0"/>
              </a:rPr>
              <a:t>		</a:t>
            </a:r>
            <a:r>
              <a:rPr lang="en-US" i="1" dirty="0" err="1">
                <a:solidFill>
                  <a:schemeClr val="accent1">
                    <a:lumMod val="50000"/>
                  </a:schemeClr>
                </a:solidFill>
                <a:latin typeface="Times New Roman" panose="02020603050405020304" pitchFamily="18" charset="0"/>
                <a:cs typeface="Times New Roman" panose="02020603050405020304" pitchFamily="18" charset="0"/>
              </a:rPr>
              <a:t>dd</a:t>
            </a:r>
            <a:r>
              <a:rPr lang="en-US" i="1" dirty="0">
                <a:solidFill>
                  <a:schemeClr val="accent1">
                    <a:lumMod val="50000"/>
                  </a:schemeClr>
                </a:solidFill>
                <a:latin typeface="Times New Roman" panose="02020603050405020304" pitchFamily="18" charset="0"/>
                <a:cs typeface="Times New Roman" panose="02020603050405020304" pitchFamily="18" charset="0"/>
              </a:rPr>
              <a:t>(‘Bonjour’);</a:t>
            </a:r>
          </a:p>
          <a:p>
            <a:pPr marL="0" indent="0" algn="just">
              <a:buNone/>
            </a:pPr>
            <a:r>
              <a:rPr lang="en-US" i="1" dirty="0">
                <a:solidFill>
                  <a:schemeClr val="accent1">
                    <a:lumMod val="50000"/>
                  </a:schemeClr>
                </a:solidFill>
                <a:latin typeface="Times New Roman" panose="02020603050405020304" pitchFamily="18" charset="0"/>
                <a:cs typeface="Times New Roman" panose="02020603050405020304" pitchFamily="18" charset="0"/>
              </a:rPr>
              <a:t>		return $next($request);</a:t>
            </a:r>
          </a:p>
          <a:p>
            <a:pPr marL="0" indent="0" algn="just">
              <a:buNone/>
            </a:pPr>
            <a:r>
              <a:rPr lang="en-US" i="1" dirty="0">
                <a:solidFill>
                  <a:schemeClr val="accent1">
                    <a:lumMod val="50000"/>
                  </a:schemeClr>
                </a:solidFill>
                <a:latin typeface="Times New Roman" panose="02020603050405020304" pitchFamily="18" charset="0"/>
                <a:cs typeface="Times New Roman" panose="02020603050405020304" pitchFamily="18" charset="0"/>
              </a:rPr>
              <a:t>	}</a:t>
            </a: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8933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 (Group middleware)</a:t>
            </a:r>
          </a:p>
        </p:txBody>
      </p:sp>
      <p:sp>
        <p:nvSpPr>
          <p:cNvPr id="3" name="Espace réservé du contenu 2"/>
          <p:cNvSpPr>
            <a:spLocks noGrp="1"/>
          </p:cNvSpPr>
          <p:nvPr>
            <p:ph idx="1"/>
          </p:nvPr>
        </p:nvSpPr>
        <p:spPr>
          <a:xfrm>
            <a:off x="838200" y="1825624"/>
            <a:ext cx="10515600" cy="50323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Une route peut être protégée à l’aide de plusieurs middlewares, aussi un seul middleware peut protéger plusieurs routes.</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1: une route protégée par deux middlewares controle1 et controle2:</a:t>
            </a:r>
          </a:p>
          <a:p>
            <a:pPr lvl="1" algn="just">
              <a:buFont typeface="Wingdings" panose="05000000000000000000" pitchFamily="2" charset="2"/>
              <a:buChar char="§"/>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 fonction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handle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controle1:</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public </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handle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Request</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request,Closure</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next</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if($</a:t>
            </a:r>
            <a:r>
              <a:rPr lang="fr-FR" i="1" dirty="0" err="1">
                <a:solidFill>
                  <a:schemeClr val="accent1">
                    <a:lumMod val="50000"/>
                  </a:schemeClr>
                </a:solidFill>
                <a:latin typeface="Times New Roman" panose="02020603050405020304" pitchFamily="18" charset="0"/>
                <a:cs typeface="Times New Roman" panose="02020603050405020304" pitchFamily="18" charset="0"/>
              </a:rPr>
              <a:t>request</a:t>
            </a:r>
            <a:r>
              <a:rPr lang="fr-FR" i="1" dirty="0">
                <a:solidFill>
                  <a:schemeClr val="accent1">
                    <a:lumMod val="50000"/>
                  </a:schemeClr>
                </a:solidFill>
                <a:latin typeface="Times New Roman" panose="02020603050405020304" pitchFamily="18" charset="0"/>
                <a:cs typeface="Times New Roman" panose="02020603050405020304" pitchFamily="18" charset="0"/>
              </a:rPr>
              <a:t>-&gt;route(‘id’)==1)</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dd(‘Bonjour controle1’);</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a:t>
            </a:r>
            <a:r>
              <a:rPr lang="fr-FR" i="1" dirty="0" err="1">
                <a:solidFill>
                  <a:schemeClr val="accent1">
                    <a:lumMod val="50000"/>
                  </a:schemeClr>
                </a:solidFill>
                <a:latin typeface="Times New Roman" panose="02020603050405020304" pitchFamily="18" charset="0"/>
                <a:cs typeface="Times New Roman" panose="02020603050405020304" pitchFamily="18" charset="0"/>
              </a:rPr>
              <a:t>next</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request</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846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 (Group middleware)</a:t>
            </a:r>
          </a:p>
        </p:txBody>
      </p:sp>
      <p:sp>
        <p:nvSpPr>
          <p:cNvPr id="3" name="Espace réservé du contenu 2"/>
          <p:cNvSpPr>
            <a:spLocks noGrp="1"/>
          </p:cNvSpPr>
          <p:nvPr>
            <p:ph idx="1"/>
          </p:nvPr>
        </p:nvSpPr>
        <p:spPr>
          <a:xfrm>
            <a:off x="838200" y="1825624"/>
            <a:ext cx="10515600" cy="50323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Une route peut être protégée à l’aide de plusieurs middlewares, aussi un seul middleware peut protéger plusieurs routes.</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1: une route protégée par deux middlewares controle1 et controle2:</a:t>
            </a:r>
          </a:p>
          <a:p>
            <a:pPr lvl="1" algn="just">
              <a:buFont typeface="Wingdings" panose="05000000000000000000" pitchFamily="2" charset="2"/>
              <a:buChar char="§"/>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 fonction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handle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controle2:</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public </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handle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Request</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request,Closure</a:t>
            </a:r>
            <a:r>
              <a:rPr lang="fr-FR" i="1" dirty="0">
                <a:solidFill>
                  <a:schemeClr val="accent1">
                    <a:lumMod val="50000"/>
                  </a:schemeClr>
                </a:solidFill>
                <a:latin typeface="Times New Roman" panose="02020603050405020304" pitchFamily="18" charset="0"/>
                <a:cs typeface="Times New Roman" panose="02020603050405020304" pitchFamily="18" charset="0"/>
              </a:rPr>
              <a:t> $</a:t>
            </a:r>
            <a:r>
              <a:rPr lang="fr-FR" i="1" dirty="0" err="1">
                <a:solidFill>
                  <a:schemeClr val="accent1">
                    <a:lumMod val="50000"/>
                  </a:schemeClr>
                </a:solidFill>
                <a:latin typeface="Times New Roman" panose="02020603050405020304" pitchFamily="18" charset="0"/>
                <a:cs typeface="Times New Roman" panose="02020603050405020304" pitchFamily="18" charset="0"/>
              </a:rPr>
              <a:t>next</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if($</a:t>
            </a:r>
            <a:r>
              <a:rPr lang="fr-FR" i="1" dirty="0" err="1">
                <a:solidFill>
                  <a:schemeClr val="accent1">
                    <a:lumMod val="50000"/>
                  </a:schemeClr>
                </a:solidFill>
                <a:latin typeface="Times New Roman" panose="02020603050405020304" pitchFamily="18" charset="0"/>
                <a:cs typeface="Times New Roman" panose="02020603050405020304" pitchFamily="18" charset="0"/>
              </a:rPr>
              <a:t>request</a:t>
            </a:r>
            <a:r>
              <a:rPr lang="fr-FR" i="1" dirty="0">
                <a:solidFill>
                  <a:schemeClr val="accent1">
                    <a:lumMod val="50000"/>
                  </a:schemeClr>
                </a:solidFill>
                <a:latin typeface="Times New Roman" panose="02020603050405020304" pitchFamily="18" charset="0"/>
                <a:cs typeface="Times New Roman" panose="02020603050405020304" pitchFamily="18" charset="0"/>
              </a:rPr>
              <a:t>-&gt;route(‘id’)==2)</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dd(‘Bonjour controle2’);</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a:t>
            </a:r>
            <a:r>
              <a:rPr lang="fr-FR" i="1" dirty="0" err="1">
                <a:solidFill>
                  <a:schemeClr val="accent1">
                    <a:lumMod val="50000"/>
                  </a:schemeClr>
                </a:solidFill>
                <a:latin typeface="Times New Roman" panose="02020603050405020304" pitchFamily="18" charset="0"/>
                <a:cs typeface="Times New Roman" panose="02020603050405020304" pitchFamily="18" charset="0"/>
              </a:rPr>
              <a:t>next</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request</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7733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 (Group middleware)</a:t>
            </a:r>
          </a:p>
        </p:txBody>
      </p:sp>
      <p:sp>
        <p:nvSpPr>
          <p:cNvPr id="3" name="Espace réservé du contenu 2"/>
          <p:cNvSpPr>
            <a:spLocks noGrp="1"/>
          </p:cNvSpPr>
          <p:nvPr>
            <p:ph idx="1"/>
          </p:nvPr>
        </p:nvSpPr>
        <p:spPr>
          <a:xfrm>
            <a:off x="838200" y="1825624"/>
            <a:ext cx="10515600" cy="50323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Une route peut être protégée à l’aide de plusieurs middlewares, aussi un seul middleware peut protéger plusieurs routes.</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1: une route protégée par deux middlewares Controle1 et Controle2:</a:t>
            </a:r>
          </a:p>
          <a:p>
            <a:pPr lvl="1" algn="just">
              <a:buFont typeface="Wingdings" panose="05000000000000000000" pitchFamily="2" charset="2"/>
              <a:buChar char="§"/>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 route est protégée de la manière suivante: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Route::</a:t>
            </a:r>
            <a:r>
              <a:rPr lang="fr-FR"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i="1" dirty="0">
                <a:solidFill>
                  <a:schemeClr val="accent1">
                    <a:lumMod val="50000"/>
                  </a:schemeClr>
                </a:solidFill>
                <a:latin typeface="Times New Roman" panose="02020603050405020304" pitchFamily="18" charset="0"/>
                <a:cs typeface="Times New Roman" panose="02020603050405020304" pitchFamily="18" charset="0"/>
              </a:rPr>
              <a:t>(‘bienvenu/{id}’, </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($id){</a:t>
            </a:r>
          </a:p>
          <a:p>
            <a:pPr marL="457200" lvl="1" indent="0" algn="just">
              <a:buNone/>
            </a:pPr>
            <a:r>
              <a:rPr lang="fr-FR" i="1" dirty="0">
                <a:solidFill>
                  <a:schemeClr val="accent1">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accent1">
                    <a:lumMod val="50000"/>
                  </a:schemeClr>
                </a:solidFill>
                <a:latin typeface="Times New Roman" panose="02020603050405020304" pitchFamily="18" charset="0"/>
                <a:cs typeface="Times New Roman" panose="02020603050405020304" pitchFamily="18" charset="0"/>
              </a:rPr>
              <a:t>return ‘Bienvenue ‘ . $id;</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})-&gt;middleware([Controle1::class,Controle2::class]);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0930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 (Group middleware)</a:t>
            </a:r>
          </a:p>
        </p:txBody>
      </p:sp>
      <p:sp>
        <p:nvSpPr>
          <p:cNvPr id="3" name="Espace réservé du contenu 2"/>
          <p:cNvSpPr>
            <a:spLocks noGrp="1"/>
          </p:cNvSpPr>
          <p:nvPr>
            <p:ph idx="1"/>
          </p:nvPr>
        </p:nvSpPr>
        <p:spPr>
          <a:xfrm>
            <a:off x="838200" y="1825624"/>
            <a:ext cx="10515600" cy="50323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Exemple 3: Un groupe de routes protégé par un middleware ou groupe de middlewares:</a:t>
            </a:r>
          </a:p>
          <a:p>
            <a:pPr lvl="1" algn="just">
              <a:buFont typeface="Wingdings" panose="05000000000000000000" pitchFamily="2" charset="2"/>
              <a:buChar char="§"/>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 route dans ce cas peut être exprimée de la manière suivante :</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Route::middleware([Controle1::class])-&gt;group(</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Route::</a:t>
            </a:r>
            <a:r>
              <a:rPr lang="fr-FR" i="1" dirty="0" err="1">
                <a:solidFill>
                  <a:schemeClr val="accent1">
                    <a:lumMod val="50000"/>
                  </a:schemeClr>
                </a:solidFill>
                <a:latin typeface="Times New Roman" panose="02020603050405020304" pitchFamily="18" charset="0"/>
                <a:cs typeface="Times New Roman" panose="02020603050405020304" pitchFamily="18" charset="0"/>
              </a:rPr>
              <a:t>view</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bienvenue’,’bienvenue</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Route::</a:t>
            </a:r>
            <a:r>
              <a:rPr lang="fr-FR"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i="1" dirty="0">
                <a:solidFill>
                  <a:schemeClr val="accent1">
                    <a:lumMod val="50000"/>
                  </a:schemeClr>
                </a:solidFill>
                <a:latin typeface="Times New Roman" panose="02020603050405020304" pitchFamily="18" charset="0"/>
                <a:cs typeface="Times New Roman" panose="02020603050405020304" pitchFamily="18" charset="0"/>
              </a:rPr>
              <a:t>(‘/personne/{id}’,</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($id){</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‘Personne:’ . $id;</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587075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 (Global middleware)</a:t>
            </a:r>
          </a:p>
        </p:txBody>
      </p:sp>
      <p:sp>
        <p:nvSpPr>
          <p:cNvPr id="3" name="Espace réservé du contenu 2"/>
          <p:cNvSpPr>
            <a:spLocks noGrp="1"/>
          </p:cNvSpPr>
          <p:nvPr>
            <p:ph idx="1"/>
          </p:nvPr>
        </p:nvSpPr>
        <p:spPr>
          <a:xfrm>
            <a:off x="838200" y="1825624"/>
            <a:ext cx="10515600" cy="50323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 global middleware permet de protéger toute l’application. L’enregistrement de ce middleware doit être au niveau du fichier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bootstrap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app.php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Pour ajouter le middleware à la fin de la liste: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-&gt;</a:t>
            </a:r>
            <a:r>
              <a:rPr lang="fr-FR" i="1" dirty="0" err="1">
                <a:solidFill>
                  <a:schemeClr val="accent1">
                    <a:lumMod val="50000"/>
                  </a:schemeClr>
                </a:solidFill>
                <a:latin typeface="Times New Roman" panose="02020603050405020304" pitchFamily="18" charset="0"/>
                <a:cs typeface="Times New Roman" panose="02020603050405020304" pitchFamily="18" charset="0"/>
              </a:rPr>
              <a:t>withMiddleware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(Middleware $middleware){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$middleware-&gt;append(Exemple1::class);</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Pour ajouter le middleware au début de la liste: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-&gt;</a:t>
            </a:r>
            <a:r>
              <a:rPr lang="fr-FR" i="1" dirty="0" err="1">
                <a:solidFill>
                  <a:schemeClr val="accent1">
                    <a:lumMod val="50000"/>
                  </a:schemeClr>
                </a:solidFill>
                <a:latin typeface="Times New Roman" panose="02020603050405020304" pitchFamily="18" charset="0"/>
                <a:cs typeface="Times New Roman" panose="02020603050405020304" pitchFamily="18" charset="0"/>
              </a:rPr>
              <a:t>withMiddleware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(Middleware $middleware){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$middleware-&gt;</a:t>
            </a:r>
            <a:r>
              <a:rPr lang="fr-FR" i="1" dirty="0" err="1">
                <a:solidFill>
                  <a:schemeClr val="accent1">
                    <a:lumMod val="50000"/>
                  </a:schemeClr>
                </a:solidFill>
                <a:latin typeface="Times New Roman" panose="02020603050405020304" pitchFamily="18" charset="0"/>
                <a:cs typeface="Times New Roman" panose="02020603050405020304" pitchFamily="18" charset="0"/>
              </a:rPr>
              <a:t>prepend</a:t>
            </a:r>
            <a:r>
              <a:rPr lang="fr-FR" i="1" dirty="0">
                <a:solidFill>
                  <a:schemeClr val="accent1">
                    <a:lumMod val="50000"/>
                  </a:schemeClr>
                </a:solidFill>
                <a:latin typeface="Times New Roman" panose="02020603050405020304" pitchFamily="18" charset="0"/>
                <a:cs typeface="Times New Roman" panose="02020603050405020304" pitchFamily="18" charset="0"/>
              </a:rPr>
              <a:t>(Exemple1::class);</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endParaRPr lang="fr-FR" i="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7945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18F22-CF4B-411F-0761-E241E53D676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4571BDC-36C5-1CA8-3CAE-F0A54EA55070}"/>
              </a:ext>
            </a:extLst>
          </p:cNvPr>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 (gestion des alias)</a:t>
            </a:r>
          </a:p>
        </p:txBody>
      </p:sp>
      <p:sp>
        <p:nvSpPr>
          <p:cNvPr id="3" name="Espace réservé du contenu 2">
            <a:extLst>
              <a:ext uri="{FF2B5EF4-FFF2-40B4-BE49-F238E27FC236}">
                <a16:creationId xmlns:a16="http://schemas.microsoft.com/office/drawing/2014/main" id="{97CCC01C-8EE1-642A-6DCF-4DEBF0386E52}"/>
              </a:ext>
            </a:extLst>
          </p:cNvPr>
          <p:cNvSpPr>
            <a:spLocks noGrp="1"/>
          </p:cNvSpPr>
          <p:nvPr>
            <p:ph idx="1"/>
          </p:nvPr>
        </p:nvSpPr>
        <p:spPr>
          <a:xfrm>
            <a:off x="838200" y="1825624"/>
            <a:ext cx="10515600" cy="50323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 peut, au lieu d'utiliser la classe du middleware, affecter un alias et l'utiliser. Pour cela, il faut aller au fichier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bootstrap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app.php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-&gt;</a:t>
            </a:r>
            <a:r>
              <a:rPr lang="fr-FR" i="1" dirty="0" err="1">
                <a:solidFill>
                  <a:schemeClr val="accent1">
                    <a:lumMod val="50000"/>
                  </a:schemeClr>
                </a:solidFill>
                <a:latin typeface="Times New Roman" panose="02020603050405020304" pitchFamily="18" charset="0"/>
                <a:cs typeface="Times New Roman" panose="02020603050405020304" pitchFamily="18" charset="0"/>
              </a:rPr>
              <a:t>withMiddleware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(Middleware $middleware){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$middleware-&gt;alias(['exemple1'=&gt;Exemple1::class]);</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Il suffit par la suite utiliser l'alias au lieu de la classe du middleware: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Route::</a:t>
            </a:r>
            <a:r>
              <a:rPr lang="fr-FR"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i="1" dirty="0">
                <a:solidFill>
                  <a:schemeClr val="accent1">
                    <a:lumMod val="50000"/>
                  </a:schemeClr>
                </a:solidFill>
                <a:latin typeface="Times New Roman" panose="02020603050405020304" pitchFamily="18" charset="0"/>
                <a:cs typeface="Times New Roman" panose="02020603050405020304" pitchFamily="18" charset="0"/>
              </a:rPr>
              <a:t>('/accueil',</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'Bonjour tout le monde';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})-&gt;middleware('exemple1');</a:t>
            </a:r>
          </a:p>
        </p:txBody>
      </p:sp>
    </p:spTree>
    <p:extLst>
      <p:ext uri="{BB962C8B-B14F-4D97-AF65-F5344CB8AC3E}">
        <p14:creationId xmlns:p14="http://schemas.microsoft.com/office/powerpoint/2010/main" val="21815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D395A-458B-948F-4157-2F4BB9D82F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92AFB45-C753-567C-F48D-112A31A1D736}"/>
              </a:ext>
            </a:extLst>
          </p:cNvPr>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Les middlewares (gestion des alias)</a:t>
            </a:r>
          </a:p>
        </p:txBody>
      </p:sp>
      <p:sp>
        <p:nvSpPr>
          <p:cNvPr id="3" name="Espace réservé du contenu 2">
            <a:extLst>
              <a:ext uri="{FF2B5EF4-FFF2-40B4-BE49-F238E27FC236}">
                <a16:creationId xmlns:a16="http://schemas.microsoft.com/office/drawing/2014/main" id="{83E5E966-7838-6EBF-2105-2E8D3453572E}"/>
              </a:ext>
            </a:extLst>
          </p:cNvPr>
          <p:cNvSpPr>
            <a:spLocks noGrp="1"/>
          </p:cNvSpPr>
          <p:nvPr>
            <p:ph idx="1"/>
          </p:nvPr>
        </p:nvSpPr>
        <p:spPr>
          <a:xfrm>
            <a:off x="838200" y="1825624"/>
            <a:ext cx="10515600" cy="5032375"/>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 peut créer un alias pour un groupe de middleware: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-&gt;</a:t>
            </a:r>
            <a:r>
              <a:rPr lang="fr-FR" i="1" dirty="0" err="1">
                <a:solidFill>
                  <a:schemeClr val="accent1">
                    <a:lumMod val="50000"/>
                  </a:schemeClr>
                </a:solidFill>
                <a:latin typeface="Times New Roman" panose="02020603050405020304" pitchFamily="18" charset="0"/>
                <a:cs typeface="Times New Roman" panose="02020603050405020304" pitchFamily="18" charset="0"/>
              </a:rPr>
              <a:t>withMiddleware</a:t>
            </a:r>
            <a:r>
              <a:rPr lang="fr-FR" i="1" dirty="0">
                <a:solidFill>
                  <a:schemeClr val="accent1">
                    <a:lumMod val="50000"/>
                  </a:schemeClr>
                </a:solidFill>
                <a:latin typeface="Times New Roman" panose="02020603050405020304" pitchFamily="18" charset="0"/>
                <a:cs typeface="Times New Roman" panose="02020603050405020304" pitchFamily="18" charset="0"/>
              </a:rPr>
              <a:t>(</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(Middleware $middleware){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$middleware-&gt;</a:t>
            </a:r>
            <a:r>
              <a:rPr lang="fr-FR" i="1" dirty="0" err="1">
                <a:solidFill>
                  <a:schemeClr val="accent1">
                    <a:lumMod val="50000"/>
                  </a:schemeClr>
                </a:solidFill>
                <a:latin typeface="Times New Roman" panose="02020603050405020304" pitchFamily="18" charset="0"/>
                <a:cs typeface="Times New Roman" panose="02020603050405020304" pitchFamily="18" charset="0"/>
              </a:rPr>
              <a:t>appendToGroup</a:t>
            </a:r>
            <a:r>
              <a:rPr lang="fr-FR" i="1" dirty="0">
                <a:solidFill>
                  <a:schemeClr val="accent1">
                    <a:lumMod val="50000"/>
                  </a:schemeClr>
                </a:solidFill>
                <a:latin typeface="Times New Roman" panose="02020603050405020304" pitchFamily="18" charset="0"/>
                <a:cs typeface="Times New Roman" panose="02020603050405020304" pitchFamily="18" charset="0"/>
              </a:rPr>
              <a:t>('group1',[Controle1::class, Controle2::class]);</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Il suffit par la suite utiliser l'alias au lieu de la classe du middleware: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Route::</a:t>
            </a:r>
            <a:r>
              <a:rPr lang="fr-FR" i="1" dirty="0" err="1">
                <a:solidFill>
                  <a:schemeClr val="accent1">
                    <a:lumMod val="50000"/>
                  </a:schemeClr>
                </a:solidFill>
                <a:latin typeface="Times New Roman" panose="02020603050405020304" pitchFamily="18" charset="0"/>
                <a:cs typeface="Times New Roman" panose="02020603050405020304" pitchFamily="18" charset="0"/>
              </a:rPr>
              <a:t>get</a:t>
            </a:r>
            <a:r>
              <a:rPr lang="fr-FR" i="1" dirty="0">
                <a:solidFill>
                  <a:schemeClr val="accent1">
                    <a:lumMod val="50000"/>
                  </a:schemeClr>
                </a:solidFill>
                <a:latin typeface="Times New Roman" panose="02020603050405020304" pitchFamily="18" charset="0"/>
                <a:cs typeface="Times New Roman" panose="02020603050405020304" pitchFamily="18" charset="0"/>
              </a:rPr>
              <a:t>('/accueil', </a:t>
            </a:r>
            <a:r>
              <a:rPr lang="fr-FR" i="1" dirty="0" err="1">
                <a:solidFill>
                  <a:schemeClr val="accent1">
                    <a:lumMod val="50000"/>
                  </a:schemeClr>
                </a:solidFill>
                <a:latin typeface="Times New Roman" panose="02020603050405020304" pitchFamily="18" charset="0"/>
                <a:cs typeface="Times New Roman" panose="02020603050405020304" pitchFamily="18" charset="0"/>
              </a:rPr>
              <a:t>function</a:t>
            </a:r>
            <a:r>
              <a:rPr lang="fr-FR" i="1" dirty="0">
                <a:solidFill>
                  <a:schemeClr val="accent1">
                    <a:lumMod val="50000"/>
                  </a:schemeClr>
                </a:solidFill>
                <a:latin typeface="Times New Roman" panose="02020603050405020304" pitchFamily="18" charset="0"/>
                <a:cs typeface="Times New Roman" panose="02020603050405020304" pitchFamily="18" charset="0"/>
              </a:rPr>
              <a:t>(){</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	return 'Bonjour tout le monde';</a:t>
            </a:r>
          </a:p>
          <a:p>
            <a:pPr marL="457200" lvl="1" indent="0" algn="just">
              <a:buNone/>
            </a:pPr>
            <a:r>
              <a:rPr lang="fr-FR" i="1" dirty="0">
                <a:solidFill>
                  <a:schemeClr val="accent1">
                    <a:lumMod val="50000"/>
                  </a:schemeClr>
                </a:solidFill>
                <a:latin typeface="Times New Roman" panose="02020603050405020304" pitchFamily="18" charset="0"/>
                <a:cs typeface="Times New Roman" panose="02020603050405020304" pitchFamily="18" charset="0"/>
              </a:rPr>
              <a:t>})-&gt;middleware('group1');</a:t>
            </a:r>
          </a:p>
        </p:txBody>
      </p:sp>
    </p:spTree>
    <p:extLst>
      <p:ext uri="{BB962C8B-B14F-4D97-AF65-F5344CB8AC3E}">
        <p14:creationId xmlns:p14="http://schemas.microsoft.com/office/powerpoint/2010/main" val="1727075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Validation des formulaires</a:t>
            </a:r>
          </a:p>
        </p:txBody>
      </p:sp>
      <p:sp>
        <p:nvSpPr>
          <p:cNvPr id="3" name="Espace réservé du contenu 2"/>
          <p:cNvSpPr>
            <a:spLocks noGrp="1"/>
          </p:cNvSpPr>
          <p:nvPr>
            <p:ph idx="1"/>
          </p:nvPr>
        </p:nvSpPr>
        <p:spPr/>
        <p:txBody>
          <a:bodyPr>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validation des formulaires dans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passe par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validate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appliquée à l’objet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request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et qui prend en paramètre un objet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contenant des clés sous forme des noms des inputs associés aux règles qu’il faut respecter pour valider le formulaire:</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a:t>
            </a:r>
            <a:r>
              <a:rPr lang="fr-FR" i="1" dirty="0" err="1">
                <a:solidFill>
                  <a:schemeClr val="tx2"/>
                </a:solidFill>
                <a:latin typeface="Times New Roman" panose="02020603050405020304" pitchFamily="18" charset="0"/>
                <a:cs typeface="Times New Roman" panose="02020603050405020304" pitchFamily="18" charset="0"/>
              </a:rPr>
              <a:t>request</a:t>
            </a:r>
            <a:r>
              <a:rPr lang="fr-FR" i="1" dirty="0">
                <a:solidFill>
                  <a:schemeClr val="tx2"/>
                </a:solidFill>
                <a:latin typeface="Times New Roman" panose="02020603050405020304" pitchFamily="18" charset="0"/>
                <a:cs typeface="Times New Roman" panose="02020603050405020304" pitchFamily="18" charset="0"/>
              </a:rPr>
              <a:t>-&gt;</a:t>
            </a:r>
            <a:r>
              <a:rPr lang="fr-FR" i="1" dirty="0" err="1">
                <a:solidFill>
                  <a:schemeClr val="tx2"/>
                </a:solidFill>
                <a:latin typeface="Times New Roman" panose="02020603050405020304" pitchFamily="18" charset="0"/>
                <a:cs typeface="Times New Roman" panose="02020603050405020304" pitchFamily="18" charset="0"/>
              </a:rPr>
              <a:t>validate</a:t>
            </a:r>
            <a:r>
              <a:rPr lang="fr-FR"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‘id’=&gt;’</a:t>
            </a:r>
            <a:r>
              <a:rPr lang="fr-FR" i="1" dirty="0" err="1">
                <a:solidFill>
                  <a:schemeClr val="tx2"/>
                </a:solidFill>
                <a:latin typeface="Times New Roman" panose="02020603050405020304" pitchFamily="18" charset="0"/>
                <a:cs typeface="Times New Roman" panose="02020603050405020304" pitchFamily="18" charset="0"/>
              </a:rPr>
              <a:t>required|numeric|unique:eleves</a:t>
            </a:r>
            <a:r>
              <a:rPr lang="fr-FR"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‘nom’=&gt;required|max:30’,</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a:t>
            </a:r>
            <a:r>
              <a:rPr lang="fr-FR" i="1" dirty="0" err="1">
                <a:solidFill>
                  <a:schemeClr val="tx2"/>
                </a:solidFill>
                <a:latin typeface="Times New Roman" panose="02020603050405020304" pitchFamily="18" charset="0"/>
                <a:cs typeface="Times New Roman" panose="02020603050405020304" pitchFamily="18" charset="0"/>
              </a:rPr>
              <a:t>date_naissance</a:t>
            </a:r>
            <a:r>
              <a:rPr lang="fr-FR" i="1" dirty="0">
                <a:solidFill>
                  <a:schemeClr val="tx2"/>
                </a:solidFill>
                <a:latin typeface="Times New Roman" panose="02020603050405020304" pitchFamily="18" charset="0"/>
                <a:cs typeface="Times New Roman" panose="02020603050405020304" pitchFamily="18" charset="0"/>
              </a:rPr>
              <a:t>’=&gt;’</a:t>
            </a:r>
            <a:r>
              <a:rPr lang="fr-FR" i="1" dirty="0" err="1">
                <a:solidFill>
                  <a:schemeClr val="tx2"/>
                </a:solidFill>
                <a:latin typeface="Times New Roman" panose="02020603050405020304" pitchFamily="18" charset="0"/>
                <a:cs typeface="Times New Roman" panose="02020603050405020304" pitchFamily="18" charset="0"/>
              </a:rPr>
              <a:t>required|date</a:t>
            </a:r>
            <a:r>
              <a:rPr lang="fr-FR"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‘email’=&gt;’</a:t>
            </a:r>
            <a:r>
              <a:rPr lang="fr-FR" i="1" dirty="0" err="1">
                <a:solidFill>
                  <a:schemeClr val="tx2"/>
                </a:solidFill>
                <a:latin typeface="Times New Roman" panose="02020603050405020304" pitchFamily="18" charset="0"/>
                <a:cs typeface="Times New Roman" panose="02020603050405020304" pitchFamily="18" charset="0"/>
              </a:rPr>
              <a:t>required|email</a:t>
            </a:r>
            <a:r>
              <a:rPr lang="fr-FR"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00802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Validation des formulaires</a:t>
            </a:r>
          </a:p>
        </p:txBody>
      </p:sp>
      <p:sp>
        <p:nvSpPr>
          <p:cNvPr id="3" name="Espace réservé du contenu 2"/>
          <p:cNvSpPr>
            <a:spLocks noGrp="1"/>
          </p:cNvSpPr>
          <p:nvPr>
            <p:ph idx="1"/>
          </p:nvPr>
        </p:nvSpPr>
        <p:spPr>
          <a:xfrm>
            <a:off x="838200" y="1825625"/>
            <a:ext cx="10515600" cy="4667250"/>
          </a:xfrm>
        </p:spPr>
        <p:txBody>
          <a:bodyPr>
            <a:normAutofit fontScale="92500"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Quelques règles de validation sous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required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champs obligatoire.</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numeric</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champs numérique.</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min:val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taille minimale</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max:val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taille maximale</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size:val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 taille doit être exactement égale à val</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between:min,max</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taille entre min et max.</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‘date’: champs de type date.</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before_or_equal:date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 date doit être antérieur ou égal à date.</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unique:tables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la valeur doit être unique dans la table tables.</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different:valeur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le champs doit être différent de valeur.</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‘email’: le champs doit être au format email</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‘url’: le champs doit être au format url</a:t>
            </a:r>
            <a:endParaRPr lang="fr-FR" i="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7346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Validation des formulaires</a:t>
            </a:r>
          </a:p>
        </p:txBody>
      </p:sp>
      <p:sp>
        <p:nvSpPr>
          <p:cNvPr id="3" name="Espace réservé du contenu 2"/>
          <p:cNvSpPr>
            <a:spLocks noGrp="1"/>
          </p:cNvSpPr>
          <p:nvPr>
            <p:ph idx="1"/>
          </p:nvPr>
        </p:nvSpPr>
        <p:spPr>
          <a:xfrm>
            <a:off x="838200" y="2188029"/>
            <a:ext cx="4996543" cy="4301783"/>
          </a:xfrm>
          <a:ln>
            <a:solidFill>
              <a:schemeClr val="accent1"/>
            </a:solidFill>
          </a:ln>
        </p:spPr>
        <p:txBody>
          <a:bodyPr>
            <a:normAutofit fontScale="55000" lnSpcReduction="20000"/>
          </a:bodyPr>
          <a:lstStyle/>
          <a:p>
            <a:pPr marL="0" indent="0">
              <a:buNone/>
            </a:pPr>
            <a:r>
              <a:rPr lang="fr-MA" sz="3600" i="1" dirty="0">
                <a:solidFill>
                  <a:schemeClr val="tx2"/>
                </a:solidFill>
                <a:latin typeface="Times New Roman" panose="02020603050405020304" pitchFamily="18" charset="0"/>
                <a:cs typeface="Times New Roman" panose="02020603050405020304" pitchFamily="18" charset="0"/>
              </a:rPr>
              <a:t>&lt;body&gt;</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    &lt;div&gt;</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        @if(count($errors)&gt;0)</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        &lt;</a:t>
            </a:r>
            <a:r>
              <a:rPr lang="fr-MA" sz="3600" i="1" dirty="0" err="1">
                <a:solidFill>
                  <a:schemeClr val="tx2"/>
                </a:solidFill>
                <a:latin typeface="Times New Roman" panose="02020603050405020304" pitchFamily="18" charset="0"/>
                <a:cs typeface="Times New Roman" panose="02020603050405020304" pitchFamily="18" charset="0"/>
              </a:rPr>
              <a:t>ul</a:t>
            </a:r>
            <a:r>
              <a:rPr lang="fr-MA" sz="3600" i="1" dirty="0">
                <a:solidFill>
                  <a:schemeClr val="tx2"/>
                </a:solidFill>
                <a:latin typeface="Times New Roman" panose="02020603050405020304" pitchFamily="18" charset="0"/>
                <a:cs typeface="Times New Roman" panose="02020603050405020304" pitchFamily="18" charset="0"/>
              </a:rPr>
              <a:t>&gt;</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            @foreach($errors-&gt;all() as $</a:t>
            </a:r>
            <a:r>
              <a:rPr lang="fr-MA" sz="3600" i="1" dirty="0" err="1">
                <a:solidFill>
                  <a:schemeClr val="tx2"/>
                </a:solidFill>
                <a:latin typeface="Times New Roman" panose="02020603050405020304" pitchFamily="18" charset="0"/>
                <a:cs typeface="Times New Roman" panose="02020603050405020304" pitchFamily="18" charset="0"/>
              </a:rPr>
              <a:t>error</a:t>
            </a:r>
            <a:r>
              <a:rPr lang="fr-MA" sz="3600" i="1" dirty="0">
                <a:solidFill>
                  <a:schemeClr val="tx2"/>
                </a:solidFill>
                <a:latin typeface="Times New Roman" panose="02020603050405020304" pitchFamily="18" charset="0"/>
                <a:cs typeface="Times New Roman" panose="02020603050405020304" pitchFamily="18" charset="0"/>
              </a:rPr>
              <a:t>)</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            &lt;li&gt;{{$</a:t>
            </a:r>
            <a:r>
              <a:rPr lang="fr-MA" sz="3600" i="1" dirty="0" err="1">
                <a:solidFill>
                  <a:schemeClr val="tx2"/>
                </a:solidFill>
                <a:latin typeface="Times New Roman" panose="02020603050405020304" pitchFamily="18" charset="0"/>
                <a:cs typeface="Times New Roman" panose="02020603050405020304" pitchFamily="18" charset="0"/>
              </a:rPr>
              <a:t>error</a:t>
            </a:r>
            <a:r>
              <a:rPr lang="fr-MA" sz="3600" i="1" dirty="0">
                <a:solidFill>
                  <a:schemeClr val="tx2"/>
                </a:solidFill>
                <a:latin typeface="Times New Roman" panose="02020603050405020304" pitchFamily="18" charset="0"/>
                <a:cs typeface="Times New Roman" panose="02020603050405020304" pitchFamily="18" charset="0"/>
              </a:rPr>
              <a:t>}}&lt;/li&gt;</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            @endforeach</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        &lt;/</a:t>
            </a:r>
            <a:r>
              <a:rPr lang="fr-MA" sz="3600" i="1" dirty="0" err="1">
                <a:solidFill>
                  <a:schemeClr val="tx2"/>
                </a:solidFill>
                <a:latin typeface="Times New Roman" panose="02020603050405020304" pitchFamily="18" charset="0"/>
                <a:cs typeface="Times New Roman" panose="02020603050405020304" pitchFamily="18" charset="0"/>
              </a:rPr>
              <a:t>ul</a:t>
            </a:r>
            <a:r>
              <a:rPr lang="fr-MA" sz="3600" i="1" dirty="0">
                <a:solidFill>
                  <a:schemeClr val="tx2"/>
                </a:solidFill>
                <a:latin typeface="Times New Roman" panose="02020603050405020304" pitchFamily="18" charset="0"/>
                <a:cs typeface="Times New Roman" panose="02020603050405020304" pitchFamily="18" charset="0"/>
              </a:rPr>
              <a:t>&gt;</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        @endif</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    &lt;/div&gt;</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&lt;</a:t>
            </a:r>
            <a:r>
              <a:rPr lang="fr-MA" sz="3600" i="1" dirty="0" err="1">
                <a:solidFill>
                  <a:schemeClr val="tx2"/>
                </a:solidFill>
                <a:latin typeface="Times New Roman" panose="02020603050405020304" pitchFamily="18" charset="0"/>
                <a:cs typeface="Times New Roman" panose="02020603050405020304" pitchFamily="18" charset="0"/>
              </a:rPr>
              <a:t>form</a:t>
            </a:r>
            <a:r>
              <a:rPr lang="fr-MA" sz="3600" i="1" dirty="0">
                <a:solidFill>
                  <a:schemeClr val="tx2"/>
                </a:solidFill>
                <a:latin typeface="Times New Roman" panose="02020603050405020304" pitchFamily="18" charset="0"/>
                <a:cs typeface="Times New Roman" panose="02020603050405020304" pitchFamily="18" charset="0"/>
              </a:rPr>
              <a:t> action={{route('</a:t>
            </a:r>
            <a:r>
              <a:rPr lang="fr-MA" sz="3600" i="1" dirty="0" err="1">
                <a:solidFill>
                  <a:schemeClr val="tx2"/>
                </a:solidFill>
                <a:latin typeface="Times New Roman" panose="02020603050405020304" pitchFamily="18" charset="0"/>
                <a:cs typeface="Times New Roman" panose="02020603050405020304" pitchFamily="18" charset="0"/>
              </a:rPr>
              <a:t>eleves.store</a:t>
            </a:r>
            <a:r>
              <a:rPr lang="fr-MA" sz="3600" i="1" dirty="0">
                <a:solidFill>
                  <a:schemeClr val="tx2"/>
                </a:solidFill>
                <a:latin typeface="Times New Roman" panose="02020603050405020304" pitchFamily="18" charset="0"/>
                <a:cs typeface="Times New Roman" panose="02020603050405020304" pitchFamily="18" charset="0"/>
              </a:rPr>
              <a:t>')}} </a:t>
            </a:r>
            <a:r>
              <a:rPr lang="fr-MA" sz="3600" i="1" dirty="0" err="1">
                <a:solidFill>
                  <a:schemeClr val="tx2"/>
                </a:solidFill>
                <a:latin typeface="Times New Roman" panose="02020603050405020304" pitchFamily="18" charset="0"/>
                <a:cs typeface="Times New Roman" panose="02020603050405020304" pitchFamily="18" charset="0"/>
              </a:rPr>
              <a:t>method</a:t>
            </a:r>
            <a:r>
              <a:rPr lang="fr-MA" sz="3600" i="1" dirty="0">
                <a:solidFill>
                  <a:schemeClr val="tx2"/>
                </a:solidFill>
                <a:latin typeface="Times New Roman" panose="02020603050405020304" pitchFamily="18" charset="0"/>
                <a:cs typeface="Times New Roman" panose="02020603050405020304" pitchFamily="18" charset="0"/>
              </a:rPr>
              <a:t>="post"&gt;</a:t>
            </a:r>
          </a:p>
          <a:p>
            <a:pPr marL="0" indent="0">
              <a:buNone/>
            </a:pPr>
            <a:r>
              <a:rPr lang="fr-MA" sz="3600" i="1" dirty="0">
                <a:solidFill>
                  <a:schemeClr val="tx2"/>
                </a:solidFill>
                <a:latin typeface="Times New Roman" panose="02020603050405020304" pitchFamily="18" charset="0"/>
                <a:cs typeface="Times New Roman" panose="02020603050405020304" pitchFamily="18" charset="0"/>
              </a:rPr>
              <a:t>        @csrf</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654872E7-75B5-5C5D-7CE3-C02E283BBABF}"/>
              </a:ext>
            </a:extLst>
          </p:cNvPr>
          <p:cNvSpPr txBox="1"/>
          <p:nvPr/>
        </p:nvSpPr>
        <p:spPr>
          <a:xfrm>
            <a:off x="5987145" y="2191430"/>
            <a:ext cx="6085114" cy="4247317"/>
          </a:xfrm>
          <a:prstGeom prst="rect">
            <a:avLst/>
          </a:prstGeom>
          <a:noFill/>
          <a:ln>
            <a:solidFill>
              <a:schemeClr val="accent1"/>
            </a:solidFill>
          </a:ln>
        </p:spPr>
        <p:txBody>
          <a:bodyPr wrap="square">
            <a:spAutoFit/>
          </a:bodyPr>
          <a:lstStyle/>
          <a:p>
            <a:r>
              <a:rPr lang="fr-MA" sz="1800" i="1" dirty="0">
                <a:solidFill>
                  <a:schemeClr val="tx2"/>
                </a:solidFill>
                <a:latin typeface="Times New Roman" panose="02020603050405020304" pitchFamily="18" charset="0"/>
                <a:cs typeface="Times New Roman" panose="02020603050405020304" pitchFamily="18" charset="0"/>
              </a:rPr>
              <a:t>ID:&lt;input type="</a:t>
            </a:r>
            <a:r>
              <a:rPr lang="fr-MA" sz="1800" i="1" dirty="0" err="1">
                <a:solidFill>
                  <a:schemeClr val="tx2"/>
                </a:solidFill>
                <a:latin typeface="Times New Roman" panose="02020603050405020304" pitchFamily="18" charset="0"/>
                <a:cs typeface="Times New Roman" panose="02020603050405020304" pitchFamily="18" charset="0"/>
              </a:rPr>
              <a:t>text</a:t>
            </a:r>
            <a:r>
              <a:rPr lang="fr-MA" sz="1800" i="1" dirty="0">
                <a:solidFill>
                  <a:schemeClr val="tx2"/>
                </a:solidFill>
                <a:latin typeface="Times New Roman" panose="02020603050405020304" pitchFamily="18" charset="0"/>
                <a:cs typeface="Times New Roman" panose="02020603050405020304" pitchFamily="18" charset="0"/>
              </a:rPr>
              <a:t>" </a:t>
            </a:r>
            <a:r>
              <a:rPr lang="fr-MA" sz="1800" i="1" dirty="0" err="1">
                <a:solidFill>
                  <a:schemeClr val="tx2"/>
                </a:solidFill>
                <a:latin typeface="Times New Roman" panose="02020603050405020304" pitchFamily="18" charset="0"/>
                <a:cs typeface="Times New Roman" panose="02020603050405020304" pitchFamily="18" charset="0"/>
              </a:rPr>
              <a:t>name</a:t>
            </a:r>
            <a:r>
              <a:rPr lang="fr-MA" sz="1800" i="1" dirty="0">
                <a:solidFill>
                  <a:schemeClr val="tx2"/>
                </a:solidFill>
                <a:latin typeface="Times New Roman" panose="02020603050405020304" pitchFamily="18" charset="0"/>
                <a:cs typeface="Times New Roman" panose="02020603050405020304" pitchFamily="18" charset="0"/>
              </a:rPr>
              <a:t>="id" value="{{</a:t>
            </a:r>
            <a:r>
              <a:rPr lang="fr-MA" sz="1800" i="1" dirty="0" err="1">
                <a:solidFill>
                  <a:schemeClr val="tx2"/>
                </a:solidFill>
                <a:latin typeface="Times New Roman" panose="02020603050405020304" pitchFamily="18" charset="0"/>
                <a:cs typeface="Times New Roman" panose="02020603050405020304" pitchFamily="18" charset="0"/>
              </a:rPr>
              <a:t>old</a:t>
            </a:r>
            <a:r>
              <a:rPr lang="fr-MA" sz="1800" i="1" dirty="0">
                <a:solidFill>
                  <a:schemeClr val="tx2"/>
                </a:solidFill>
                <a:latin typeface="Times New Roman" panose="02020603050405020304" pitchFamily="18" charset="0"/>
                <a:cs typeface="Times New Roman" panose="02020603050405020304" pitchFamily="18" charset="0"/>
              </a:rPr>
              <a:t>('id')}}" /&gt;&lt;</a:t>
            </a:r>
            <a:r>
              <a:rPr lang="fr-MA" sz="1800" i="1" dirty="0" err="1">
                <a:solidFill>
                  <a:schemeClr val="tx2"/>
                </a:solidFill>
                <a:latin typeface="Times New Roman" panose="02020603050405020304" pitchFamily="18" charset="0"/>
                <a:cs typeface="Times New Roman" panose="02020603050405020304" pitchFamily="18" charset="0"/>
              </a:rPr>
              <a:t>br</a:t>
            </a:r>
            <a:r>
              <a:rPr lang="fr-MA" sz="1800" i="1" dirty="0">
                <a:solidFill>
                  <a:schemeClr val="tx2"/>
                </a:solidFill>
                <a:latin typeface="Times New Roman" panose="02020603050405020304" pitchFamily="18" charset="0"/>
                <a:cs typeface="Times New Roman" panose="02020603050405020304" pitchFamily="18" charset="0"/>
              </a:rPr>
              <a:t> /&gt;            </a:t>
            </a:r>
          </a:p>
          <a:p>
            <a:pPr marL="0" indent="0">
              <a:buNone/>
            </a:pPr>
            <a:r>
              <a:rPr lang="fr-MA" sz="1800" i="1" dirty="0">
                <a:solidFill>
                  <a:schemeClr val="tx2"/>
                </a:solidFill>
                <a:latin typeface="Times New Roman" panose="02020603050405020304" pitchFamily="18" charset="0"/>
                <a:cs typeface="Times New Roman" panose="02020603050405020304" pitchFamily="18" charset="0"/>
              </a:rPr>
              <a:t>Nom:&lt;input type="</a:t>
            </a:r>
            <a:r>
              <a:rPr lang="fr-MA" sz="1800" i="1" dirty="0" err="1">
                <a:solidFill>
                  <a:schemeClr val="tx2"/>
                </a:solidFill>
                <a:latin typeface="Times New Roman" panose="02020603050405020304" pitchFamily="18" charset="0"/>
                <a:cs typeface="Times New Roman" panose="02020603050405020304" pitchFamily="18" charset="0"/>
              </a:rPr>
              <a:t>text</a:t>
            </a:r>
            <a:r>
              <a:rPr lang="fr-MA" sz="1800" i="1" dirty="0">
                <a:solidFill>
                  <a:schemeClr val="tx2"/>
                </a:solidFill>
                <a:latin typeface="Times New Roman" panose="02020603050405020304" pitchFamily="18" charset="0"/>
                <a:cs typeface="Times New Roman" panose="02020603050405020304" pitchFamily="18" charset="0"/>
              </a:rPr>
              <a:t>" </a:t>
            </a:r>
            <a:r>
              <a:rPr lang="fr-MA" sz="1800" i="1" dirty="0" err="1">
                <a:solidFill>
                  <a:schemeClr val="tx2"/>
                </a:solidFill>
                <a:latin typeface="Times New Roman" panose="02020603050405020304" pitchFamily="18" charset="0"/>
                <a:cs typeface="Times New Roman" panose="02020603050405020304" pitchFamily="18" charset="0"/>
              </a:rPr>
              <a:t>name</a:t>
            </a:r>
            <a:r>
              <a:rPr lang="fr-MA" sz="1800" i="1" dirty="0">
                <a:solidFill>
                  <a:schemeClr val="tx2"/>
                </a:solidFill>
                <a:latin typeface="Times New Roman" panose="02020603050405020304" pitchFamily="18" charset="0"/>
                <a:cs typeface="Times New Roman" panose="02020603050405020304" pitchFamily="18" charset="0"/>
              </a:rPr>
              <a:t>="nom" value="{{</a:t>
            </a:r>
            <a:r>
              <a:rPr lang="fr-MA" sz="1800" i="1" dirty="0" err="1">
                <a:solidFill>
                  <a:schemeClr val="tx2"/>
                </a:solidFill>
                <a:latin typeface="Times New Roman" panose="02020603050405020304" pitchFamily="18" charset="0"/>
                <a:cs typeface="Times New Roman" panose="02020603050405020304" pitchFamily="18" charset="0"/>
              </a:rPr>
              <a:t>old</a:t>
            </a:r>
            <a:r>
              <a:rPr lang="fr-MA" sz="1800" i="1" dirty="0">
                <a:solidFill>
                  <a:schemeClr val="tx2"/>
                </a:solidFill>
                <a:latin typeface="Times New Roman" panose="02020603050405020304" pitchFamily="18" charset="0"/>
                <a:cs typeface="Times New Roman" panose="02020603050405020304" pitchFamily="18" charset="0"/>
              </a:rPr>
              <a:t>('nom')}}" /&gt;&lt;</a:t>
            </a:r>
            <a:r>
              <a:rPr lang="fr-MA" sz="1800" i="1" dirty="0" err="1">
                <a:solidFill>
                  <a:schemeClr val="tx2"/>
                </a:solidFill>
                <a:latin typeface="Times New Roman" panose="02020603050405020304" pitchFamily="18" charset="0"/>
                <a:cs typeface="Times New Roman" panose="02020603050405020304" pitchFamily="18" charset="0"/>
              </a:rPr>
              <a:t>br</a:t>
            </a:r>
            <a:r>
              <a:rPr lang="fr-MA" sz="1800" i="1" dirty="0">
                <a:solidFill>
                  <a:schemeClr val="tx2"/>
                </a:solidFill>
                <a:latin typeface="Times New Roman" panose="02020603050405020304" pitchFamily="18" charset="0"/>
                <a:cs typeface="Times New Roman" panose="02020603050405020304" pitchFamily="18" charset="0"/>
              </a:rPr>
              <a:t> /&gt;</a:t>
            </a:r>
          </a:p>
          <a:p>
            <a:pPr marL="0" indent="0">
              <a:buNone/>
            </a:pPr>
            <a:r>
              <a:rPr lang="fr-MA" sz="1800" i="1" dirty="0">
                <a:solidFill>
                  <a:schemeClr val="tx2"/>
                </a:solidFill>
                <a:latin typeface="Times New Roman" panose="02020603050405020304" pitchFamily="18" charset="0"/>
                <a:cs typeface="Times New Roman" panose="02020603050405020304" pitchFamily="18" charset="0"/>
              </a:rPr>
              <a:t>        Prénom:&lt;input type="</a:t>
            </a:r>
            <a:r>
              <a:rPr lang="fr-MA" sz="1800" i="1" dirty="0" err="1">
                <a:solidFill>
                  <a:schemeClr val="tx2"/>
                </a:solidFill>
                <a:latin typeface="Times New Roman" panose="02020603050405020304" pitchFamily="18" charset="0"/>
                <a:cs typeface="Times New Roman" panose="02020603050405020304" pitchFamily="18" charset="0"/>
              </a:rPr>
              <a:t>text</a:t>
            </a:r>
            <a:r>
              <a:rPr lang="fr-MA" sz="1800" i="1" dirty="0">
                <a:solidFill>
                  <a:schemeClr val="tx2"/>
                </a:solidFill>
                <a:latin typeface="Times New Roman" panose="02020603050405020304" pitchFamily="18" charset="0"/>
                <a:cs typeface="Times New Roman" panose="02020603050405020304" pitchFamily="18" charset="0"/>
              </a:rPr>
              <a:t>" </a:t>
            </a:r>
            <a:r>
              <a:rPr lang="fr-MA" sz="1800" i="1" dirty="0" err="1">
                <a:solidFill>
                  <a:schemeClr val="tx2"/>
                </a:solidFill>
                <a:latin typeface="Times New Roman" panose="02020603050405020304" pitchFamily="18" charset="0"/>
                <a:cs typeface="Times New Roman" panose="02020603050405020304" pitchFamily="18" charset="0"/>
              </a:rPr>
              <a:t>name</a:t>
            </a:r>
            <a:r>
              <a:rPr lang="fr-MA" sz="1800" i="1" dirty="0">
                <a:solidFill>
                  <a:schemeClr val="tx2"/>
                </a:solidFill>
                <a:latin typeface="Times New Roman" panose="02020603050405020304" pitchFamily="18" charset="0"/>
                <a:cs typeface="Times New Roman" panose="02020603050405020304" pitchFamily="18" charset="0"/>
              </a:rPr>
              <a:t>="</a:t>
            </a:r>
            <a:r>
              <a:rPr lang="fr-MA" sz="1800" i="1" dirty="0" err="1">
                <a:solidFill>
                  <a:schemeClr val="tx2"/>
                </a:solidFill>
                <a:latin typeface="Times New Roman" panose="02020603050405020304" pitchFamily="18" charset="0"/>
                <a:cs typeface="Times New Roman" panose="02020603050405020304" pitchFamily="18" charset="0"/>
              </a:rPr>
              <a:t>prenom</a:t>
            </a:r>
            <a:r>
              <a:rPr lang="fr-MA" sz="1800" i="1" dirty="0">
                <a:solidFill>
                  <a:schemeClr val="tx2"/>
                </a:solidFill>
                <a:latin typeface="Times New Roman" panose="02020603050405020304" pitchFamily="18" charset="0"/>
                <a:cs typeface="Times New Roman" panose="02020603050405020304" pitchFamily="18" charset="0"/>
              </a:rPr>
              <a:t>" value="{{</a:t>
            </a:r>
            <a:r>
              <a:rPr lang="fr-MA" sz="1800" i="1" dirty="0" err="1">
                <a:solidFill>
                  <a:schemeClr val="tx2"/>
                </a:solidFill>
                <a:latin typeface="Times New Roman" panose="02020603050405020304" pitchFamily="18" charset="0"/>
                <a:cs typeface="Times New Roman" panose="02020603050405020304" pitchFamily="18" charset="0"/>
              </a:rPr>
              <a:t>old</a:t>
            </a:r>
            <a:r>
              <a:rPr lang="fr-MA" sz="1800" i="1" dirty="0">
                <a:solidFill>
                  <a:schemeClr val="tx2"/>
                </a:solidFill>
                <a:latin typeface="Times New Roman" panose="02020603050405020304" pitchFamily="18" charset="0"/>
                <a:cs typeface="Times New Roman" panose="02020603050405020304" pitchFamily="18" charset="0"/>
              </a:rPr>
              <a:t>('</a:t>
            </a:r>
            <a:r>
              <a:rPr lang="fr-MA" sz="1800" i="1" dirty="0" err="1">
                <a:solidFill>
                  <a:schemeClr val="tx2"/>
                </a:solidFill>
                <a:latin typeface="Times New Roman" panose="02020603050405020304" pitchFamily="18" charset="0"/>
                <a:cs typeface="Times New Roman" panose="02020603050405020304" pitchFamily="18" charset="0"/>
              </a:rPr>
              <a:t>prenom</a:t>
            </a:r>
            <a:r>
              <a:rPr lang="fr-MA" sz="1800" i="1" dirty="0">
                <a:solidFill>
                  <a:schemeClr val="tx2"/>
                </a:solidFill>
                <a:latin typeface="Times New Roman" panose="02020603050405020304" pitchFamily="18" charset="0"/>
                <a:cs typeface="Times New Roman" panose="02020603050405020304" pitchFamily="18" charset="0"/>
              </a:rPr>
              <a:t>')}}" /&gt;&lt;</a:t>
            </a:r>
            <a:r>
              <a:rPr lang="fr-MA" sz="1800" i="1" dirty="0" err="1">
                <a:solidFill>
                  <a:schemeClr val="tx2"/>
                </a:solidFill>
                <a:latin typeface="Times New Roman" panose="02020603050405020304" pitchFamily="18" charset="0"/>
                <a:cs typeface="Times New Roman" panose="02020603050405020304" pitchFamily="18" charset="0"/>
              </a:rPr>
              <a:t>br</a:t>
            </a:r>
            <a:r>
              <a:rPr lang="fr-MA" sz="1800" i="1" dirty="0">
                <a:solidFill>
                  <a:schemeClr val="tx2"/>
                </a:solidFill>
                <a:latin typeface="Times New Roman" panose="02020603050405020304" pitchFamily="18" charset="0"/>
                <a:cs typeface="Times New Roman" panose="02020603050405020304" pitchFamily="18" charset="0"/>
              </a:rPr>
              <a:t> /&gt;</a:t>
            </a:r>
          </a:p>
          <a:p>
            <a:pPr marL="0" indent="0">
              <a:buNone/>
            </a:pPr>
            <a:r>
              <a:rPr lang="fr-MA" sz="1800" i="1" dirty="0">
                <a:solidFill>
                  <a:schemeClr val="tx2"/>
                </a:solidFill>
                <a:latin typeface="Times New Roman" panose="02020603050405020304" pitchFamily="18" charset="0"/>
                <a:cs typeface="Times New Roman" panose="02020603050405020304" pitchFamily="18" charset="0"/>
              </a:rPr>
              <a:t>        Date de naissance:&lt;input type="date" </a:t>
            </a:r>
            <a:r>
              <a:rPr lang="fr-MA" sz="1800" i="1" dirty="0" err="1">
                <a:solidFill>
                  <a:schemeClr val="tx2"/>
                </a:solidFill>
                <a:latin typeface="Times New Roman" panose="02020603050405020304" pitchFamily="18" charset="0"/>
                <a:cs typeface="Times New Roman" panose="02020603050405020304" pitchFamily="18" charset="0"/>
              </a:rPr>
              <a:t>name</a:t>
            </a:r>
            <a:r>
              <a:rPr lang="fr-MA" sz="1800" i="1" dirty="0">
                <a:solidFill>
                  <a:schemeClr val="tx2"/>
                </a:solidFill>
                <a:latin typeface="Times New Roman" panose="02020603050405020304" pitchFamily="18" charset="0"/>
                <a:cs typeface="Times New Roman" panose="02020603050405020304" pitchFamily="18" charset="0"/>
              </a:rPr>
              <a:t>="date" value="{{</a:t>
            </a:r>
            <a:r>
              <a:rPr lang="fr-MA" sz="1800" i="1" dirty="0" err="1">
                <a:solidFill>
                  <a:schemeClr val="tx2"/>
                </a:solidFill>
                <a:latin typeface="Times New Roman" panose="02020603050405020304" pitchFamily="18" charset="0"/>
                <a:cs typeface="Times New Roman" panose="02020603050405020304" pitchFamily="18" charset="0"/>
              </a:rPr>
              <a:t>old</a:t>
            </a:r>
            <a:r>
              <a:rPr lang="fr-MA" sz="1800" i="1" dirty="0">
                <a:solidFill>
                  <a:schemeClr val="tx2"/>
                </a:solidFill>
                <a:latin typeface="Times New Roman" panose="02020603050405020304" pitchFamily="18" charset="0"/>
                <a:cs typeface="Times New Roman" panose="02020603050405020304" pitchFamily="18" charset="0"/>
              </a:rPr>
              <a:t>('date')}}" /&gt;&lt;</a:t>
            </a:r>
            <a:r>
              <a:rPr lang="fr-MA" sz="1800" i="1" dirty="0" err="1">
                <a:solidFill>
                  <a:schemeClr val="tx2"/>
                </a:solidFill>
                <a:latin typeface="Times New Roman" panose="02020603050405020304" pitchFamily="18" charset="0"/>
                <a:cs typeface="Times New Roman" panose="02020603050405020304" pitchFamily="18" charset="0"/>
              </a:rPr>
              <a:t>br</a:t>
            </a:r>
            <a:r>
              <a:rPr lang="fr-MA" sz="1800" i="1" dirty="0">
                <a:solidFill>
                  <a:schemeClr val="tx2"/>
                </a:solidFill>
                <a:latin typeface="Times New Roman" panose="02020603050405020304" pitchFamily="18" charset="0"/>
                <a:cs typeface="Times New Roman" panose="02020603050405020304" pitchFamily="18" charset="0"/>
              </a:rPr>
              <a:t> /&gt;</a:t>
            </a:r>
          </a:p>
          <a:p>
            <a:pPr marL="0" indent="0">
              <a:buNone/>
            </a:pPr>
            <a:r>
              <a:rPr lang="fr-MA" sz="1800" i="1" dirty="0">
                <a:solidFill>
                  <a:schemeClr val="tx2"/>
                </a:solidFill>
                <a:latin typeface="Times New Roman" panose="02020603050405020304" pitchFamily="18" charset="0"/>
                <a:cs typeface="Times New Roman" panose="02020603050405020304" pitchFamily="18" charset="0"/>
              </a:rPr>
              <a:t>        Email:&lt;input type="</a:t>
            </a:r>
            <a:r>
              <a:rPr lang="fr-MA" sz="1800" i="1" dirty="0" err="1">
                <a:solidFill>
                  <a:schemeClr val="tx2"/>
                </a:solidFill>
                <a:latin typeface="Times New Roman" panose="02020603050405020304" pitchFamily="18" charset="0"/>
                <a:cs typeface="Times New Roman" panose="02020603050405020304" pitchFamily="18" charset="0"/>
              </a:rPr>
              <a:t>text</a:t>
            </a:r>
            <a:r>
              <a:rPr lang="fr-MA" sz="1800" i="1" dirty="0">
                <a:solidFill>
                  <a:schemeClr val="tx2"/>
                </a:solidFill>
                <a:latin typeface="Times New Roman" panose="02020603050405020304" pitchFamily="18" charset="0"/>
                <a:cs typeface="Times New Roman" panose="02020603050405020304" pitchFamily="18" charset="0"/>
              </a:rPr>
              <a:t>" </a:t>
            </a:r>
            <a:r>
              <a:rPr lang="fr-MA" sz="1800" i="1" dirty="0" err="1">
                <a:solidFill>
                  <a:schemeClr val="tx2"/>
                </a:solidFill>
                <a:latin typeface="Times New Roman" panose="02020603050405020304" pitchFamily="18" charset="0"/>
                <a:cs typeface="Times New Roman" panose="02020603050405020304" pitchFamily="18" charset="0"/>
              </a:rPr>
              <a:t>name</a:t>
            </a:r>
            <a:r>
              <a:rPr lang="fr-MA" sz="1800" i="1" dirty="0">
                <a:solidFill>
                  <a:schemeClr val="tx2"/>
                </a:solidFill>
                <a:latin typeface="Times New Roman" panose="02020603050405020304" pitchFamily="18" charset="0"/>
                <a:cs typeface="Times New Roman" panose="02020603050405020304" pitchFamily="18" charset="0"/>
              </a:rPr>
              <a:t>="email" value="{{</a:t>
            </a:r>
            <a:r>
              <a:rPr lang="fr-MA" sz="1800" i="1" dirty="0" err="1">
                <a:solidFill>
                  <a:schemeClr val="tx2"/>
                </a:solidFill>
                <a:latin typeface="Times New Roman" panose="02020603050405020304" pitchFamily="18" charset="0"/>
                <a:cs typeface="Times New Roman" panose="02020603050405020304" pitchFamily="18" charset="0"/>
              </a:rPr>
              <a:t>old</a:t>
            </a:r>
            <a:r>
              <a:rPr lang="fr-MA" sz="1800" i="1" dirty="0">
                <a:solidFill>
                  <a:schemeClr val="tx2"/>
                </a:solidFill>
                <a:latin typeface="Times New Roman" panose="02020603050405020304" pitchFamily="18" charset="0"/>
                <a:cs typeface="Times New Roman" panose="02020603050405020304" pitchFamily="18" charset="0"/>
              </a:rPr>
              <a:t>('email')}}" /&gt;&lt;</a:t>
            </a:r>
            <a:r>
              <a:rPr lang="fr-MA" sz="1800" i="1" dirty="0" err="1">
                <a:solidFill>
                  <a:schemeClr val="tx2"/>
                </a:solidFill>
                <a:latin typeface="Times New Roman" panose="02020603050405020304" pitchFamily="18" charset="0"/>
                <a:cs typeface="Times New Roman" panose="02020603050405020304" pitchFamily="18" charset="0"/>
              </a:rPr>
              <a:t>br</a:t>
            </a:r>
            <a:r>
              <a:rPr lang="fr-MA" sz="1800" i="1" dirty="0">
                <a:solidFill>
                  <a:schemeClr val="tx2"/>
                </a:solidFill>
                <a:latin typeface="Times New Roman" panose="02020603050405020304" pitchFamily="18" charset="0"/>
                <a:cs typeface="Times New Roman" panose="02020603050405020304" pitchFamily="18" charset="0"/>
              </a:rPr>
              <a:t> /&gt;</a:t>
            </a:r>
          </a:p>
          <a:p>
            <a:pPr marL="0" indent="0">
              <a:buNone/>
            </a:pPr>
            <a:r>
              <a:rPr lang="fr-MA" sz="1800" i="1" dirty="0">
                <a:solidFill>
                  <a:schemeClr val="tx2"/>
                </a:solidFill>
                <a:latin typeface="Times New Roman" panose="02020603050405020304" pitchFamily="18" charset="0"/>
                <a:cs typeface="Times New Roman" panose="02020603050405020304" pitchFamily="18" charset="0"/>
              </a:rPr>
              <a:t>        &lt;input type="</a:t>
            </a:r>
            <a:r>
              <a:rPr lang="fr-MA" sz="1800" i="1" dirty="0" err="1">
                <a:solidFill>
                  <a:schemeClr val="tx2"/>
                </a:solidFill>
                <a:latin typeface="Times New Roman" panose="02020603050405020304" pitchFamily="18" charset="0"/>
                <a:cs typeface="Times New Roman" panose="02020603050405020304" pitchFamily="18" charset="0"/>
              </a:rPr>
              <a:t>submit</a:t>
            </a:r>
            <a:r>
              <a:rPr lang="fr-MA" sz="1800" i="1" dirty="0">
                <a:solidFill>
                  <a:schemeClr val="tx2"/>
                </a:solidFill>
                <a:latin typeface="Times New Roman" panose="02020603050405020304" pitchFamily="18" charset="0"/>
                <a:cs typeface="Times New Roman" panose="02020603050405020304" pitchFamily="18" charset="0"/>
              </a:rPr>
              <a:t>" value="Ajouter" /&gt;</a:t>
            </a:r>
          </a:p>
          <a:p>
            <a:pPr marL="0" indent="0">
              <a:buNone/>
            </a:pPr>
            <a:r>
              <a:rPr lang="fr-MA" sz="1800" i="1" dirty="0">
                <a:solidFill>
                  <a:schemeClr val="tx2"/>
                </a:solidFill>
                <a:latin typeface="Times New Roman" panose="02020603050405020304" pitchFamily="18" charset="0"/>
                <a:cs typeface="Times New Roman" panose="02020603050405020304" pitchFamily="18" charset="0"/>
              </a:rPr>
              <a:t>    &lt;/</a:t>
            </a:r>
            <a:r>
              <a:rPr lang="fr-MA" sz="1800" i="1" dirty="0" err="1">
                <a:solidFill>
                  <a:schemeClr val="tx2"/>
                </a:solidFill>
                <a:latin typeface="Times New Roman" panose="02020603050405020304" pitchFamily="18" charset="0"/>
                <a:cs typeface="Times New Roman" panose="02020603050405020304" pitchFamily="18" charset="0"/>
              </a:rPr>
              <a:t>form</a:t>
            </a:r>
            <a:r>
              <a:rPr lang="fr-MA" sz="1800" i="1" dirty="0">
                <a:solidFill>
                  <a:schemeClr val="tx2"/>
                </a:solidFill>
                <a:latin typeface="Times New Roman" panose="02020603050405020304" pitchFamily="18" charset="0"/>
                <a:cs typeface="Times New Roman" panose="02020603050405020304" pitchFamily="18" charset="0"/>
              </a:rPr>
              <a:t>&gt;</a:t>
            </a:r>
          </a:p>
          <a:p>
            <a:pPr marL="0" indent="0">
              <a:buNone/>
            </a:pPr>
            <a:r>
              <a:rPr lang="fr-MA" sz="1800" i="1" dirty="0">
                <a:solidFill>
                  <a:schemeClr val="tx2"/>
                </a:solidFill>
                <a:latin typeface="Times New Roman" panose="02020603050405020304" pitchFamily="18" charset="0"/>
                <a:cs typeface="Times New Roman" panose="02020603050405020304" pitchFamily="18" charset="0"/>
              </a:rPr>
              <a:t>&lt;/body&gt;</a:t>
            </a:r>
          </a:p>
          <a:p>
            <a:pPr marL="0" indent="0">
              <a:buNone/>
            </a:pPr>
            <a:endParaRPr lang="fr-MA" sz="3600" dirty="0"/>
          </a:p>
        </p:txBody>
      </p:sp>
      <p:sp>
        <p:nvSpPr>
          <p:cNvPr id="6" name="ZoneTexte 5">
            <a:extLst>
              <a:ext uri="{FF2B5EF4-FFF2-40B4-BE49-F238E27FC236}">
                <a16:creationId xmlns:a16="http://schemas.microsoft.com/office/drawing/2014/main" id="{C769BEE2-BB6B-B15B-21D1-06C37CAD4330}"/>
              </a:ext>
            </a:extLst>
          </p:cNvPr>
          <p:cNvSpPr txBox="1"/>
          <p:nvPr/>
        </p:nvSpPr>
        <p:spPr>
          <a:xfrm>
            <a:off x="881742" y="1506022"/>
            <a:ext cx="6226628" cy="492443"/>
          </a:xfrm>
          <a:prstGeom prst="rect">
            <a:avLst/>
          </a:prstGeom>
          <a:noFill/>
        </p:spPr>
        <p:txBody>
          <a:bodyPr wrap="square" rtlCol="0">
            <a:spAutoFit/>
          </a:bodyPr>
          <a:lstStyle/>
          <a:p>
            <a:r>
              <a:rPr lang="fr-FR"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vue du formulaire:</a:t>
            </a:r>
            <a:endParaRPr lang="fr-MA"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2144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Validation des formulaires</a:t>
            </a:r>
          </a:p>
        </p:txBody>
      </p:sp>
      <p:sp>
        <p:nvSpPr>
          <p:cNvPr id="3" name="Espace réservé du contenu 2"/>
          <p:cNvSpPr>
            <a:spLocks noGrp="1"/>
          </p:cNvSpPr>
          <p:nvPr>
            <p:ph idx="1"/>
          </p:nvPr>
        </p:nvSpPr>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Dans le cas où une ou plusieurs règles ne sont pas respectées, une collection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errors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est renvoyée et la vue contenant le formulaire est retournée, cependant, le formulaire est réinitialisé (les valeurs des champs sont perdues).</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garder les valeurs saisies par l’utilisateur avant l’envoi du formulaire, on utilise la fonction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en passant le nom de l’input exemple:</a:t>
            </a:r>
          </a:p>
          <a:p>
            <a:pPr marL="0" indent="0" algn="just">
              <a:buNone/>
            </a:pPr>
            <a:r>
              <a:rPr lang="fr-MA" sz="2800" i="1" dirty="0">
                <a:solidFill>
                  <a:schemeClr val="tx2"/>
                </a:solidFill>
                <a:latin typeface="Times New Roman" panose="02020603050405020304" pitchFamily="18" charset="0"/>
                <a:cs typeface="Times New Roman" panose="02020603050405020304" pitchFamily="18" charset="0"/>
              </a:rPr>
              <a:t>ID:&lt;input type="</a:t>
            </a:r>
            <a:r>
              <a:rPr lang="fr-MA" sz="2800" i="1" dirty="0" err="1">
                <a:solidFill>
                  <a:schemeClr val="tx2"/>
                </a:solidFill>
                <a:latin typeface="Times New Roman" panose="02020603050405020304" pitchFamily="18" charset="0"/>
                <a:cs typeface="Times New Roman" panose="02020603050405020304" pitchFamily="18" charset="0"/>
              </a:rPr>
              <a:t>text</a:t>
            </a:r>
            <a:r>
              <a:rPr lang="fr-MA" sz="2800" i="1" dirty="0">
                <a:solidFill>
                  <a:schemeClr val="tx2"/>
                </a:solidFill>
                <a:latin typeface="Times New Roman" panose="02020603050405020304" pitchFamily="18" charset="0"/>
                <a:cs typeface="Times New Roman" panose="02020603050405020304" pitchFamily="18" charset="0"/>
              </a:rPr>
              <a:t>" </a:t>
            </a:r>
            <a:r>
              <a:rPr lang="fr-MA" sz="2800" i="1" dirty="0" err="1">
                <a:solidFill>
                  <a:schemeClr val="tx2"/>
                </a:solidFill>
                <a:latin typeface="Times New Roman" panose="02020603050405020304" pitchFamily="18" charset="0"/>
                <a:cs typeface="Times New Roman" panose="02020603050405020304" pitchFamily="18" charset="0"/>
              </a:rPr>
              <a:t>name</a:t>
            </a:r>
            <a:r>
              <a:rPr lang="fr-MA" sz="2800" i="1" dirty="0">
                <a:solidFill>
                  <a:schemeClr val="tx2"/>
                </a:solidFill>
                <a:latin typeface="Times New Roman" panose="02020603050405020304" pitchFamily="18" charset="0"/>
                <a:cs typeface="Times New Roman" panose="02020603050405020304" pitchFamily="18" charset="0"/>
              </a:rPr>
              <a:t>="id" value="{{</a:t>
            </a:r>
            <a:r>
              <a:rPr lang="fr-MA" sz="2800" i="1" dirty="0" err="1">
                <a:solidFill>
                  <a:srgbClr val="C00000"/>
                </a:solidFill>
                <a:latin typeface="Times New Roman" panose="02020603050405020304" pitchFamily="18" charset="0"/>
                <a:cs typeface="Times New Roman" panose="02020603050405020304" pitchFamily="18" charset="0"/>
              </a:rPr>
              <a:t>old</a:t>
            </a:r>
            <a:r>
              <a:rPr lang="fr-MA" sz="2800" i="1" dirty="0">
                <a:solidFill>
                  <a:srgbClr val="C00000"/>
                </a:solidFill>
                <a:latin typeface="Times New Roman" panose="02020603050405020304" pitchFamily="18" charset="0"/>
                <a:cs typeface="Times New Roman" panose="02020603050405020304" pitchFamily="18" charset="0"/>
              </a:rPr>
              <a:t>('id')</a:t>
            </a:r>
            <a:r>
              <a:rPr lang="fr-MA" sz="2800" i="1" dirty="0">
                <a:solidFill>
                  <a:schemeClr val="tx2"/>
                </a:solidFill>
                <a:latin typeface="Times New Roman" panose="02020603050405020304" pitchFamily="18" charset="0"/>
                <a:cs typeface="Times New Roman" panose="02020603050405020304" pitchFamily="18" charset="0"/>
              </a:rPr>
              <a:t>}}" /&gt;&lt;</a:t>
            </a:r>
            <a:r>
              <a:rPr lang="fr-MA" sz="2800" i="1" dirty="0" err="1">
                <a:solidFill>
                  <a:schemeClr val="tx2"/>
                </a:solidFill>
                <a:latin typeface="Times New Roman" panose="02020603050405020304" pitchFamily="18" charset="0"/>
                <a:cs typeface="Times New Roman" panose="02020603050405020304" pitchFamily="18" charset="0"/>
              </a:rPr>
              <a:t>br</a:t>
            </a:r>
            <a:r>
              <a:rPr lang="fr-MA" sz="2800" i="1" dirty="0">
                <a:solidFill>
                  <a:schemeClr val="tx2"/>
                </a:solidFill>
                <a:latin typeface="Times New Roman" panose="02020603050405020304" pitchFamily="18" charset="0"/>
                <a:cs typeface="Times New Roman" panose="02020603050405020304" pitchFamily="18" charset="0"/>
              </a:rPr>
              <a:t> /&gt; </a:t>
            </a:r>
            <a:endParaRPr lang="fr-FR" i="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541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III- Les sessions HTTP</a:t>
            </a:r>
          </a:p>
        </p:txBody>
      </p:sp>
      <p:sp>
        <p:nvSpPr>
          <p:cNvPr id="3" name="Espace réservé du contenu 2"/>
          <p:cNvSpPr>
            <a:spLocks noGrp="1"/>
          </p:cNvSpPr>
          <p:nvPr>
            <p:ph idx="1"/>
          </p:nvPr>
        </p:nvSpPr>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 système des sessions est un mécanisme bien connu en PHP. Il permet de partager des données individuelles, pour chaque utilisateur, d’une page à une autre.</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Dans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le fichier de configuration de session est stocké dans ‘app/config/</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session.php</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manipulation de la session consiste à stocker ou récupérer ces données ou même tester la présence de ces données à l’aide des méthodes spécifiques.</a:t>
            </a:r>
          </a:p>
        </p:txBody>
      </p:sp>
    </p:spTree>
    <p:extLst>
      <p:ext uri="{BB962C8B-B14F-4D97-AF65-F5344CB8AC3E}">
        <p14:creationId xmlns:p14="http://schemas.microsoft.com/office/powerpoint/2010/main" val="2401520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III- Les sessions HTTP</a:t>
            </a:r>
          </a:p>
        </p:txBody>
      </p:sp>
      <p:sp>
        <p:nvSpPr>
          <p:cNvPr id="3" name="Espace réservé du contenu 2"/>
          <p:cNvSpPr>
            <a:spLocks noGrp="1"/>
          </p:cNvSpPr>
          <p:nvPr>
            <p:ph idx="1"/>
          </p:nvPr>
        </p:nvSpPr>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stocker une donnée dans une variable session, on peut utiliser l’une des syntaxes suivantes:</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tx2"/>
                </a:solidFill>
                <a:latin typeface="Times New Roman" panose="02020603050405020304" pitchFamily="18" charset="0"/>
                <a:cs typeface="Times New Roman" panose="02020603050405020304" pitchFamily="18" charset="0"/>
              </a:rPr>
              <a:t>Session::put(‘</a:t>
            </a:r>
            <a:r>
              <a:rPr lang="fr-FR" i="1" dirty="0" err="1">
                <a:solidFill>
                  <a:schemeClr val="tx2"/>
                </a:solidFill>
                <a:latin typeface="Times New Roman" panose="02020603050405020304" pitchFamily="18" charset="0"/>
                <a:cs typeface="Times New Roman" panose="02020603050405020304" pitchFamily="18" charset="0"/>
              </a:rPr>
              <a:t>key’,’value</a:t>
            </a:r>
            <a:r>
              <a:rPr lang="fr-FR"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session([‘key’=&gt;’value’]);</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a:t>
            </a:r>
            <a:r>
              <a:rPr lang="fr-FR" i="1" dirty="0" err="1">
                <a:solidFill>
                  <a:schemeClr val="tx2"/>
                </a:solidFill>
                <a:latin typeface="Times New Roman" panose="02020603050405020304" pitchFamily="18" charset="0"/>
                <a:cs typeface="Times New Roman" panose="02020603050405020304" pitchFamily="18" charset="0"/>
              </a:rPr>
              <a:t>request</a:t>
            </a:r>
            <a:r>
              <a:rPr lang="fr-FR" i="1" dirty="0">
                <a:solidFill>
                  <a:schemeClr val="tx2"/>
                </a:solidFill>
                <a:latin typeface="Times New Roman" panose="02020603050405020304" pitchFamily="18" charset="0"/>
                <a:cs typeface="Times New Roman" panose="02020603050405020304" pitchFamily="18" charset="0"/>
              </a:rPr>
              <a:t>-&gt;session()-&gt;put([‘key’=&gt;’value’]);</a:t>
            </a: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7429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III- Les sessions HTTP</a:t>
            </a:r>
          </a:p>
        </p:txBody>
      </p:sp>
      <p:sp>
        <p:nvSpPr>
          <p:cNvPr id="3" name="Espace réservé du contenu 2"/>
          <p:cNvSpPr>
            <a:spLocks noGrp="1"/>
          </p:cNvSpPr>
          <p:nvPr>
            <p:ph idx="1"/>
          </p:nvPr>
        </p:nvSpPr>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récupérer un élément de la session on utilise l’une des syntaxes:</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tx2"/>
                </a:solidFill>
                <a:latin typeface="Times New Roman" panose="02020603050405020304" pitchFamily="18" charset="0"/>
                <a:cs typeface="Times New Roman" panose="02020603050405020304" pitchFamily="18" charset="0"/>
              </a:rPr>
              <a:t>$value=Session::</a:t>
            </a:r>
            <a:r>
              <a:rPr lang="fr-FR" i="1" dirty="0" err="1">
                <a:solidFill>
                  <a:schemeClr val="tx2"/>
                </a:solidFill>
                <a:latin typeface="Times New Roman" panose="02020603050405020304" pitchFamily="18" charset="0"/>
                <a:cs typeface="Times New Roman" panose="02020603050405020304" pitchFamily="18" charset="0"/>
              </a:rPr>
              <a:t>get</a:t>
            </a:r>
            <a:r>
              <a:rPr lang="fr-FR" i="1" dirty="0">
                <a:solidFill>
                  <a:schemeClr val="tx2"/>
                </a:solidFill>
                <a:latin typeface="Times New Roman" panose="02020603050405020304" pitchFamily="18" charset="0"/>
                <a:cs typeface="Times New Roman" panose="02020603050405020304" pitchFamily="18" charset="0"/>
              </a:rPr>
              <a:t>(‘key’);</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$value=session (‘key’);</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récupérer un élément ou une valeur par défaut s’il n’existe pas:</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$value=Session::</a:t>
            </a:r>
            <a:r>
              <a:rPr lang="fr-FR" i="1" dirty="0" err="1">
                <a:solidFill>
                  <a:schemeClr val="tx2"/>
                </a:solidFill>
                <a:latin typeface="Times New Roman" panose="02020603050405020304" pitchFamily="18" charset="0"/>
                <a:cs typeface="Times New Roman" panose="02020603050405020304" pitchFamily="18" charset="0"/>
              </a:rPr>
              <a:t>get</a:t>
            </a:r>
            <a:r>
              <a:rPr lang="fr-FR" i="1" dirty="0">
                <a:solidFill>
                  <a:schemeClr val="tx2"/>
                </a:solidFill>
                <a:latin typeface="Times New Roman" panose="02020603050405020304" pitchFamily="18" charset="0"/>
                <a:cs typeface="Times New Roman" panose="02020603050405020304" pitchFamily="18" charset="0"/>
              </a:rPr>
              <a:t>(‘</a:t>
            </a:r>
            <a:r>
              <a:rPr lang="fr-FR" i="1" dirty="0" err="1">
                <a:solidFill>
                  <a:schemeClr val="tx2"/>
                </a:solidFill>
                <a:latin typeface="Times New Roman" panose="02020603050405020304" pitchFamily="18" charset="0"/>
                <a:cs typeface="Times New Roman" panose="02020603050405020304" pitchFamily="18" charset="0"/>
              </a:rPr>
              <a:t>key’,’default</a:t>
            </a:r>
            <a:r>
              <a:rPr lang="fr-FR"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$value=Session::</a:t>
            </a:r>
            <a:r>
              <a:rPr lang="fr-FR" i="1" dirty="0" err="1">
                <a:solidFill>
                  <a:schemeClr val="tx2"/>
                </a:solidFill>
                <a:latin typeface="Times New Roman" panose="02020603050405020304" pitchFamily="18" charset="0"/>
                <a:cs typeface="Times New Roman" panose="02020603050405020304" pitchFamily="18" charset="0"/>
              </a:rPr>
              <a:t>get</a:t>
            </a:r>
            <a:r>
              <a:rPr lang="fr-FR" i="1" dirty="0">
                <a:solidFill>
                  <a:schemeClr val="tx2"/>
                </a:solidFill>
                <a:latin typeface="Times New Roman" panose="02020603050405020304" pitchFamily="18" charset="0"/>
                <a:cs typeface="Times New Roman" panose="02020603050405020304" pitchFamily="18" charset="0"/>
              </a:rPr>
              <a:t>(‘key’,</a:t>
            </a:r>
            <a:r>
              <a:rPr lang="fr-FR" i="1" dirty="0" err="1">
                <a:solidFill>
                  <a:schemeClr val="tx2"/>
                </a:solidFill>
                <a:latin typeface="Times New Roman" panose="02020603050405020304" pitchFamily="18" charset="0"/>
                <a:cs typeface="Times New Roman" panose="02020603050405020304" pitchFamily="18" charset="0"/>
              </a:rPr>
              <a:t>function</a:t>
            </a:r>
            <a:r>
              <a:rPr lang="fr-FR" i="1" dirty="0">
                <a:solidFill>
                  <a:schemeClr val="tx2"/>
                </a:solidFill>
                <a:latin typeface="Times New Roman" panose="02020603050405020304" pitchFamily="18" charset="0"/>
                <a:cs typeface="Times New Roman" panose="02020603050405020304" pitchFamily="18" charset="0"/>
              </a:rPr>
              <a:t>(){return ’default’});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récupérer un élément et l’oublier par la suite:</a:t>
            </a: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$value=Session::pull(‘</a:t>
            </a:r>
            <a:r>
              <a:rPr lang="fr-FR" i="1" dirty="0" err="1">
                <a:solidFill>
                  <a:schemeClr val="tx2"/>
                </a:solidFill>
                <a:latin typeface="Times New Roman" panose="02020603050405020304" pitchFamily="18" charset="0"/>
                <a:cs typeface="Times New Roman" panose="02020603050405020304" pitchFamily="18" charset="0"/>
              </a:rPr>
              <a:t>key’,’default</a:t>
            </a:r>
            <a:r>
              <a:rPr lang="fr-FR" i="1" dirty="0">
                <a:solidFill>
                  <a:schemeClr val="tx2"/>
                </a:solidFill>
                <a:latin typeface="Times New Roman" panose="02020603050405020304" pitchFamily="18" charset="0"/>
                <a:cs typeface="Times New Roman" panose="02020603050405020304" pitchFamily="18" charset="0"/>
              </a:rPr>
              <a: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318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III- Les sessions HTTP</a:t>
            </a:r>
          </a:p>
        </p:txBody>
      </p:sp>
      <p:sp>
        <p:nvSpPr>
          <p:cNvPr id="3" name="Espace réservé du contenu 2"/>
          <p:cNvSpPr>
            <a:spLocks noGrp="1"/>
          </p:cNvSpPr>
          <p:nvPr>
            <p:ph idx="1"/>
          </p:nvPr>
        </p:nvSpPr>
        <p:spPr/>
        <p:txBody>
          <a:bodyPr>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récupérer toutes les données d’une session :</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tx2"/>
                </a:solidFill>
                <a:latin typeface="Times New Roman" panose="02020603050405020304" pitchFamily="18" charset="0"/>
                <a:cs typeface="Times New Roman" panose="02020603050405020304" pitchFamily="18" charset="0"/>
              </a:rPr>
              <a:t>$data=Session::all();</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déterminer si un élément existe ou non dans une session:</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if(Session::has(‘key’)) { … }</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récupérer un élément et l’oublier par la suite:</a:t>
            </a: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$value=Session::pull(‘</a:t>
            </a:r>
            <a:r>
              <a:rPr lang="fr-FR" i="1" dirty="0" err="1">
                <a:solidFill>
                  <a:schemeClr val="tx2"/>
                </a:solidFill>
                <a:latin typeface="Times New Roman" panose="02020603050405020304" pitchFamily="18" charset="0"/>
                <a:cs typeface="Times New Roman" panose="02020603050405020304" pitchFamily="18" charset="0"/>
              </a:rPr>
              <a:t>key’,’default</a:t>
            </a:r>
            <a:r>
              <a:rPr lang="fr-FR"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oublier un élément sans le retourner (contrairement à la méthode pull) :</a:t>
            </a: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Session::</a:t>
            </a:r>
            <a:r>
              <a:rPr lang="fr-FR" i="1" dirty="0" err="1">
                <a:solidFill>
                  <a:schemeClr val="tx2"/>
                </a:solidFill>
                <a:latin typeface="Times New Roman" panose="02020603050405020304" pitchFamily="18" charset="0"/>
                <a:cs typeface="Times New Roman" panose="02020603050405020304" pitchFamily="18" charset="0"/>
              </a:rPr>
              <a:t>forget</a:t>
            </a:r>
            <a:r>
              <a:rPr lang="fr-FR" i="1" dirty="0">
                <a:solidFill>
                  <a:schemeClr val="tx2"/>
                </a:solidFill>
                <a:latin typeface="Times New Roman" panose="02020603050405020304" pitchFamily="18" charset="0"/>
                <a:cs typeface="Times New Roman" panose="02020603050405020304" pitchFamily="18" charset="0"/>
              </a:rPr>
              <a:t>(‘key’);</a:t>
            </a:r>
          </a:p>
          <a:p>
            <a:pPr marL="0" indent="0" algn="just">
              <a:buNone/>
            </a:pP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3292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III- Les sessions HTTP</a:t>
            </a:r>
          </a:p>
        </p:txBody>
      </p:sp>
      <p:sp>
        <p:nvSpPr>
          <p:cNvPr id="3" name="Espace réservé du contenu 2"/>
          <p:cNvSpPr>
            <a:spLocks noGrp="1"/>
          </p:cNvSpPr>
          <p:nvPr>
            <p:ph idx="1"/>
          </p:nvPr>
        </p:nvSpPr>
        <p:spPr/>
        <p:txBody>
          <a:bodyPr>
            <a:normAutofit fontScale="925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supprimer toutes les données (tous les éléments) d’une session:</a:t>
            </a:r>
          </a:p>
          <a:p>
            <a:pPr marL="0" indent="0" algn="just">
              <a:buNone/>
            </a:pP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i="1" dirty="0">
                <a:solidFill>
                  <a:schemeClr val="tx2"/>
                </a:solidFill>
                <a:latin typeface="Times New Roman" panose="02020603050405020304" pitchFamily="18" charset="0"/>
                <a:cs typeface="Times New Roman" panose="02020603050405020304" pitchFamily="18" charset="0"/>
              </a:rPr>
              <a:t>Session::flush();</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utiliser un élément de session seulement pour la requête http suivante:</a:t>
            </a: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Session::flash(‘</a:t>
            </a:r>
            <a:r>
              <a:rPr lang="fr-FR" i="1" dirty="0" err="1">
                <a:solidFill>
                  <a:schemeClr val="tx2"/>
                </a:solidFill>
                <a:latin typeface="Times New Roman" panose="02020603050405020304" pitchFamily="18" charset="0"/>
                <a:cs typeface="Times New Roman" panose="02020603050405020304" pitchFamily="18" charset="0"/>
              </a:rPr>
              <a:t>key’,’value</a:t>
            </a:r>
            <a:r>
              <a:rPr lang="fr-FR"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conserver les éléments flash encore pour les requêtes http suivantes:</a:t>
            </a: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Session::</a:t>
            </a:r>
            <a:r>
              <a:rPr lang="fr-FR" i="1" dirty="0" err="1">
                <a:solidFill>
                  <a:schemeClr val="tx2"/>
                </a:solidFill>
                <a:latin typeface="Times New Roman" panose="02020603050405020304" pitchFamily="18" charset="0"/>
                <a:cs typeface="Times New Roman" panose="02020603050405020304" pitchFamily="18" charset="0"/>
              </a:rPr>
              <a:t>reflash</a:t>
            </a:r>
            <a:r>
              <a:rPr lang="fr-FR"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conserver un élément flash spécifique pour les requêtes http suivantes: </a:t>
            </a: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fr-FR" i="1" dirty="0">
                <a:solidFill>
                  <a:schemeClr val="tx2"/>
                </a:solidFill>
                <a:latin typeface="Times New Roman" panose="02020603050405020304" pitchFamily="18" charset="0"/>
                <a:cs typeface="Times New Roman" panose="02020603050405020304" pitchFamily="18" charset="0"/>
              </a:rPr>
              <a:t>	 Session::</a:t>
            </a:r>
            <a:r>
              <a:rPr lang="fr-FR" i="1" dirty="0" err="1">
                <a:solidFill>
                  <a:schemeClr val="tx2"/>
                </a:solidFill>
                <a:latin typeface="Times New Roman" panose="02020603050405020304" pitchFamily="18" charset="0"/>
                <a:cs typeface="Times New Roman" panose="02020603050405020304" pitchFamily="18" charset="0"/>
              </a:rPr>
              <a:t>keep</a:t>
            </a:r>
            <a:r>
              <a:rPr lang="fr-FR" i="1" dirty="0">
                <a:solidFill>
                  <a:schemeClr val="tx2"/>
                </a:solidFill>
                <a:latin typeface="Times New Roman" panose="02020603050405020304" pitchFamily="18" charset="0"/>
                <a:cs typeface="Times New Roman" panose="02020603050405020304" pitchFamily="18" charset="0"/>
              </a:rPr>
              <a:t>([‘key1’,’key2’]);</a:t>
            </a:r>
          </a:p>
          <a:p>
            <a:pPr marL="0" indent="0" algn="just">
              <a:buNone/>
            </a:pP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445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p:txBody>
          <a:bodyPr>
            <a:normAutofit/>
          </a:bodyPr>
          <a:lstStyle/>
          <a:p>
            <a:pPr algn="just"/>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fournit des mécanismes d’authentification complets à l’image de Scaffolding ou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Breeze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Cependant nous allons présenter une méthode détaillée d’authentification personnalisée.</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Cette démarche d’authentification contient les possibilités d’enregistrement, de vérification et d’authentification.</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cela nous allons créer trois vues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views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Vue d’enregistrement «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auth.register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Vue d’authentification «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auth.login</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lvl="1"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Vue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dashboard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auth.dashboard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8020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847318"/>
          </a:xfrm>
        </p:spPr>
        <p:txBody>
          <a:bodyPr>
            <a:normAutofit fontScale="850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Côté migrations et bases de données, il suffit de configurer la base de données (le fichier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env</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pour spécifier la base de données utilisée.</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 fichier de migration étant déjà présent par défaut pour créer la table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users</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Il suffit de migrer la base de données. Pour les routes, nous allons utiliser les routes suivantes:</a:t>
            </a:r>
          </a:p>
          <a:p>
            <a:pPr marL="0" indent="0" algn="just">
              <a:buNone/>
            </a:pPr>
            <a:r>
              <a:rPr lang="fr-FR" sz="3400" i="1" dirty="0">
                <a:solidFill>
                  <a:schemeClr val="tx2"/>
                </a:solidFill>
                <a:latin typeface="Times New Roman" panose="02020603050405020304" pitchFamily="18" charset="0"/>
                <a:cs typeface="Times New Roman" panose="02020603050405020304" pitchFamily="18" charset="0"/>
              </a:rPr>
              <a:t>Route::</a:t>
            </a:r>
            <a:r>
              <a:rPr lang="fr-FR" sz="3400" i="1" dirty="0" err="1">
                <a:solidFill>
                  <a:schemeClr val="tx2"/>
                </a:solidFill>
                <a:latin typeface="Times New Roman" panose="02020603050405020304" pitchFamily="18" charset="0"/>
                <a:cs typeface="Times New Roman" panose="02020603050405020304" pitchFamily="18" charset="0"/>
              </a:rPr>
              <a:t>controller</a:t>
            </a:r>
            <a:r>
              <a:rPr lang="fr-FR" sz="3400" i="1" dirty="0">
                <a:solidFill>
                  <a:schemeClr val="tx2"/>
                </a:solidFill>
                <a:latin typeface="Times New Roman" panose="02020603050405020304" pitchFamily="18" charset="0"/>
                <a:cs typeface="Times New Roman" panose="02020603050405020304" pitchFamily="18" charset="0"/>
              </a:rPr>
              <a:t>(</a:t>
            </a:r>
            <a:r>
              <a:rPr lang="fr-FR" sz="3400" i="1" dirty="0" err="1">
                <a:solidFill>
                  <a:schemeClr val="tx2"/>
                </a:solidFill>
                <a:latin typeface="Times New Roman" panose="02020603050405020304" pitchFamily="18" charset="0"/>
                <a:cs typeface="Times New Roman" panose="02020603050405020304" pitchFamily="18" charset="0"/>
              </a:rPr>
              <a:t>LoginRegisterController</a:t>
            </a:r>
            <a:r>
              <a:rPr lang="fr-FR" sz="3400" i="1" dirty="0">
                <a:solidFill>
                  <a:schemeClr val="tx2"/>
                </a:solidFill>
                <a:latin typeface="Times New Roman" panose="02020603050405020304" pitchFamily="18" charset="0"/>
                <a:cs typeface="Times New Roman" panose="02020603050405020304" pitchFamily="18" charset="0"/>
              </a:rPr>
              <a:t>::class)-&gt;group(</a:t>
            </a:r>
            <a:r>
              <a:rPr lang="fr-FR" sz="3400" i="1" dirty="0" err="1">
                <a:solidFill>
                  <a:schemeClr val="tx2"/>
                </a:solidFill>
                <a:latin typeface="Times New Roman" panose="02020603050405020304" pitchFamily="18" charset="0"/>
                <a:cs typeface="Times New Roman" panose="02020603050405020304" pitchFamily="18" charset="0"/>
              </a:rPr>
              <a:t>function</a:t>
            </a:r>
            <a:r>
              <a:rPr lang="fr-FR" sz="3400" i="1" dirty="0">
                <a:solidFill>
                  <a:schemeClr val="tx2"/>
                </a:solidFill>
                <a:latin typeface="Times New Roman" panose="02020603050405020304" pitchFamily="18" charset="0"/>
                <a:cs typeface="Times New Roman" panose="02020603050405020304" pitchFamily="18" charset="0"/>
              </a:rPr>
              <a:t> () {</a:t>
            </a:r>
          </a:p>
          <a:p>
            <a:pPr marL="0" indent="0" algn="just">
              <a:buNone/>
            </a:pPr>
            <a:r>
              <a:rPr lang="fr-FR" sz="3400" i="1" dirty="0">
                <a:solidFill>
                  <a:schemeClr val="tx2"/>
                </a:solidFill>
                <a:latin typeface="Times New Roman" panose="02020603050405020304" pitchFamily="18" charset="0"/>
                <a:cs typeface="Times New Roman" panose="02020603050405020304" pitchFamily="18" charset="0"/>
              </a:rPr>
              <a:t>    Route::</a:t>
            </a:r>
            <a:r>
              <a:rPr lang="fr-FR" sz="3400" i="1" dirty="0" err="1">
                <a:solidFill>
                  <a:schemeClr val="tx2"/>
                </a:solidFill>
                <a:latin typeface="Times New Roman" panose="02020603050405020304" pitchFamily="18" charset="0"/>
                <a:cs typeface="Times New Roman" panose="02020603050405020304" pitchFamily="18" charset="0"/>
              </a:rPr>
              <a:t>get</a:t>
            </a:r>
            <a:r>
              <a:rPr lang="fr-FR" sz="3400" i="1" dirty="0">
                <a:solidFill>
                  <a:schemeClr val="tx2"/>
                </a:solidFill>
                <a:latin typeface="Times New Roman" panose="02020603050405020304" pitchFamily="18" charset="0"/>
                <a:cs typeface="Times New Roman" panose="02020603050405020304" pitchFamily="18" charset="0"/>
              </a:rPr>
              <a:t>('/</a:t>
            </a:r>
            <a:r>
              <a:rPr lang="fr-FR" sz="3400" i="1" dirty="0" err="1">
                <a:solidFill>
                  <a:schemeClr val="tx2"/>
                </a:solidFill>
                <a:latin typeface="Times New Roman" panose="02020603050405020304" pitchFamily="18" charset="0"/>
                <a:cs typeface="Times New Roman" panose="02020603050405020304" pitchFamily="18" charset="0"/>
              </a:rPr>
              <a:t>register</a:t>
            </a:r>
            <a:r>
              <a:rPr lang="fr-FR" sz="3400" i="1" dirty="0">
                <a:solidFill>
                  <a:schemeClr val="tx2"/>
                </a:solidFill>
                <a:latin typeface="Times New Roman" panose="02020603050405020304" pitchFamily="18" charset="0"/>
                <a:cs typeface="Times New Roman" panose="02020603050405020304" pitchFamily="18" charset="0"/>
              </a:rPr>
              <a:t>', '</a:t>
            </a:r>
            <a:r>
              <a:rPr lang="fr-FR" sz="3400" i="1" dirty="0" err="1">
                <a:solidFill>
                  <a:schemeClr val="tx2"/>
                </a:solidFill>
                <a:latin typeface="Times New Roman" panose="02020603050405020304" pitchFamily="18" charset="0"/>
                <a:cs typeface="Times New Roman" panose="02020603050405020304" pitchFamily="18" charset="0"/>
              </a:rPr>
              <a:t>register</a:t>
            </a:r>
            <a:r>
              <a:rPr lang="fr-FR" sz="3400" i="1" dirty="0">
                <a:solidFill>
                  <a:schemeClr val="tx2"/>
                </a:solidFill>
                <a:latin typeface="Times New Roman" panose="02020603050405020304" pitchFamily="18" charset="0"/>
                <a:cs typeface="Times New Roman" panose="02020603050405020304" pitchFamily="18" charset="0"/>
              </a:rPr>
              <a:t>')-&gt;</a:t>
            </a:r>
            <a:r>
              <a:rPr lang="fr-FR" sz="3400" i="1" dirty="0" err="1">
                <a:solidFill>
                  <a:schemeClr val="tx2"/>
                </a:solidFill>
                <a:latin typeface="Times New Roman" panose="02020603050405020304" pitchFamily="18" charset="0"/>
                <a:cs typeface="Times New Roman" panose="02020603050405020304" pitchFamily="18" charset="0"/>
              </a:rPr>
              <a:t>name</a:t>
            </a:r>
            <a:r>
              <a:rPr lang="fr-FR" sz="3400" i="1" dirty="0">
                <a:solidFill>
                  <a:schemeClr val="tx2"/>
                </a:solidFill>
                <a:latin typeface="Times New Roman" panose="02020603050405020304" pitchFamily="18" charset="0"/>
                <a:cs typeface="Times New Roman" panose="02020603050405020304" pitchFamily="18" charset="0"/>
              </a:rPr>
              <a:t>('</a:t>
            </a:r>
            <a:r>
              <a:rPr lang="fr-FR" sz="3400" i="1" dirty="0" err="1">
                <a:solidFill>
                  <a:schemeClr val="tx2"/>
                </a:solidFill>
                <a:latin typeface="Times New Roman" panose="02020603050405020304" pitchFamily="18" charset="0"/>
                <a:cs typeface="Times New Roman" panose="02020603050405020304" pitchFamily="18" charset="0"/>
              </a:rPr>
              <a:t>register</a:t>
            </a:r>
            <a:r>
              <a:rPr lang="fr-FR"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fr-FR" sz="3400" i="1" dirty="0">
                <a:solidFill>
                  <a:schemeClr val="tx2"/>
                </a:solidFill>
                <a:latin typeface="Times New Roman" panose="02020603050405020304" pitchFamily="18" charset="0"/>
                <a:cs typeface="Times New Roman" panose="02020603050405020304" pitchFamily="18" charset="0"/>
              </a:rPr>
              <a:t>    Route::post('/store', 'store')-&gt;</a:t>
            </a:r>
            <a:r>
              <a:rPr lang="fr-FR" sz="3400" i="1" dirty="0" err="1">
                <a:solidFill>
                  <a:schemeClr val="tx2"/>
                </a:solidFill>
                <a:latin typeface="Times New Roman" panose="02020603050405020304" pitchFamily="18" charset="0"/>
                <a:cs typeface="Times New Roman" panose="02020603050405020304" pitchFamily="18" charset="0"/>
              </a:rPr>
              <a:t>name</a:t>
            </a:r>
            <a:r>
              <a:rPr lang="fr-FR" sz="3400" i="1" dirty="0">
                <a:solidFill>
                  <a:schemeClr val="tx2"/>
                </a:solidFill>
                <a:latin typeface="Times New Roman" panose="02020603050405020304" pitchFamily="18" charset="0"/>
                <a:cs typeface="Times New Roman" panose="02020603050405020304" pitchFamily="18" charset="0"/>
              </a:rPr>
              <a:t>('store');</a:t>
            </a:r>
          </a:p>
          <a:p>
            <a:pPr marL="0" indent="0" algn="just">
              <a:buNone/>
            </a:pPr>
            <a:r>
              <a:rPr lang="fr-FR" sz="3400" i="1" dirty="0">
                <a:solidFill>
                  <a:schemeClr val="tx2"/>
                </a:solidFill>
                <a:latin typeface="Times New Roman" panose="02020603050405020304" pitchFamily="18" charset="0"/>
                <a:cs typeface="Times New Roman" panose="02020603050405020304" pitchFamily="18" charset="0"/>
              </a:rPr>
              <a:t>    Route::</a:t>
            </a:r>
            <a:r>
              <a:rPr lang="fr-FR" sz="3400" i="1" dirty="0" err="1">
                <a:solidFill>
                  <a:schemeClr val="tx2"/>
                </a:solidFill>
                <a:latin typeface="Times New Roman" panose="02020603050405020304" pitchFamily="18" charset="0"/>
                <a:cs typeface="Times New Roman" panose="02020603050405020304" pitchFamily="18" charset="0"/>
              </a:rPr>
              <a:t>get</a:t>
            </a:r>
            <a:r>
              <a:rPr lang="fr-FR" sz="3400" i="1" dirty="0">
                <a:solidFill>
                  <a:schemeClr val="tx2"/>
                </a:solidFill>
                <a:latin typeface="Times New Roman" panose="02020603050405020304" pitchFamily="18" charset="0"/>
                <a:cs typeface="Times New Roman" panose="02020603050405020304" pitchFamily="18" charset="0"/>
              </a:rPr>
              <a:t>('/login', 'login')-&gt;</a:t>
            </a:r>
            <a:r>
              <a:rPr lang="fr-FR" sz="3400" i="1" dirty="0" err="1">
                <a:solidFill>
                  <a:schemeClr val="tx2"/>
                </a:solidFill>
                <a:latin typeface="Times New Roman" panose="02020603050405020304" pitchFamily="18" charset="0"/>
                <a:cs typeface="Times New Roman" panose="02020603050405020304" pitchFamily="18" charset="0"/>
              </a:rPr>
              <a:t>name</a:t>
            </a:r>
            <a:r>
              <a:rPr lang="fr-FR" sz="3400" i="1" dirty="0">
                <a:solidFill>
                  <a:schemeClr val="tx2"/>
                </a:solidFill>
                <a:latin typeface="Times New Roman" panose="02020603050405020304" pitchFamily="18" charset="0"/>
                <a:cs typeface="Times New Roman" panose="02020603050405020304" pitchFamily="18" charset="0"/>
              </a:rPr>
              <a:t>('login');</a:t>
            </a:r>
          </a:p>
          <a:p>
            <a:pPr marL="0" indent="0" algn="just">
              <a:buNone/>
            </a:pPr>
            <a:r>
              <a:rPr lang="fr-FR" sz="3400" i="1" dirty="0">
                <a:solidFill>
                  <a:schemeClr val="tx2"/>
                </a:solidFill>
                <a:latin typeface="Times New Roman" panose="02020603050405020304" pitchFamily="18" charset="0"/>
                <a:cs typeface="Times New Roman" panose="02020603050405020304" pitchFamily="18" charset="0"/>
              </a:rPr>
              <a:t>    Route::post('/</a:t>
            </a:r>
            <a:r>
              <a:rPr lang="fr-FR" sz="3400" i="1" dirty="0" err="1">
                <a:solidFill>
                  <a:schemeClr val="tx2"/>
                </a:solidFill>
                <a:latin typeface="Times New Roman" panose="02020603050405020304" pitchFamily="18" charset="0"/>
                <a:cs typeface="Times New Roman" panose="02020603050405020304" pitchFamily="18" charset="0"/>
              </a:rPr>
              <a:t>authenticate</a:t>
            </a:r>
            <a:r>
              <a:rPr lang="fr-FR" sz="3400" i="1" dirty="0">
                <a:solidFill>
                  <a:schemeClr val="tx2"/>
                </a:solidFill>
                <a:latin typeface="Times New Roman" panose="02020603050405020304" pitchFamily="18" charset="0"/>
                <a:cs typeface="Times New Roman" panose="02020603050405020304" pitchFamily="18" charset="0"/>
              </a:rPr>
              <a:t>', '</a:t>
            </a:r>
            <a:r>
              <a:rPr lang="fr-FR" sz="3400" i="1" dirty="0" err="1">
                <a:solidFill>
                  <a:schemeClr val="tx2"/>
                </a:solidFill>
                <a:latin typeface="Times New Roman" panose="02020603050405020304" pitchFamily="18" charset="0"/>
                <a:cs typeface="Times New Roman" panose="02020603050405020304" pitchFamily="18" charset="0"/>
              </a:rPr>
              <a:t>authenticate</a:t>
            </a:r>
            <a:r>
              <a:rPr lang="fr-FR" sz="3400" i="1" dirty="0">
                <a:solidFill>
                  <a:schemeClr val="tx2"/>
                </a:solidFill>
                <a:latin typeface="Times New Roman" panose="02020603050405020304" pitchFamily="18" charset="0"/>
                <a:cs typeface="Times New Roman" panose="02020603050405020304" pitchFamily="18" charset="0"/>
              </a:rPr>
              <a:t>')-&gt;</a:t>
            </a:r>
            <a:r>
              <a:rPr lang="fr-FR" sz="3400" i="1" dirty="0" err="1">
                <a:solidFill>
                  <a:schemeClr val="tx2"/>
                </a:solidFill>
                <a:latin typeface="Times New Roman" panose="02020603050405020304" pitchFamily="18" charset="0"/>
                <a:cs typeface="Times New Roman" panose="02020603050405020304" pitchFamily="18" charset="0"/>
              </a:rPr>
              <a:t>name</a:t>
            </a:r>
            <a:r>
              <a:rPr lang="fr-FR" sz="3400" i="1" dirty="0">
                <a:solidFill>
                  <a:schemeClr val="tx2"/>
                </a:solidFill>
                <a:latin typeface="Times New Roman" panose="02020603050405020304" pitchFamily="18" charset="0"/>
                <a:cs typeface="Times New Roman" panose="02020603050405020304" pitchFamily="18" charset="0"/>
              </a:rPr>
              <a:t>('</a:t>
            </a:r>
            <a:r>
              <a:rPr lang="fr-FR" sz="3400" i="1" dirty="0" err="1">
                <a:solidFill>
                  <a:schemeClr val="tx2"/>
                </a:solidFill>
                <a:latin typeface="Times New Roman" panose="02020603050405020304" pitchFamily="18" charset="0"/>
                <a:cs typeface="Times New Roman" panose="02020603050405020304" pitchFamily="18" charset="0"/>
              </a:rPr>
              <a:t>authenticate</a:t>
            </a:r>
            <a:r>
              <a:rPr lang="fr-FR"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fr-FR" sz="3400" i="1" dirty="0">
                <a:solidFill>
                  <a:schemeClr val="tx2"/>
                </a:solidFill>
                <a:latin typeface="Times New Roman" panose="02020603050405020304" pitchFamily="18" charset="0"/>
                <a:cs typeface="Times New Roman" panose="02020603050405020304" pitchFamily="18" charset="0"/>
              </a:rPr>
              <a:t>    Route::</a:t>
            </a:r>
            <a:r>
              <a:rPr lang="fr-FR" sz="3400" i="1" dirty="0" err="1">
                <a:solidFill>
                  <a:schemeClr val="tx2"/>
                </a:solidFill>
                <a:latin typeface="Times New Roman" panose="02020603050405020304" pitchFamily="18" charset="0"/>
                <a:cs typeface="Times New Roman" panose="02020603050405020304" pitchFamily="18" charset="0"/>
              </a:rPr>
              <a:t>get</a:t>
            </a:r>
            <a:r>
              <a:rPr lang="fr-FR" sz="3400" i="1" dirty="0">
                <a:solidFill>
                  <a:schemeClr val="tx2"/>
                </a:solidFill>
                <a:latin typeface="Times New Roman" panose="02020603050405020304" pitchFamily="18" charset="0"/>
                <a:cs typeface="Times New Roman" panose="02020603050405020304" pitchFamily="18" charset="0"/>
              </a:rPr>
              <a:t>('/</a:t>
            </a:r>
            <a:r>
              <a:rPr lang="fr-FR" sz="3400" i="1" dirty="0" err="1">
                <a:solidFill>
                  <a:schemeClr val="tx2"/>
                </a:solidFill>
                <a:latin typeface="Times New Roman" panose="02020603050405020304" pitchFamily="18" charset="0"/>
                <a:cs typeface="Times New Roman" panose="02020603050405020304" pitchFamily="18" charset="0"/>
              </a:rPr>
              <a:t>dashboard</a:t>
            </a:r>
            <a:r>
              <a:rPr lang="fr-FR" sz="3400" i="1" dirty="0">
                <a:solidFill>
                  <a:schemeClr val="tx2"/>
                </a:solidFill>
                <a:latin typeface="Times New Roman" panose="02020603050405020304" pitchFamily="18" charset="0"/>
                <a:cs typeface="Times New Roman" panose="02020603050405020304" pitchFamily="18" charset="0"/>
              </a:rPr>
              <a:t>', '</a:t>
            </a:r>
            <a:r>
              <a:rPr lang="fr-FR" sz="3400" i="1" dirty="0" err="1">
                <a:solidFill>
                  <a:schemeClr val="tx2"/>
                </a:solidFill>
                <a:latin typeface="Times New Roman" panose="02020603050405020304" pitchFamily="18" charset="0"/>
                <a:cs typeface="Times New Roman" panose="02020603050405020304" pitchFamily="18" charset="0"/>
              </a:rPr>
              <a:t>dashboard</a:t>
            </a:r>
            <a:r>
              <a:rPr lang="fr-FR" sz="3400" i="1" dirty="0">
                <a:solidFill>
                  <a:schemeClr val="tx2"/>
                </a:solidFill>
                <a:latin typeface="Times New Roman" panose="02020603050405020304" pitchFamily="18" charset="0"/>
                <a:cs typeface="Times New Roman" panose="02020603050405020304" pitchFamily="18" charset="0"/>
              </a:rPr>
              <a:t>')-&gt;</a:t>
            </a:r>
            <a:r>
              <a:rPr lang="fr-FR" sz="3400" i="1" dirty="0" err="1">
                <a:solidFill>
                  <a:schemeClr val="tx2"/>
                </a:solidFill>
                <a:latin typeface="Times New Roman" panose="02020603050405020304" pitchFamily="18" charset="0"/>
                <a:cs typeface="Times New Roman" panose="02020603050405020304" pitchFamily="18" charset="0"/>
              </a:rPr>
              <a:t>name</a:t>
            </a:r>
            <a:r>
              <a:rPr lang="fr-FR" sz="3400" i="1" dirty="0">
                <a:solidFill>
                  <a:schemeClr val="tx2"/>
                </a:solidFill>
                <a:latin typeface="Times New Roman" panose="02020603050405020304" pitchFamily="18" charset="0"/>
                <a:cs typeface="Times New Roman" panose="02020603050405020304" pitchFamily="18" charset="0"/>
              </a:rPr>
              <a:t>('</a:t>
            </a:r>
            <a:r>
              <a:rPr lang="fr-FR" sz="3400" i="1" dirty="0" err="1">
                <a:solidFill>
                  <a:schemeClr val="tx2"/>
                </a:solidFill>
                <a:latin typeface="Times New Roman" panose="02020603050405020304" pitchFamily="18" charset="0"/>
                <a:cs typeface="Times New Roman" panose="02020603050405020304" pitchFamily="18" charset="0"/>
              </a:rPr>
              <a:t>dashboard</a:t>
            </a:r>
            <a:r>
              <a:rPr lang="fr-FR"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fr-FR" sz="3400" i="1" dirty="0">
                <a:solidFill>
                  <a:schemeClr val="tx2"/>
                </a:solidFill>
                <a:latin typeface="Times New Roman" panose="02020603050405020304" pitchFamily="18" charset="0"/>
                <a:cs typeface="Times New Roman" panose="02020603050405020304" pitchFamily="18" charset="0"/>
              </a:rPr>
              <a:t>    Route::post('/</a:t>
            </a:r>
            <a:r>
              <a:rPr lang="fr-FR" sz="3400" i="1" dirty="0" err="1">
                <a:solidFill>
                  <a:schemeClr val="tx2"/>
                </a:solidFill>
                <a:latin typeface="Times New Roman" panose="02020603050405020304" pitchFamily="18" charset="0"/>
                <a:cs typeface="Times New Roman" panose="02020603050405020304" pitchFamily="18" charset="0"/>
              </a:rPr>
              <a:t>logout</a:t>
            </a:r>
            <a:r>
              <a:rPr lang="fr-FR" sz="3400" i="1" dirty="0">
                <a:solidFill>
                  <a:schemeClr val="tx2"/>
                </a:solidFill>
                <a:latin typeface="Times New Roman" panose="02020603050405020304" pitchFamily="18" charset="0"/>
                <a:cs typeface="Times New Roman" panose="02020603050405020304" pitchFamily="18" charset="0"/>
              </a:rPr>
              <a:t>', '</a:t>
            </a:r>
            <a:r>
              <a:rPr lang="fr-FR" sz="3400" i="1" dirty="0" err="1">
                <a:solidFill>
                  <a:schemeClr val="tx2"/>
                </a:solidFill>
                <a:latin typeface="Times New Roman" panose="02020603050405020304" pitchFamily="18" charset="0"/>
                <a:cs typeface="Times New Roman" panose="02020603050405020304" pitchFamily="18" charset="0"/>
              </a:rPr>
              <a:t>logout</a:t>
            </a:r>
            <a:r>
              <a:rPr lang="fr-FR" sz="3400" i="1" dirty="0">
                <a:solidFill>
                  <a:schemeClr val="tx2"/>
                </a:solidFill>
                <a:latin typeface="Times New Roman" panose="02020603050405020304" pitchFamily="18" charset="0"/>
                <a:cs typeface="Times New Roman" panose="02020603050405020304" pitchFamily="18" charset="0"/>
              </a:rPr>
              <a:t>')-&gt;</a:t>
            </a:r>
            <a:r>
              <a:rPr lang="fr-FR" sz="3400" i="1" dirty="0" err="1">
                <a:solidFill>
                  <a:schemeClr val="tx2"/>
                </a:solidFill>
                <a:latin typeface="Times New Roman" panose="02020603050405020304" pitchFamily="18" charset="0"/>
                <a:cs typeface="Times New Roman" panose="02020603050405020304" pitchFamily="18" charset="0"/>
              </a:rPr>
              <a:t>name</a:t>
            </a:r>
            <a:r>
              <a:rPr lang="fr-FR" sz="3400" i="1" dirty="0">
                <a:solidFill>
                  <a:schemeClr val="tx2"/>
                </a:solidFill>
                <a:latin typeface="Times New Roman" panose="02020603050405020304" pitchFamily="18" charset="0"/>
                <a:cs typeface="Times New Roman" panose="02020603050405020304" pitchFamily="18" charset="0"/>
              </a:rPr>
              <a:t>('</a:t>
            </a:r>
            <a:r>
              <a:rPr lang="fr-FR" sz="3400" i="1" dirty="0" err="1">
                <a:solidFill>
                  <a:schemeClr val="tx2"/>
                </a:solidFill>
                <a:latin typeface="Times New Roman" panose="02020603050405020304" pitchFamily="18" charset="0"/>
                <a:cs typeface="Times New Roman" panose="02020603050405020304" pitchFamily="18" charset="0"/>
              </a:rPr>
              <a:t>logout</a:t>
            </a:r>
            <a:r>
              <a:rPr lang="fr-FR"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fr-FR" sz="3400" i="1" dirty="0">
                <a:solidFill>
                  <a:schemeClr val="tx2"/>
                </a:solidFill>
                <a:latin typeface="Times New Roman" panose="02020603050405020304" pitchFamily="18" charset="0"/>
                <a:cs typeface="Times New Roman" panose="02020603050405020304" pitchFamily="18" charset="0"/>
              </a:rPr>
              <a:t>});</a:t>
            </a:r>
          </a:p>
          <a:p>
            <a:pPr algn="just"/>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14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847318"/>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Création du contrôleur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LoginRegisterController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avec les méthodes appropriées:</a:t>
            </a:r>
          </a:p>
          <a:p>
            <a:pPr marL="0" indent="0" algn="just">
              <a:buNone/>
            </a:pP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7870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847318"/>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register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va afficher la vue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auth.register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contenant le formulaire d’enregistrement.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public function register()</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return view('</a:t>
            </a:r>
            <a:r>
              <a:rPr lang="en-US" sz="3400" i="1" dirty="0" err="1">
                <a:solidFill>
                  <a:schemeClr val="tx2"/>
                </a:solidFill>
                <a:latin typeface="Times New Roman" panose="02020603050405020304" pitchFamily="18" charset="0"/>
                <a:cs typeface="Times New Roman" panose="02020603050405020304" pitchFamily="18" charset="0"/>
              </a:rPr>
              <a:t>auth.register</a:t>
            </a:r>
            <a:r>
              <a:rPr lang="en-US"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8021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847318"/>
          </a:xfrm>
        </p:spPr>
        <p:txBody>
          <a:bodyPr>
            <a:normAutofit fontScale="77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store va tout d’abord valider le formulaire, créer l’utilisateur puis connecter l’utilisateur ainsi créé:</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public function store(Request $request)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//Validation du </a:t>
            </a:r>
            <a:r>
              <a:rPr lang="en-US" sz="3400" i="1" dirty="0" err="1">
                <a:solidFill>
                  <a:schemeClr val="tx2"/>
                </a:solidFill>
                <a:latin typeface="Times New Roman" panose="02020603050405020304" pitchFamily="18" charset="0"/>
                <a:cs typeface="Times New Roman" panose="02020603050405020304" pitchFamily="18" charset="0"/>
              </a:rPr>
              <a:t>formulaire</a:t>
            </a:r>
            <a:endParaRPr lang="en-US" sz="3400"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$request-&gt;validate([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'name' =&gt; 'required|string|max:250',</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'email' =&gt; 'required|email|max:250|unique:users',</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'password' =&gt; 'required|min:8|confirmed'</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endParaRPr lang="en-US" sz="3400"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9824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847318"/>
          </a:xfrm>
        </p:spPr>
        <p:txBody>
          <a:bodyPr>
            <a:normAutofit/>
          </a:bodyPr>
          <a:lstStyle/>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Création</a:t>
            </a:r>
            <a:r>
              <a:rPr lang="en-US" sz="3400" i="1" dirty="0">
                <a:solidFill>
                  <a:schemeClr val="tx2"/>
                </a:solidFill>
                <a:latin typeface="Times New Roman" panose="02020603050405020304" pitchFamily="18" charset="0"/>
                <a:cs typeface="Times New Roman" panose="02020603050405020304" pitchFamily="18" charset="0"/>
              </a:rPr>
              <a:t> de </a:t>
            </a:r>
            <a:r>
              <a:rPr lang="en-US" sz="3400" i="1" dirty="0" err="1">
                <a:solidFill>
                  <a:schemeClr val="tx2"/>
                </a:solidFill>
                <a:latin typeface="Times New Roman" panose="02020603050405020304" pitchFamily="18" charset="0"/>
                <a:cs typeface="Times New Roman" panose="02020603050405020304" pitchFamily="18" charset="0"/>
              </a:rPr>
              <a:t>l’utilisateur</a:t>
            </a:r>
            <a:endParaRPr lang="en-US" sz="3400"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User::create([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'name' =&gt; $request-&gt;name,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'email' =&gt; $request-&gt;email,</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'password' =&gt; Hash::make($request-&gt;password)</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3149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847318"/>
          </a:xfrm>
        </p:spPr>
        <p:txBody>
          <a:bodyPr>
            <a:normAutofit/>
          </a:bodyPr>
          <a:lstStyle/>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Connexion</a:t>
            </a:r>
            <a:r>
              <a:rPr lang="en-US" sz="3400" i="1" dirty="0">
                <a:solidFill>
                  <a:schemeClr val="tx2"/>
                </a:solidFill>
                <a:latin typeface="Times New Roman" panose="02020603050405020304" pitchFamily="18" charset="0"/>
                <a:cs typeface="Times New Roman" panose="02020603050405020304" pitchFamily="18" charset="0"/>
              </a:rPr>
              <a:t> de </a:t>
            </a:r>
            <a:r>
              <a:rPr lang="en-US" sz="3400" i="1" dirty="0" err="1">
                <a:solidFill>
                  <a:schemeClr val="tx2"/>
                </a:solidFill>
                <a:latin typeface="Times New Roman" panose="02020603050405020304" pitchFamily="18" charset="0"/>
                <a:cs typeface="Times New Roman" panose="02020603050405020304" pitchFamily="18" charset="0"/>
              </a:rPr>
              <a:t>l’utilisateur</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ainsi</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créé</a:t>
            </a:r>
            <a:endParaRPr lang="en-US" sz="3400"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$credentials = $request-&gt;only('email', 'password');</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Auth::attempt($credentials);</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$request-&gt;session()-&gt;regenerate();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return redirect()-&gt;route('dashboard')</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-&gt;</a:t>
            </a:r>
            <a:r>
              <a:rPr lang="en-US" sz="3400" i="1" dirty="0" err="1">
                <a:solidFill>
                  <a:schemeClr val="tx2"/>
                </a:solidFill>
                <a:latin typeface="Times New Roman" panose="02020603050405020304" pitchFamily="18" charset="0"/>
                <a:cs typeface="Times New Roman" panose="02020603050405020304" pitchFamily="18" charset="0"/>
              </a:rPr>
              <a:t>withSuccess</a:t>
            </a:r>
            <a:r>
              <a:rPr lang="en-US" sz="3400" i="1" dirty="0">
                <a:solidFill>
                  <a:schemeClr val="tx2"/>
                </a:solidFill>
                <a:latin typeface="Times New Roman" panose="02020603050405020304" pitchFamily="18" charset="0"/>
                <a:cs typeface="Times New Roman" panose="02020603050405020304" pitchFamily="18" charset="0"/>
              </a:rPr>
              <a:t>(‘</a:t>
            </a:r>
            <a:r>
              <a:rPr lang="en-US" sz="3400" i="1" dirty="0" err="1">
                <a:solidFill>
                  <a:schemeClr val="tx2"/>
                </a:solidFill>
                <a:latin typeface="Times New Roman" panose="02020603050405020304" pitchFamily="18" charset="0"/>
                <a:cs typeface="Times New Roman" panose="02020603050405020304" pitchFamily="18" charset="0"/>
              </a:rPr>
              <a:t>Vous-vous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êtes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enregisté</a:t>
            </a:r>
            <a:r>
              <a:rPr lang="en-US" sz="3400" i="1" dirty="0">
                <a:solidFill>
                  <a:schemeClr val="tx2"/>
                </a:solidFill>
                <a:latin typeface="Times New Roman" panose="02020603050405020304" pitchFamily="18" charset="0"/>
                <a:cs typeface="Times New Roman" panose="02020603050405020304" pitchFamily="18" charset="0"/>
              </a:rPr>
              <a:t> et </a:t>
            </a:r>
            <a:r>
              <a:rPr lang="en-US" sz="3400" i="1" dirty="0" err="1">
                <a:solidFill>
                  <a:schemeClr val="tx2"/>
                </a:solidFill>
                <a:latin typeface="Times New Roman" panose="02020603050405020304" pitchFamily="18" charset="0"/>
                <a:cs typeface="Times New Roman" panose="02020603050405020304" pitchFamily="18" charset="0"/>
              </a:rPr>
              <a:t>connecté</a:t>
            </a:r>
            <a:r>
              <a:rPr lang="en-US" sz="3400" i="1" dirty="0">
                <a:solidFill>
                  <a:schemeClr val="tx2"/>
                </a:solidFill>
                <a:latin typeface="Times New Roman" panose="02020603050405020304" pitchFamily="18" charset="0"/>
                <a:cs typeface="Times New Roman" panose="02020603050405020304" pitchFamily="18" charset="0"/>
              </a:rPr>
              <a:t> avec 	succès!');</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        </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73582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847318"/>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login va afficher la vue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auth.login</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contenant le formulaire login.</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public function login()</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return view('</a:t>
            </a:r>
            <a:r>
              <a:rPr lang="en-US" sz="3400" i="1" dirty="0" err="1">
                <a:solidFill>
                  <a:schemeClr val="tx2"/>
                </a:solidFill>
                <a:latin typeface="Times New Roman" panose="02020603050405020304" pitchFamily="18" charset="0"/>
                <a:cs typeface="Times New Roman" panose="02020603050405020304" pitchFamily="18" charset="0"/>
              </a:rPr>
              <a:t>auth.login</a:t>
            </a:r>
            <a:r>
              <a:rPr lang="en-US"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endParaRPr lang="fr-FR" i="1" dirty="0">
              <a:solidFill>
                <a:schemeClr val="tx2"/>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0037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847318"/>
          </a:xfrm>
        </p:spPr>
        <p:txBody>
          <a:bodyPr>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authenticate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va tout d’abord valider le formulaire et vérifier les données d’authentification de l’utilisateur:</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public function authenticate(Request $request)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//Validation du </a:t>
            </a:r>
            <a:r>
              <a:rPr lang="en-US" sz="3400" i="1" dirty="0" err="1">
                <a:solidFill>
                  <a:schemeClr val="tx2"/>
                </a:solidFill>
                <a:latin typeface="Times New Roman" panose="02020603050405020304" pitchFamily="18" charset="0"/>
                <a:cs typeface="Times New Roman" panose="02020603050405020304" pitchFamily="18" charset="0"/>
              </a:rPr>
              <a:t>formulaire</a:t>
            </a:r>
            <a:r>
              <a:rPr lang="en-US" sz="3400" i="1" dirty="0">
                <a:solidFill>
                  <a:schemeClr val="tx2"/>
                </a:solidFill>
                <a:latin typeface="Times New Roman" panose="02020603050405020304" pitchFamily="18" charset="0"/>
                <a:cs typeface="Times New Roman" panose="02020603050405020304" pitchFamily="18" charset="0"/>
              </a:rPr>
              <a:t> du login</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$credentials = $request-&gt;validate([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'email' =&gt; '</a:t>
            </a:r>
            <a:r>
              <a:rPr lang="en-US" sz="3400" i="1" dirty="0" err="1">
                <a:solidFill>
                  <a:schemeClr val="tx2"/>
                </a:solidFill>
                <a:latin typeface="Times New Roman" panose="02020603050405020304" pitchFamily="18" charset="0"/>
                <a:cs typeface="Times New Roman" panose="02020603050405020304" pitchFamily="18" charset="0"/>
              </a:rPr>
              <a:t>required|email</a:t>
            </a:r>
            <a:r>
              <a:rPr lang="en-US"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'password' =&gt; 'required'</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endParaRPr lang="en-US" sz="3400" i="1" dirty="0">
              <a:solidFill>
                <a:schemeClr val="tx2"/>
              </a:solidFill>
              <a:latin typeface="Times New Roman" panose="02020603050405020304" pitchFamily="18" charset="0"/>
              <a:cs typeface="Times New Roman" panose="02020603050405020304" pitchFamily="18" charset="0"/>
            </a:endParaRP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1046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847318"/>
          </a:xfrm>
        </p:spPr>
        <p:txBody>
          <a:bodyPr>
            <a:normAutofit/>
          </a:bodyPr>
          <a:lstStyle/>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Vérification</a:t>
            </a:r>
            <a:r>
              <a:rPr lang="en-US" sz="3400" i="1" dirty="0">
                <a:solidFill>
                  <a:schemeClr val="tx2"/>
                </a:solidFill>
                <a:latin typeface="Times New Roman" panose="02020603050405020304" pitchFamily="18" charset="0"/>
                <a:cs typeface="Times New Roman" panose="02020603050405020304" pitchFamily="18" charset="0"/>
              </a:rPr>
              <a:t> des </a:t>
            </a:r>
            <a:r>
              <a:rPr lang="en-US" sz="3400" i="1" dirty="0" err="1">
                <a:solidFill>
                  <a:schemeClr val="tx2"/>
                </a:solidFill>
                <a:latin typeface="Times New Roman" panose="02020603050405020304" pitchFamily="18" charset="0"/>
                <a:cs typeface="Times New Roman" panose="02020603050405020304" pitchFamily="18" charset="0"/>
              </a:rPr>
              <a:t>données</a:t>
            </a:r>
            <a:r>
              <a:rPr lang="en-US" sz="3400" i="1" dirty="0">
                <a:solidFill>
                  <a:schemeClr val="tx2"/>
                </a:solidFill>
                <a:latin typeface="Times New Roman" panose="02020603050405020304" pitchFamily="18" charset="0"/>
                <a:cs typeface="Times New Roman" panose="02020603050405020304" pitchFamily="18" charset="0"/>
              </a:rPr>
              <a:t> de </a:t>
            </a:r>
            <a:r>
              <a:rPr lang="en-US" sz="3400" i="1" dirty="0" err="1">
                <a:solidFill>
                  <a:schemeClr val="tx2"/>
                </a:solidFill>
                <a:latin typeface="Times New Roman" panose="02020603050405020304" pitchFamily="18" charset="0"/>
                <a:cs typeface="Times New Roman" panose="02020603050405020304" pitchFamily="18" charset="0"/>
              </a:rPr>
              <a:t>l’utilisateur</a:t>
            </a:r>
            <a:endParaRPr lang="en-US" sz="3400"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if(Auth::attempt($credentials))</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$request-&gt;session()-&gt;regenerate();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return redirect()-&gt;route('dashboard')</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-&gt;</a:t>
            </a:r>
            <a:r>
              <a:rPr lang="en-US" sz="3400" i="1" dirty="0" err="1">
                <a:solidFill>
                  <a:schemeClr val="tx2"/>
                </a:solidFill>
                <a:latin typeface="Times New Roman" panose="02020603050405020304" pitchFamily="18" charset="0"/>
                <a:cs typeface="Times New Roman" panose="02020603050405020304" pitchFamily="18" charset="0"/>
              </a:rPr>
              <a:t>withSuccess</a:t>
            </a:r>
            <a:r>
              <a:rPr lang="en-US" sz="3400" i="1" dirty="0">
                <a:solidFill>
                  <a:schemeClr val="tx2"/>
                </a:solidFill>
                <a:latin typeface="Times New Roman" panose="02020603050405020304" pitchFamily="18" charset="0"/>
                <a:cs typeface="Times New Roman" panose="02020603050405020304" pitchFamily="18" charset="0"/>
              </a:rPr>
              <a:t>(‘</a:t>
            </a:r>
            <a:r>
              <a:rPr lang="en-US" sz="3400" i="1" dirty="0" err="1">
                <a:solidFill>
                  <a:schemeClr val="tx2"/>
                </a:solidFill>
                <a:latin typeface="Times New Roman" panose="02020603050405020304" pitchFamily="18" charset="0"/>
                <a:cs typeface="Times New Roman" panose="02020603050405020304" pitchFamily="18" charset="0"/>
              </a:rPr>
              <a:t>Vous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êtes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connecté</a:t>
            </a:r>
            <a:r>
              <a:rPr lang="en-US" sz="3400" i="1" dirty="0">
                <a:solidFill>
                  <a:schemeClr val="tx2"/>
                </a:solidFill>
                <a:latin typeface="Times New Roman" panose="02020603050405020304" pitchFamily="18" charset="0"/>
                <a:cs typeface="Times New Roman" panose="02020603050405020304" pitchFamily="18" charset="0"/>
              </a:rPr>
              <a:t> avec succès!’);</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21624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847318"/>
          </a:xfrm>
        </p:spPr>
        <p:txBody>
          <a:bodyPr>
            <a:normAutofit/>
          </a:bodyPr>
          <a:lstStyle/>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//En </a:t>
            </a:r>
            <a:r>
              <a:rPr lang="en-US" sz="3400" i="1" dirty="0" err="1">
                <a:solidFill>
                  <a:schemeClr val="tx2"/>
                </a:solidFill>
                <a:latin typeface="Times New Roman" panose="02020603050405020304" pitchFamily="18" charset="0"/>
                <a:cs typeface="Times New Roman" panose="02020603050405020304" pitchFamily="18" charset="0"/>
              </a:rPr>
              <a:t>cas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d’erreur</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d’authentification</a:t>
            </a:r>
            <a:endParaRPr lang="en-US" sz="3400" i="1" dirty="0">
              <a:solidFill>
                <a:schemeClr val="tx2"/>
              </a:solidFill>
              <a:latin typeface="Times New Roman" panose="02020603050405020304" pitchFamily="18" charset="0"/>
              <a:cs typeface="Times New Roman" panose="02020603050405020304" pitchFamily="18" charset="0"/>
            </a:endParaRP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return back()-&gt;</a:t>
            </a:r>
            <a:r>
              <a:rPr lang="en-US" sz="3400" i="1" dirty="0" err="1">
                <a:solidFill>
                  <a:schemeClr val="tx2"/>
                </a:solidFill>
                <a:latin typeface="Times New Roman" panose="02020603050405020304" pitchFamily="18" charset="0"/>
                <a:cs typeface="Times New Roman" panose="02020603050405020304" pitchFamily="18" charset="0"/>
              </a:rPr>
              <a:t>withErrors</a:t>
            </a:r>
            <a:r>
              <a:rPr lang="en-US"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'email' =&gt; ‘Login </a:t>
            </a:r>
            <a:r>
              <a:rPr lang="en-US" sz="3400" i="1" dirty="0" err="1">
                <a:solidFill>
                  <a:schemeClr val="tx2"/>
                </a:solidFill>
                <a:latin typeface="Times New Roman" panose="02020603050405020304" pitchFamily="18" charset="0"/>
                <a:cs typeface="Times New Roman" panose="02020603050405020304" pitchFamily="18" charset="0"/>
              </a:rPr>
              <a:t>ou</a:t>
            </a:r>
            <a:r>
              <a:rPr lang="en-US" sz="3400" i="1" dirty="0">
                <a:solidFill>
                  <a:schemeClr val="tx2"/>
                </a:solidFill>
                <a:latin typeface="Times New Roman" panose="02020603050405020304" pitchFamily="18" charset="0"/>
                <a:cs typeface="Times New Roman" panose="02020603050405020304" pitchFamily="18" charset="0"/>
              </a:rPr>
              <a:t> password </a:t>
            </a:r>
            <a:r>
              <a:rPr lang="en-US" sz="3400" i="1" dirty="0" err="1">
                <a:solidFill>
                  <a:schemeClr val="tx2"/>
                </a:solidFill>
                <a:latin typeface="Times New Roman" panose="02020603050405020304" pitchFamily="18" charset="0"/>
                <a:cs typeface="Times New Roman" panose="02020603050405020304" pitchFamily="18" charset="0"/>
              </a:rPr>
              <a:t>incorrects</a:t>
            </a:r>
            <a:r>
              <a:rPr lang="en-US"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])-&gt;</a:t>
            </a:r>
            <a:r>
              <a:rPr lang="en-US" sz="3400" i="1" dirty="0" err="1">
                <a:solidFill>
                  <a:schemeClr val="tx2"/>
                </a:solidFill>
                <a:latin typeface="Times New Roman" panose="02020603050405020304" pitchFamily="18" charset="0"/>
                <a:cs typeface="Times New Roman" panose="02020603050405020304" pitchFamily="18" charset="0"/>
              </a:rPr>
              <a:t>onlyInput</a:t>
            </a:r>
            <a:r>
              <a:rPr lang="en-US" sz="3400" i="1" dirty="0">
                <a:solidFill>
                  <a:schemeClr val="tx2"/>
                </a:solidFill>
                <a:latin typeface="Times New Roman" panose="02020603050405020304" pitchFamily="18" charset="0"/>
                <a:cs typeface="Times New Roman" panose="02020603050405020304" pitchFamily="18" charset="0"/>
              </a:rPr>
              <a:t>('email');</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 </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8974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5130346"/>
          </a:xfrm>
        </p:spPr>
        <p:txBody>
          <a:bodyPr>
            <a:normAutofit fontScale="77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dashboard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va permettre de vérifier si l’utilisateur est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conneté</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Sinon il sera redirigé vers la vue ‘login’:</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public function dashboard()</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if(Auth::check())</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return view('</a:t>
            </a:r>
            <a:r>
              <a:rPr lang="en-US" sz="3400" i="1" dirty="0" err="1">
                <a:solidFill>
                  <a:schemeClr val="tx2"/>
                </a:solidFill>
                <a:latin typeface="Times New Roman" panose="02020603050405020304" pitchFamily="18" charset="0"/>
                <a:cs typeface="Times New Roman" panose="02020603050405020304" pitchFamily="18" charset="0"/>
              </a:rPr>
              <a:t>auth.dashboard</a:t>
            </a:r>
            <a:r>
              <a:rPr lang="en-US"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return redirect()-&gt;route('login')</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-&gt;</a:t>
            </a:r>
            <a:r>
              <a:rPr lang="en-US" sz="3400" i="1" dirty="0" err="1">
                <a:solidFill>
                  <a:schemeClr val="tx2"/>
                </a:solidFill>
                <a:latin typeface="Times New Roman" panose="02020603050405020304" pitchFamily="18" charset="0"/>
                <a:cs typeface="Times New Roman" panose="02020603050405020304" pitchFamily="18" charset="0"/>
              </a:rPr>
              <a:t>withErrors</a:t>
            </a:r>
            <a:r>
              <a:rPr lang="en-US"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'email' =&gt; ‘</a:t>
            </a:r>
            <a:r>
              <a:rPr lang="en-US" sz="3400" i="1" dirty="0" err="1">
                <a:solidFill>
                  <a:schemeClr val="tx2"/>
                </a:solidFill>
                <a:latin typeface="Times New Roman" panose="02020603050405020304" pitchFamily="18" charset="0"/>
                <a:cs typeface="Times New Roman" panose="02020603050405020304" pitchFamily="18" charset="0"/>
              </a:rPr>
              <a:t>Prière</a:t>
            </a:r>
            <a:r>
              <a:rPr lang="en-US" sz="3400" i="1" dirty="0">
                <a:solidFill>
                  <a:schemeClr val="tx2"/>
                </a:solidFill>
                <a:latin typeface="Times New Roman" panose="02020603050405020304" pitchFamily="18" charset="0"/>
                <a:cs typeface="Times New Roman" panose="02020603050405020304" pitchFamily="18" charset="0"/>
              </a:rPr>
              <a:t> de se connecter pour </a:t>
            </a:r>
            <a:r>
              <a:rPr lang="en-US" sz="3400" i="1" dirty="0" err="1">
                <a:solidFill>
                  <a:schemeClr val="tx2"/>
                </a:solidFill>
                <a:latin typeface="Times New Roman" panose="02020603050405020304" pitchFamily="18" charset="0"/>
                <a:cs typeface="Times New Roman" panose="02020603050405020304" pitchFamily="18" charset="0"/>
              </a:rPr>
              <a:t>accéder</a:t>
            </a:r>
            <a:r>
              <a:rPr lang="en-US" sz="3400" i="1" dirty="0">
                <a:solidFill>
                  <a:schemeClr val="tx2"/>
                </a:solidFill>
                <a:latin typeface="Times New Roman" panose="02020603050405020304" pitchFamily="18" charset="0"/>
                <a:cs typeface="Times New Roman" panose="02020603050405020304" pitchFamily="18" charset="0"/>
              </a:rPr>
              <a:t> au dashboard’,</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])-&gt;</a:t>
            </a:r>
            <a:r>
              <a:rPr lang="en-US" sz="3400" i="1" dirty="0" err="1">
                <a:solidFill>
                  <a:schemeClr val="tx2"/>
                </a:solidFill>
                <a:latin typeface="Times New Roman" panose="02020603050405020304" pitchFamily="18" charset="0"/>
                <a:cs typeface="Times New Roman" panose="02020603050405020304" pitchFamily="18" charset="0"/>
              </a:rPr>
              <a:t>onlyInput</a:t>
            </a:r>
            <a:r>
              <a:rPr lang="en-US" sz="3400" i="1" dirty="0">
                <a:solidFill>
                  <a:schemeClr val="tx2"/>
                </a:solidFill>
                <a:latin typeface="Times New Roman" panose="02020603050405020304" pitchFamily="18" charset="0"/>
                <a:cs typeface="Times New Roman" panose="02020603050405020304" pitchFamily="18" charset="0"/>
              </a:rPr>
              <a:t>('email');</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2302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5130346"/>
          </a:xfrm>
        </p:spPr>
        <p:txBody>
          <a:bodyPr>
            <a:normAutofit fontScale="92500"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logout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va permettre de déconnecter l’utilisateur en cours et de rediriger vers la vue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auth.login</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public function logout(Request $request)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Auth::logout();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$request-&gt;session()-&gt;invalidate();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$request-&gt;session()-&gt;</a:t>
            </a:r>
            <a:r>
              <a:rPr lang="en-US" sz="3400" i="1" dirty="0" err="1">
                <a:solidFill>
                  <a:schemeClr val="tx2"/>
                </a:solidFill>
                <a:latin typeface="Times New Roman" panose="02020603050405020304" pitchFamily="18" charset="0"/>
                <a:cs typeface="Times New Roman" panose="02020603050405020304" pitchFamily="18" charset="0"/>
              </a:rPr>
              <a:t>regenerateToken</a:t>
            </a:r>
            <a:r>
              <a:rPr lang="en-US" sz="3400" i="1" dirty="0">
                <a:solidFill>
                  <a:schemeClr val="tx2"/>
                </a:solidFill>
                <a:latin typeface="Times New Roman" panose="02020603050405020304" pitchFamily="18" charset="0"/>
                <a:cs typeface="Times New Roman" panose="02020603050405020304" pitchFamily="18" charset="0"/>
              </a:rPr>
              <a: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return redirect()-&gt;route('login')</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-&gt;</a:t>
            </a:r>
            <a:r>
              <a:rPr lang="en-US" sz="3400" i="1" dirty="0" err="1">
                <a:solidFill>
                  <a:schemeClr val="tx2"/>
                </a:solidFill>
                <a:latin typeface="Times New Roman" panose="02020603050405020304" pitchFamily="18" charset="0"/>
                <a:cs typeface="Times New Roman" panose="02020603050405020304" pitchFamily="18" charset="0"/>
              </a:rPr>
              <a:t>withSuccess</a:t>
            </a:r>
            <a:r>
              <a:rPr lang="en-US" sz="3400" i="1" dirty="0">
                <a:solidFill>
                  <a:schemeClr val="tx2"/>
                </a:solidFill>
                <a:latin typeface="Times New Roman" panose="02020603050405020304" pitchFamily="18" charset="0"/>
                <a:cs typeface="Times New Roman" panose="02020603050405020304" pitchFamily="18" charset="0"/>
              </a:rPr>
              <a:t>(‘</a:t>
            </a:r>
            <a:r>
              <a:rPr lang="en-US" sz="3400" i="1" dirty="0" err="1">
                <a:solidFill>
                  <a:schemeClr val="tx2"/>
                </a:solidFill>
                <a:latin typeface="Times New Roman" panose="02020603050405020304" pitchFamily="18" charset="0"/>
                <a:cs typeface="Times New Roman" panose="02020603050405020304" pitchFamily="18" charset="0"/>
              </a:rPr>
              <a:t>Vous-vous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êtes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déconnecté</a:t>
            </a:r>
            <a:r>
              <a:rPr lang="en-US" sz="3400" i="1" dirty="0">
                <a:solidFill>
                  <a:schemeClr val="tx2"/>
                </a:solidFill>
                <a:latin typeface="Times New Roman" panose="02020603050405020304" pitchFamily="18" charset="0"/>
                <a:cs typeface="Times New Roman" panose="02020603050405020304" pitchFamily="18" charset="0"/>
              </a:rPr>
              <a:t> avec succès!’);;</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79317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5130346"/>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rediriger les utilisateurs déjà connectés qui tentent d’accéder à la route ‘login’ ou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register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nous devons redéfinir la page ‘home’ dans le fichier ‘</a:t>
            </a:r>
            <a:r>
              <a:rPr lang="fr-MA"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app\Providers\</a:t>
            </a:r>
            <a:r>
              <a:rPr lang="fr-MA"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RouteServiceProvider.php</a:t>
            </a:r>
            <a:r>
              <a:rPr lang="fr-MA"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il suffit de changer la valeur de ‘home’ à ‘</a:t>
            </a:r>
            <a:r>
              <a:rPr lang="fr-MA"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dashboard</a:t>
            </a:r>
            <a:r>
              <a:rPr lang="fr-MA"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public const HOME = '/dashboard';</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818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5130346"/>
          </a:xfrm>
        </p:spPr>
        <p:txBody>
          <a:bodyPr>
            <a:normAutofit fontScale="62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Nous allons maintenant passer à la création des vues. La vue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register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 class="container-fluid"&gt;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&lt;h1 class="text-center"&gt;</a:t>
            </a:r>
            <a:r>
              <a:rPr lang="en-US" sz="3400" i="1" dirty="0" err="1">
                <a:solidFill>
                  <a:schemeClr val="tx2"/>
                </a:solidFill>
                <a:latin typeface="Times New Roman" panose="02020603050405020304" pitchFamily="18" charset="0"/>
                <a:cs typeface="Times New Roman" panose="02020603050405020304" pitchFamily="18" charset="0"/>
              </a:rPr>
              <a:t>Enregistrez-vous</a:t>
            </a:r>
            <a:r>
              <a:rPr lang="en-US" sz="3400" i="1" dirty="0">
                <a:solidFill>
                  <a:schemeClr val="tx2"/>
                </a:solidFill>
                <a:latin typeface="Times New Roman" panose="02020603050405020304" pitchFamily="18" charset="0"/>
                <a:cs typeface="Times New Roman" panose="02020603050405020304" pitchFamily="18" charset="0"/>
              </a:rPr>
              <a:t>&lt;/h1&gt;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&lt;form action={{route('store')}} method='post'&gt;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@csrf</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&lt;label for='name' class="col-md-3 offset-md-3"&gt;Nom:&lt;/label&gt;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&lt;input type="text" name="name" placeholder="</a:t>
            </a:r>
            <a:r>
              <a:rPr lang="en-US" sz="3400" i="1" dirty="0" err="1">
                <a:solidFill>
                  <a:schemeClr val="tx2"/>
                </a:solidFill>
                <a:latin typeface="Times New Roman" panose="02020603050405020304" pitchFamily="18" charset="0"/>
                <a:cs typeface="Times New Roman" panose="02020603050405020304" pitchFamily="18" charset="0"/>
              </a:rPr>
              <a:t>Entez</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votre</a:t>
            </a:r>
            <a:r>
              <a:rPr lang="en-US" sz="3400" i="1" dirty="0">
                <a:solidFill>
                  <a:schemeClr val="tx2"/>
                </a:solidFill>
                <a:latin typeface="Times New Roman" panose="02020603050405020304" pitchFamily="18" charset="0"/>
                <a:cs typeface="Times New Roman" panose="02020603050405020304" pitchFamily="18" charset="0"/>
              </a:rPr>
              <a:t> nom" class="col-md-3" value="{{old('name')}}" /&gt;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@if($errors-&gt;has('name'))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&lt;span class="col-md-3 text-danger"&gt;{{$errors-&gt;first('name')}}&lt;/span&gt;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@endif</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36642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509861"/>
          </a:xfrm>
        </p:spPr>
        <p:txBody>
          <a:bodyPr>
            <a:normAutofit fontScale="47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vue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register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suite: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&lt;label for='email' class="col-md-3 offset-md-3"&gt;Login:&lt;/label&gt;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&lt;input type="text" name="email" placeholder="</a:t>
            </a:r>
            <a:r>
              <a:rPr lang="en-US" sz="3400" i="1" dirty="0" err="1">
                <a:solidFill>
                  <a:schemeClr val="tx2"/>
                </a:solidFill>
                <a:latin typeface="Times New Roman" panose="02020603050405020304" pitchFamily="18" charset="0"/>
                <a:cs typeface="Times New Roman" panose="02020603050405020304" pitchFamily="18" charset="0"/>
              </a:rPr>
              <a:t>Entez</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votre</a:t>
            </a:r>
            <a:r>
              <a:rPr lang="en-US" sz="3400" i="1" dirty="0">
                <a:solidFill>
                  <a:schemeClr val="tx2"/>
                </a:solidFill>
                <a:latin typeface="Times New Roman" panose="02020603050405020304" pitchFamily="18" charset="0"/>
                <a:cs typeface="Times New Roman" panose="02020603050405020304" pitchFamily="18" charset="0"/>
              </a:rPr>
              <a:t> email" class="col-md-3" value="{{old('email')}}" /&gt;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@if($errors-&gt;has('email'))</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&lt;span class="col-md-3 text-danger"&gt;{{$errors-&gt;first('email')}}&lt;/span&gt;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@endif</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&lt;label for='password' class="col-md-3 offset-md-3"&gt;Password:&lt;/label&gt;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&lt;input type="password" name="password" placeholder="</a:t>
            </a:r>
            <a:r>
              <a:rPr lang="en-US" sz="3400" i="1" dirty="0" err="1">
                <a:solidFill>
                  <a:schemeClr val="tx2"/>
                </a:solidFill>
                <a:latin typeface="Times New Roman" panose="02020603050405020304" pitchFamily="18" charset="0"/>
                <a:cs typeface="Times New Roman" panose="02020603050405020304" pitchFamily="18" charset="0"/>
              </a:rPr>
              <a:t>Entez</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votre</a:t>
            </a:r>
            <a:r>
              <a:rPr lang="en-US" sz="3400" i="1" dirty="0">
                <a:solidFill>
                  <a:schemeClr val="tx2"/>
                </a:solidFill>
                <a:latin typeface="Times New Roman" panose="02020603050405020304" pitchFamily="18" charset="0"/>
                <a:cs typeface="Times New Roman" panose="02020603050405020304" pitchFamily="18" charset="0"/>
              </a:rPr>
              <a:t> mot de passe" class="col-md-3" /&gt;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@if($errors-&gt;has('password'))</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&lt;span class="col-md-3 text-danger"&gt;{{$errors-&gt;first('password')}}&lt;/span&gt;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@endif</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84371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509861"/>
          </a:xfrm>
        </p:spPr>
        <p:txBody>
          <a:bodyPr>
            <a:normAutofit fontScale="62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vue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register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suite: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&lt;section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&lt;label for='</a:t>
            </a:r>
            <a:r>
              <a:rPr lang="en-US" sz="3400" i="1" dirty="0" err="1">
                <a:solidFill>
                  <a:schemeClr val="tx2"/>
                </a:solidFill>
                <a:latin typeface="Times New Roman" panose="02020603050405020304" pitchFamily="18" charset="0"/>
                <a:cs typeface="Times New Roman" panose="02020603050405020304" pitchFamily="18" charset="0"/>
              </a:rPr>
              <a:t>password_confirmation</a:t>
            </a:r>
            <a:r>
              <a:rPr lang="en-US" sz="3400" i="1" dirty="0">
                <a:solidFill>
                  <a:schemeClr val="tx2"/>
                </a:solidFill>
                <a:latin typeface="Times New Roman" panose="02020603050405020304" pitchFamily="18" charset="0"/>
                <a:cs typeface="Times New Roman" panose="02020603050405020304" pitchFamily="18" charset="0"/>
              </a:rPr>
              <a:t>' class="col-md-3 offset-md-3"&gt;Password confirmation:&lt;/label&gt;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&lt;input type="password" name="</a:t>
            </a:r>
            <a:r>
              <a:rPr lang="en-US" sz="3400" i="1" dirty="0" err="1">
                <a:solidFill>
                  <a:schemeClr val="tx2"/>
                </a:solidFill>
                <a:latin typeface="Times New Roman" panose="02020603050405020304" pitchFamily="18" charset="0"/>
                <a:cs typeface="Times New Roman" panose="02020603050405020304" pitchFamily="18" charset="0"/>
              </a:rPr>
              <a:t>password_confirmation</a:t>
            </a:r>
            <a:r>
              <a:rPr lang="en-US" sz="3400" i="1" dirty="0">
                <a:solidFill>
                  <a:schemeClr val="tx2"/>
                </a:solidFill>
                <a:latin typeface="Times New Roman" panose="02020603050405020304" pitchFamily="18" charset="0"/>
                <a:cs typeface="Times New Roman" panose="02020603050405020304" pitchFamily="18" charset="0"/>
              </a:rPr>
              <a:t>" placeholder="Confirmer </a:t>
            </a:r>
            <a:r>
              <a:rPr lang="en-US" sz="3400" i="1" dirty="0" err="1">
                <a:solidFill>
                  <a:schemeClr val="tx2"/>
                </a:solidFill>
                <a:latin typeface="Times New Roman" panose="02020603050405020304" pitchFamily="18" charset="0"/>
                <a:cs typeface="Times New Roman" panose="02020603050405020304" pitchFamily="18" charset="0"/>
              </a:rPr>
              <a:t>votre</a:t>
            </a:r>
            <a:r>
              <a:rPr lang="en-US" sz="3400" i="1" dirty="0">
                <a:solidFill>
                  <a:schemeClr val="tx2"/>
                </a:solidFill>
                <a:latin typeface="Times New Roman" panose="02020603050405020304" pitchFamily="18" charset="0"/>
                <a:cs typeface="Times New Roman" panose="02020603050405020304" pitchFamily="18" charset="0"/>
              </a:rPr>
              <a:t> mot de passe" class="col-md-3" /&gt;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&lt;input type="submit" class="col-md-2 offset-md-6 </a:t>
            </a:r>
            <a:r>
              <a:rPr lang="en-US" sz="3400" i="1" dirty="0" err="1">
                <a:solidFill>
                  <a:schemeClr val="tx2"/>
                </a:solidFill>
                <a:latin typeface="Times New Roman" panose="02020603050405020304" pitchFamily="18" charset="0"/>
                <a:cs typeface="Times New Roman" panose="02020603050405020304" pitchFamily="18" charset="0"/>
              </a:rPr>
              <a:t>btn</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btn</a:t>
            </a:r>
            <a:r>
              <a:rPr lang="en-US" sz="3400" i="1" dirty="0">
                <a:solidFill>
                  <a:schemeClr val="tx2"/>
                </a:solidFill>
                <a:latin typeface="Times New Roman" panose="02020603050405020304" pitchFamily="18" charset="0"/>
                <a:cs typeface="Times New Roman" panose="02020603050405020304" pitchFamily="18" charset="0"/>
              </a:rPr>
              <a:t>-primary" value="</a:t>
            </a:r>
            <a:r>
              <a:rPr lang="en-US" sz="3400" i="1" dirty="0" err="1">
                <a:solidFill>
                  <a:schemeClr val="tx2"/>
                </a:solidFill>
                <a:latin typeface="Times New Roman" panose="02020603050405020304" pitchFamily="18" charset="0"/>
                <a:cs typeface="Times New Roman" panose="02020603050405020304" pitchFamily="18" charset="0"/>
              </a:rPr>
              <a:t>Enregistrer</a:t>
            </a:r>
            <a:r>
              <a:rPr lang="en-US" sz="3400" i="1" dirty="0">
                <a:solidFill>
                  <a:schemeClr val="tx2"/>
                </a:solidFill>
                <a:latin typeface="Times New Roman" panose="02020603050405020304" pitchFamily="18" charset="0"/>
                <a:cs typeface="Times New Roman" panose="02020603050405020304" pitchFamily="18" charset="0"/>
              </a:rPr>
              <a:t>" /&gt;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&lt;/form&gt;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5330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749346"/>
          </a:xfrm>
        </p:spPr>
        <p:txBody>
          <a:bodyPr>
            <a:normAutofit fontScale="550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vue ‘login’ est la suivante: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&lt;section class="container-fluid"&gt;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&lt;h1 class="text-center"&gt;</a:t>
            </a:r>
            <a:r>
              <a:rPr lang="en-US" sz="3400" i="1" dirty="0" err="1">
                <a:solidFill>
                  <a:schemeClr val="tx2"/>
                </a:solidFill>
                <a:latin typeface="Times New Roman" panose="02020603050405020304" pitchFamily="18" charset="0"/>
                <a:cs typeface="Times New Roman" panose="02020603050405020304" pitchFamily="18" charset="0"/>
              </a:rPr>
              <a:t>Authentifiez-vous</a:t>
            </a:r>
            <a:r>
              <a:rPr lang="en-US" sz="3400" i="1" dirty="0">
                <a:solidFill>
                  <a:schemeClr val="tx2"/>
                </a:solidFill>
                <a:latin typeface="Times New Roman" panose="02020603050405020304" pitchFamily="18" charset="0"/>
                <a:cs typeface="Times New Roman" panose="02020603050405020304" pitchFamily="18" charset="0"/>
              </a:rPr>
              <a:t>&lt;/h1&gt;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&lt;form action={{route('authenticate')}} method='post'&gt;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@csrf</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&lt;label for='email' class="col-md-3 offset-md-3"&gt;Login:&lt;/label&gt;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&lt;input type="text" name="email" placeholder="</a:t>
            </a:r>
            <a:r>
              <a:rPr lang="en-US" sz="3400" i="1" dirty="0" err="1">
                <a:solidFill>
                  <a:schemeClr val="tx2"/>
                </a:solidFill>
                <a:latin typeface="Times New Roman" panose="02020603050405020304" pitchFamily="18" charset="0"/>
                <a:cs typeface="Times New Roman" panose="02020603050405020304" pitchFamily="18" charset="0"/>
              </a:rPr>
              <a:t>Entez</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votre</a:t>
            </a:r>
            <a:r>
              <a:rPr lang="en-US" sz="3400" i="1" dirty="0">
                <a:solidFill>
                  <a:schemeClr val="tx2"/>
                </a:solidFill>
                <a:latin typeface="Times New Roman" panose="02020603050405020304" pitchFamily="18" charset="0"/>
                <a:cs typeface="Times New Roman" panose="02020603050405020304" pitchFamily="18" charset="0"/>
              </a:rPr>
              <a:t> email" class="col-md-3" value="{{old('email')}}" /&gt;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@if($errors-&gt;has('email'))</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&lt;span class="col-md-3 text-danger"&gt;{{$errors-&gt;first('email')}}&lt;/span&gt;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@endif</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41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749346"/>
          </a:xfrm>
        </p:spPr>
        <p:txBody>
          <a:bodyPr>
            <a:normAutofit fontScale="62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vue ‘login’ suite: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&lt;section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&lt;label for='password' class="col-md-3 offset-md-3"&gt;Password:&lt;/label&gt;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&lt;input type="password" name="password" placeholder="</a:t>
            </a:r>
            <a:r>
              <a:rPr lang="en-US" sz="3400" i="1" dirty="0" err="1">
                <a:solidFill>
                  <a:schemeClr val="tx2"/>
                </a:solidFill>
                <a:latin typeface="Times New Roman" panose="02020603050405020304" pitchFamily="18" charset="0"/>
                <a:cs typeface="Times New Roman" panose="02020603050405020304" pitchFamily="18" charset="0"/>
              </a:rPr>
              <a:t>Entez</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votre</a:t>
            </a:r>
            <a:r>
              <a:rPr lang="en-US" sz="3400" i="1" dirty="0">
                <a:solidFill>
                  <a:schemeClr val="tx2"/>
                </a:solidFill>
                <a:latin typeface="Times New Roman" panose="02020603050405020304" pitchFamily="18" charset="0"/>
                <a:cs typeface="Times New Roman" panose="02020603050405020304" pitchFamily="18" charset="0"/>
              </a:rPr>
              <a:t> mot de passe" class="col-md-3" /&gt;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@if($errors-&gt;has('password'))</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&lt;span class="col-md-3 text-danger"&gt;{{$errors-&gt;first('password')}}&lt;/span&gt;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@endif</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&lt;input type="submit" class="col-md-2 offset-md-6 </a:t>
            </a:r>
            <a:r>
              <a:rPr lang="en-US" sz="3400" i="1" dirty="0" err="1">
                <a:solidFill>
                  <a:schemeClr val="tx2"/>
                </a:solidFill>
                <a:latin typeface="Times New Roman" panose="02020603050405020304" pitchFamily="18" charset="0"/>
                <a:cs typeface="Times New Roman" panose="02020603050405020304" pitchFamily="18" charset="0"/>
              </a:rPr>
              <a:t>btn</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btn</a:t>
            </a:r>
            <a:r>
              <a:rPr lang="en-US" sz="3400" i="1" dirty="0">
                <a:solidFill>
                  <a:schemeClr val="tx2"/>
                </a:solidFill>
                <a:latin typeface="Times New Roman" panose="02020603050405020304" pitchFamily="18" charset="0"/>
                <a:cs typeface="Times New Roman" panose="02020603050405020304" pitchFamily="18" charset="0"/>
              </a:rPr>
              <a:t>-primary" value="Login" /&gt;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&lt;/form&gt;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&lt;/section&gt;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87534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749346"/>
          </a:xfrm>
        </p:spPr>
        <p:txBody>
          <a:bodyPr>
            <a:normAutofit fontScale="550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vue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dashboard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&lt;div class="card-body"&gt;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@if($message=Session::get('success'))</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&lt;div class="alert alert-success"&gt; {{$message}} &lt;/div&gt;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@else</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&lt;div class="alert alert-success“&gt; </a:t>
            </a:r>
            <a:r>
              <a:rPr lang="en-US" sz="3400" i="1" dirty="0" err="1">
                <a:solidFill>
                  <a:schemeClr val="tx2"/>
                </a:solidFill>
                <a:latin typeface="Times New Roman" panose="02020603050405020304" pitchFamily="18" charset="0"/>
                <a:cs typeface="Times New Roman" panose="02020603050405020304" pitchFamily="18" charset="0"/>
              </a:rPr>
              <a:t>Vous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êtes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connecté</a:t>
            </a:r>
            <a:r>
              <a:rPr lang="en-US" sz="3400" i="1" dirty="0">
                <a:solidFill>
                  <a:schemeClr val="tx2"/>
                </a:solidFill>
                <a:latin typeface="Times New Roman" panose="02020603050405020304" pitchFamily="18" charset="0"/>
                <a:cs typeface="Times New Roman" panose="02020603050405020304" pitchFamily="18" charset="0"/>
              </a:rPr>
              <a:t>!&lt;/div&gt;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@endif</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&lt;/div&gt;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&lt;div class="row"&gt;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&lt;form action={{route('logout')}} method="post"&gt;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@csrf</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&lt;input type="submit" value="Logout" class="</a:t>
            </a:r>
            <a:r>
              <a:rPr lang="en-US" sz="3400" i="1" dirty="0" err="1">
                <a:solidFill>
                  <a:schemeClr val="tx2"/>
                </a:solidFill>
                <a:latin typeface="Times New Roman" panose="02020603050405020304" pitchFamily="18" charset="0"/>
                <a:cs typeface="Times New Roman" panose="02020603050405020304" pitchFamily="18" charset="0"/>
              </a:rPr>
              <a:t>btn</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btn</a:t>
            </a:r>
            <a:r>
              <a:rPr lang="en-US" sz="3400" i="1" dirty="0">
                <a:solidFill>
                  <a:schemeClr val="tx2"/>
                </a:solidFill>
                <a:latin typeface="Times New Roman" panose="02020603050405020304" pitchFamily="18" charset="0"/>
                <a:cs typeface="Times New Roman" panose="02020603050405020304" pitchFamily="18" charset="0"/>
              </a:rPr>
              <a:t>-primary" /&gt;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&lt;/form&gt;</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&lt;/div&gt;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2122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IV- L’authentification</a:t>
            </a:r>
          </a:p>
        </p:txBody>
      </p:sp>
      <p:sp>
        <p:nvSpPr>
          <p:cNvPr id="3" name="Espace réservé du contenu 2"/>
          <p:cNvSpPr>
            <a:spLocks noGrp="1"/>
          </p:cNvSpPr>
          <p:nvPr>
            <p:ph idx="1"/>
          </p:nvPr>
        </p:nvSpPr>
        <p:spPr>
          <a:xfrm>
            <a:off x="838200" y="1825625"/>
            <a:ext cx="11255829" cy="4749346"/>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Reste maintenant d’ajouter les routes nécessaires pour que chaque route de l’application sera vérifiée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Route::group(['middleware' =&gt; 'auth'], function () {</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Route::resource('</a:t>
            </a:r>
            <a:r>
              <a:rPr lang="en-US" sz="3400" i="1" dirty="0" err="1">
                <a:solidFill>
                  <a:schemeClr val="tx2"/>
                </a:solidFill>
                <a:latin typeface="Times New Roman" panose="02020603050405020304" pitchFamily="18" charset="0"/>
                <a:cs typeface="Times New Roman" panose="02020603050405020304" pitchFamily="18" charset="0"/>
              </a:rPr>
              <a:t>eleves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EleveController</a:t>
            </a:r>
            <a:r>
              <a:rPr lang="en-US" sz="3400" i="1" dirty="0">
                <a:solidFill>
                  <a:schemeClr val="tx2"/>
                </a:solidFill>
                <a:latin typeface="Times New Roman" panose="02020603050405020304" pitchFamily="18" charset="0"/>
                <a:cs typeface="Times New Roman" panose="02020603050405020304" pitchFamily="18" charset="0"/>
              </a:rPr>
              <a:t>::class);</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Route::resource('</a:t>
            </a:r>
            <a:r>
              <a:rPr lang="en-US" sz="3400" i="1" dirty="0" err="1">
                <a:solidFill>
                  <a:schemeClr val="tx2"/>
                </a:solidFill>
                <a:latin typeface="Times New Roman" panose="02020603050405020304" pitchFamily="18" charset="0"/>
                <a:cs typeface="Times New Roman" panose="02020603050405020304" pitchFamily="18" charset="0"/>
              </a:rPr>
              <a:t>groupes</a:t>
            </a:r>
            <a:r>
              <a:rPr lang="en-US" sz="3400" i="1" dirty="0">
                <a:solidFill>
                  <a:schemeClr val="tx2"/>
                </a:solidFill>
                <a:latin typeface="Times New Roman" panose="02020603050405020304" pitchFamily="18" charset="0"/>
                <a:cs typeface="Times New Roman" panose="02020603050405020304" pitchFamily="18" charset="0"/>
              </a:rPr>
              <a:t>', </a:t>
            </a:r>
            <a:r>
              <a:rPr lang="en-US" sz="3400" i="1" dirty="0" err="1">
                <a:solidFill>
                  <a:schemeClr val="tx2"/>
                </a:solidFill>
                <a:latin typeface="Times New Roman" panose="02020603050405020304" pitchFamily="18" charset="0"/>
                <a:cs typeface="Times New Roman" panose="02020603050405020304" pitchFamily="18" charset="0"/>
              </a:rPr>
              <a:t>GroupeController</a:t>
            </a:r>
            <a:r>
              <a:rPr lang="en-US" sz="3400" i="1" dirty="0">
                <a:solidFill>
                  <a:schemeClr val="tx2"/>
                </a:solidFill>
                <a:latin typeface="Times New Roman" panose="02020603050405020304" pitchFamily="18" charset="0"/>
                <a:cs typeface="Times New Roman" panose="02020603050405020304" pitchFamily="18" charset="0"/>
              </a:rPr>
              <a:t>::class);</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    Route::resource('examens', </a:t>
            </a:r>
            <a:r>
              <a:rPr lang="en-US" sz="3400" i="1" dirty="0" err="1">
                <a:solidFill>
                  <a:schemeClr val="tx2"/>
                </a:solidFill>
                <a:latin typeface="Times New Roman" panose="02020603050405020304" pitchFamily="18" charset="0"/>
                <a:cs typeface="Times New Roman" panose="02020603050405020304" pitchFamily="18" charset="0"/>
              </a:rPr>
              <a:t>ExamenController</a:t>
            </a:r>
            <a:r>
              <a:rPr lang="en-US" sz="3400" i="1" dirty="0">
                <a:solidFill>
                  <a:schemeClr val="tx2"/>
                </a:solidFill>
                <a:latin typeface="Times New Roman" panose="02020603050405020304" pitchFamily="18" charset="0"/>
                <a:cs typeface="Times New Roman" panose="02020603050405020304" pitchFamily="18" charset="0"/>
              </a:rPr>
              <a:t>::class);</a:t>
            </a:r>
          </a:p>
          <a:p>
            <a:pPr marL="0" indent="0" algn="just">
              <a:buNone/>
            </a:pPr>
            <a:r>
              <a:rPr lang="en-US" sz="3400" i="1" dirty="0">
                <a:solidFill>
                  <a:schemeClr val="tx2"/>
                </a:solidFill>
                <a:latin typeface="Times New Roman" panose="02020603050405020304" pitchFamily="18" charset="0"/>
                <a:cs typeface="Times New Roman" panose="02020603050405020304" pitchFamily="18" charset="0"/>
              </a:rPr>
              <a:t>});</a:t>
            </a:r>
            <a:endPar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549700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83110</TotalTime>
  <Words>3628</Words>
  <Application>Microsoft Office PowerPoint</Application>
  <PresentationFormat>Grand écran</PresentationFormat>
  <Paragraphs>378</Paragraphs>
  <Slides>42</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42</vt:i4>
      </vt:variant>
    </vt:vector>
  </HeadingPairs>
  <TitlesOfParts>
    <vt:vector size="48" baseType="lpstr">
      <vt:lpstr>Arial</vt:lpstr>
      <vt:lpstr>Calibri</vt:lpstr>
      <vt:lpstr>Calibri Light</vt:lpstr>
      <vt:lpstr>Times New Roman</vt:lpstr>
      <vt:lpstr>Wingdings</vt:lpstr>
      <vt:lpstr>Thème Office</vt:lpstr>
      <vt:lpstr>CH8-Compléments</vt:lpstr>
      <vt:lpstr>I- Les middlewares (Définition)</vt:lpstr>
      <vt:lpstr>I- Les middlewares(Création du middleware)</vt:lpstr>
      <vt:lpstr>I- Les middlewares (Création du middleware)</vt:lpstr>
      <vt:lpstr>I- Les middlewares (Route middleware)</vt:lpstr>
      <vt:lpstr>I- Les middlewares (Group middleware)</vt:lpstr>
      <vt:lpstr>I- Les middlewares (Group middleware)</vt:lpstr>
      <vt:lpstr>I- Les middlewares (Group middleware)</vt:lpstr>
      <vt:lpstr>I- Les middlewares (Group middleware)</vt:lpstr>
      <vt:lpstr>I- Les middlewares (Global middleware)</vt:lpstr>
      <vt:lpstr>I- Les middlewares (gestion des alias)</vt:lpstr>
      <vt:lpstr>I- Les middlewares (gestion des alias)</vt:lpstr>
      <vt:lpstr>II- Validation des formulaires</vt:lpstr>
      <vt:lpstr>Ii- Validation des formulaires</vt:lpstr>
      <vt:lpstr>II- Validation des formulaires</vt:lpstr>
      <vt:lpstr>II- Validation des formulaires</vt:lpstr>
      <vt:lpstr>III- Les sessions HTTP</vt:lpstr>
      <vt:lpstr>III- Les sessions HTTP</vt:lpstr>
      <vt:lpstr>III- Les sessions HTTP</vt:lpstr>
      <vt:lpstr>III- Les sessions HTTP</vt:lpstr>
      <vt:lpstr>III- Les sessions HTTP</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lpstr>IV- L’authentification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CH1-Framework Back-end</dc:title>
  <dc:creator>NAJ LAM</dc:creator>
  <cp:lastModifiedBy>NAJ LAM</cp:lastModifiedBy>
  <cp:revision>234</cp:revision>
  <dcterms:created xsi:type="dcterms:W3CDTF">2023-02-19T17:43:52Z</dcterms:created>
  <dcterms:modified xsi:type="dcterms:W3CDTF">2025-05-28T13:13:40Z</dcterms:modified>
</cp:coreProperties>
</file>