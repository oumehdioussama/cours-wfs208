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22/03/2023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590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22/03/2023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861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22/03/2023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20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22/03/2023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224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22/03/2023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5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22/03/2023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93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22/03/2023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872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22/03/2023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709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22/03/2023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361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22/03/2023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032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22/03/2023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82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F7099-A69C-40A7-961E-56EC432041D2}" type="datetimeFigureOut">
              <a:rPr lang="fr-FR" smtClean="0"/>
              <a:t>22/03/2023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726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CH1-Framework Back-end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Développement back-end</a:t>
            </a:r>
          </a:p>
        </p:txBody>
      </p:sp>
    </p:spTree>
    <p:extLst>
      <p:ext uri="{BB962C8B-B14F-4D97-AF65-F5344CB8AC3E}">
        <p14:creationId xmlns:p14="http://schemas.microsoft.com/office/powerpoint/2010/main" val="325840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I-Introduction</a:t>
            </a:r>
            <a:endParaRPr lang="fr-F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 Web: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une boite à outils pour aider les développeurs dans la réalisation de leurs tâches. Frame (cadre ) et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(travail). </a:t>
            </a:r>
          </a:p>
          <a:p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 Framework contient des composants autonomes qui permettent de résoudre les problèmes souvent rencontrés par les développeurs (CRUD, arborescence, normes, sécurités, etc.). </a:t>
            </a:r>
          </a:p>
          <a:p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 Framework n’est pas uniquement une boite à outils. Il peut aussi désigner une méthodologie.</a:t>
            </a:r>
          </a:p>
          <a:p>
            <a:pPr marL="0" indent="0">
              <a:buNone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887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I-Introduction</a:t>
            </a:r>
            <a:endParaRPr lang="fr-F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L’objectif de l’utilisation d’un Framework est de 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maximiser la productivité du développeur qui l’utilise.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faciliter la maintenance du l’application Web réalisée.</a:t>
            </a:r>
          </a:p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Trois raisons pour utiliser un Framework 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Rapidité :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 Framework permet un gain de temps et une livraison beaucoup plus rapide qu’un développement à zéro.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Organisation :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l’architecture d’un Framework favorise une bonne organisation du code source (modèle MVC par exemple).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Maintenabilité :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l’organisation du Framework facilite la maintenance du logiciel et la gestion des évolutions.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80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I-Introduction</a:t>
            </a:r>
            <a:endParaRPr lang="fr-F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Frameworks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PHP les plus populaires: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Symfony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Zend Framework / Laminas Project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Yii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Framework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511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II-Le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0935"/>
          </a:xfrm>
        </p:spPr>
        <p:txBody>
          <a:bodyPr>
            <a:normAutofit lnSpcReduction="10000"/>
          </a:bodyPr>
          <a:lstStyle/>
          <a:p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est présenté comme « Le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PHP pour les artisans du web ».</a:t>
            </a:r>
          </a:p>
          <a:p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Lancé en 2011,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 trouve en tête des classements grâce à ses fonctionnalités: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Offre une solution MVC complète.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son propre ORM Eloquent ORM 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Utilise le moteur de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templating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Blade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On peut utiliser PHP dans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Blade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contrairement aux autres.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Packalyst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une collection de paquets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compte plus de 15 000 paquets utilisable 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Dispose de l’outil de ligne de commande Artisan Console qui permet d’automatiser les tâches répétitives et de générer rapidement du code squelette.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6151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II-Le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0935"/>
          </a:xfrm>
        </p:spPr>
        <p:txBody>
          <a:bodyPr>
            <a:normAutofit/>
          </a:bodyPr>
          <a:lstStyle/>
          <a:p>
            <a:pPr algn="just"/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est présenté comme « Le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PHP pour les artisans du web ».</a:t>
            </a:r>
          </a:p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Lancé en 2011,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 trouve en tête des classements grâce à ses fonctionnalités: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Dispose de plusieurs outils utiles tels que Mix pour la compilation des actifs CSS et JS, et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Socialite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l’authentification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OAuth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Bénéficie d’une large communauté de développeurs.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5316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II-Le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0935"/>
          </a:xfrm>
        </p:spPr>
        <p:txBody>
          <a:bodyPr>
            <a:normAutofit/>
          </a:bodyPr>
          <a:lstStyle/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Prérequis pour utiliser un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PHP tel que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langage PHP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PHP Orienté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Ojbet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L’architecture MVC (Model,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Controller).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Bases de données SQL.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Fonctionnement des serveurs (Service, Ports, Protocoles…)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L’utilisation de l’invite de commande.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5925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21525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fr-FR" dirty="0" err="1" smtClean="0"/>
              <a:t>frameworks</a:t>
            </a:r>
            <a:r>
              <a:rPr lang="fr-FR" dirty="0" smtClean="0"/>
              <a:t> </a:t>
            </a:r>
            <a:r>
              <a:rPr lang="fr-FR" dirty="0"/>
              <a:t>PHP suivent généralement le plus célèbres design patterns qui s'appelle MVC, qui signifie Modèle - Vue </a:t>
            </a:r>
            <a:r>
              <a:rPr lang="fr-FR" dirty="0" smtClean="0"/>
              <a:t>– </a:t>
            </a:r>
            <a:r>
              <a:rPr lang="fr-FR" dirty="0" err="1" smtClean="0"/>
              <a:t>Contrôleures</a:t>
            </a:r>
            <a:r>
              <a:rPr lang="fr-FR" dirty="0" smtClean="0"/>
              <a:t>.</a:t>
            </a:r>
          </a:p>
          <a:p>
            <a:pPr algn="just"/>
            <a:r>
              <a:rPr lang="fr-FR" dirty="0"/>
              <a:t>Le but du pattern MVC est de séparer la logique du code en trois parties que l'on retrouve dans des fichiers distincts</a:t>
            </a:r>
            <a:r>
              <a:rPr lang="fr-FR" dirty="0" smtClean="0"/>
              <a:t>.</a:t>
            </a:r>
          </a:p>
          <a:p>
            <a:pPr algn="just"/>
            <a:r>
              <a:rPr lang="fr-FR" u="sng" dirty="0"/>
              <a:t>Modèle :</a:t>
            </a:r>
            <a:r>
              <a:rPr lang="fr-FR" dirty="0"/>
              <a:t> cette partie gère la logique métier. Le modèle communique avec la BDD. C’est lui qui s’occupe de récupérer un article en base par exemple. On y trouve des algorithmes complexes et des requêtes SQL</a:t>
            </a:r>
            <a:r>
              <a:rPr lang="fr-FR" dirty="0" smtClean="0"/>
              <a:t>.</a:t>
            </a:r>
          </a:p>
          <a:p>
            <a:pPr algn="just"/>
            <a:r>
              <a:rPr lang="fr-FR" u="sng" dirty="0"/>
              <a:t>Vue :</a:t>
            </a:r>
            <a:r>
              <a:rPr lang="fr-FR" dirty="0"/>
              <a:t> cette partie se concentre sur l'affichage. Elle affiche à l’utilisateur des données contenues dans des variables. On y trouve essentiellement du code HTML mais aussi quelques boucles et conditions PHP très simples. </a:t>
            </a:r>
            <a:endParaRPr lang="fr-FR" dirty="0" smtClean="0"/>
          </a:p>
          <a:p>
            <a:pPr algn="just"/>
            <a:r>
              <a:rPr lang="fr-FR" u="sng" dirty="0"/>
              <a:t>Contrôleur :</a:t>
            </a:r>
            <a:r>
              <a:rPr lang="fr-FR" dirty="0"/>
              <a:t> cette partie gère les échanges avec l'utilisateur. C'est en quelque sorte l'intermédiaire entre l'utilisateur, le modèle et la vue. Le modèle </a:t>
            </a:r>
            <a:r>
              <a:rPr lang="fr-FR" dirty="0" smtClean="0"/>
              <a:t>lui transmet </a:t>
            </a:r>
            <a:r>
              <a:rPr lang="fr-FR" dirty="0"/>
              <a:t>les données récupérées en base de données, puis il transmet ces données à la vue.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III-L’architecture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MVC</a:t>
            </a:r>
          </a:p>
        </p:txBody>
      </p:sp>
    </p:spTree>
    <p:extLst>
      <p:ext uri="{BB962C8B-B14F-4D97-AF65-F5344CB8AC3E}">
        <p14:creationId xmlns:p14="http://schemas.microsoft.com/office/powerpoint/2010/main" val="178305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III-L’architecture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MVC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725" y="2245850"/>
            <a:ext cx="6548755" cy="3781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481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IV- Installation de </a:t>
            </a:r>
            <a:r>
              <a:rPr lang="fr-FR" b="1" dirty="0" err="1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Vérifier si vous avez le serveur PHP installé déjà ou installer-le.</a:t>
            </a:r>
          </a:p>
          <a:p>
            <a:pPr lvl="1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Vous pouvez installer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Wamp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server ou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Xampp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server (contenant déjà le serveur PHP avec le serveur web Apache et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mysql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avec le moteur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MariaDB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lvl="1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Vérifier votre installation PHP à l’aide de la commande:</a:t>
            </a:r>
          </a:p>
          <a:p>
            <a:pPr marL="457200" lvl="1" indent="0">
              <a:buNone/>
            </a:pPr>
            <a:r>
              <a:rPr lang="fr-FR" i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php</a:t>
            </a:r>
            <a:r>
              <a:rPr lang="fr-FR" i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–v</a:t>
            </a:r>
          </a:p>
          <a:p>
            <a:pPr lvl="1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Vous pouvez aussi vérifier votre installation en lançant le serveur sur le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localhost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219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IV- Installation de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960" y="2461260"/>
            <a:ext cx="8662467" cy="42951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695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 lançant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localhost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dans le navigateur vous devez avoir une page d’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acceuil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Wamp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4227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IV- Installation de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 la commande </a:t>
            </a:r>
            <a:r>
              <a:rPr lang="fr-FR" i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php</a:t>
            </a:r>
            <a:r>
              <a:rPr lang="fr-FR" i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–v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ne fonctionne pas encore après tout ce qui précède. Il faut peut être ajouter le dossier de PHP dans le PATH: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Rechercher « Variables d’environnement » dans le système MS Windows.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Cliquer sur le résultat de recherche « Modifier les variables d’environnement système ».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Sur la boite qui s’affiche, cliquez sur « Variables d’environnement ».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Sélectionner ensuite PATH et cliquez sur le bouton « Modifier ».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Cliquez en bas pour une ligne, ajouter le chemin du dossier de PHP qui ressemble à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 chemin: « C:\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wamp64\bin\php\php7.4.33 ».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Redémarrer l’invite de commande et retapez la commande </a:t>
            </a:r>
            <a:r>
              <a:rPr lang="fr-FR" i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php</a:t>
            </a:r>
            <a:r>
              <a:rPr lang="fr-FR" i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-v</a:t>
            </a:r>
          </a:p>
          <a:p>
            <a:pPr marL="457200" lvl="1" indent="0">
              <a:buNone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501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IV- Installation de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Pour installer ou de créer des projets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on aura besoin du Composer:</a:t>
            </a:r>
          </a:p>
          <a:p>
            <a:pPr lvl="1" algn="just"/>
            <a:r>
              <a:rPr lang="fr-FR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Composer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est un logiciel gestionnaire de dépendances libre écrit en PHP. Il permet à ses utilisateurs de déclarer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 d'installer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bibliothèques dont le projet principal a besoin. Il permet de télécharger et de mettre à jour des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bibliothèques externes.</a:t>
            </a:r>
          </a:p>
          <a:p>
            <a:pPr lvl="1"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Composer permet également de créer des projets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et de télécharger le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Le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est un simple assemblage de plusieurs dizaines de bibliothèques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lvl="1"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Pour installer Composer, il suffit de télécharger un installeur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://getcomposer.org/download/ et téléchargez Composer-Setup.exe.</a:t>
            </a:r>
          </a:p>
          <a:p>
            <a:pPr lvl="1"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Vérifiez lors de l'installation que le chemin par défaut vers PHP est bien C:\PHP\php.exe. car Composer est un fichier PHP et a besoin d’être exécuté.</a:t>
            </a:r>
          </a:p>
        </p:txBody>
      </p:sp>
    </p:spTree>
    <p:extLst>
      <p:ext uri="{BB962C8B-B14F-4D97-AF65-F5344CB8AC3E}">
        <p14:creationId xmlns:p14="http://schemas.microsoft.com/office/powerpoint/2010/main" val="108947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IV- Installation de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Configuration de VS Code:</a:t>
            </a:r>
          </a:p>
          <a:p>
            <a:pPr lvl="2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Installation de l’extension : PHP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Intellephense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l’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autocompletion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avancée.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Installation de l’extension : PHP Server pour lancer le serveur virtuel PHP (rarement utilisé sous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 lvl="2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Installation de l’extension : PHP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Namespace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Resolver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gérer les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namespaces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PHP. </a:t>
            </a:r>
          </a:p>
        </p:txBody>
      </p:sp>
    </p:spTree>
    <p:extLst>
      <p:ext uri="{BB962C8B-B14F-4D97-AF65-F5344CB8AC3E}">
        <p14:creationId xmlns:p14="http://schemas.microsoft.com/office/powerpoint/2010/main" val="24681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IV- Installation de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Installer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dans la machine:</a:t>
            </a:r>
          </a:p>
          <a:p>
            <a:pPr marL="914400" lvl="2" indent="0" algn="just">
              <a:buNone/>
            </a:pPr>
            <a:r>
              <a:rPr lang="fr-FR" i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composer global </a:t>
            </a:r>
            <a:r>
              <a:rPr lang="fr-FR" i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</a:t>
            </a:r>
            <a:r>
              <a:rPr lang="fr-FR" i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i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i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/installer</a:t>
            </a:r>
          </a:p>
          <a:p>
            <a:pPr lvl="1"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Création d’un projet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2"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peut créer un projet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à l’aide du composer en utilisant la commande:</a:t>
            </a:r>
          </a:p>
          <a:p>
            <a:pPr marL="914400" lvl="2" indent="0" algn="just">
              <a:buNone/>
            </a:pPr>
            <a:r>
              <a:rPr lang="fr-FR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composer </a:t>
            </a:r>
            <a:r>
              <a:rPr lang="fr-FR" i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create-project</a:t>
            </a:r>
            <a:r>
              <a:rPr lang="fr-FR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i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fr-FR" i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i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nomProjet</a:t>
            </a:r>
            <a:endParaRPr lang="fr-FR" i="1" dirty="0" smtClean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peut créer un projet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à l’aide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la commande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2" indent="0" algn="just">
              <a:buNone/>
            </a:pPr>
            <a:r>
              <a:rPr lang="fr-FR" i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i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new </a:t>
            </a:r>
            <a:r>
              <a:rPr lang="fr-FR" i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nomProjet</a:t>
            </a:r>
            <a:endParaRPr lang="fr-FR" i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2" indent="0" algn="just">
              <a:buNone/>
            </a:pPr>
            <a:endParaRPr lang="fr-FR" i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2" indent="0" algn="just">
              <a:buNone/>
            </a:pPr>
            <a:endParaRPr lang="fr-FR" i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2" indent="0" algn="just">
              <a:buNone/>
            </a:pP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6899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IV- Installation de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vérifiant le dossier sur lequel nous avons lancé la commande précédente, nous allons vérifier que le dossier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nomProjet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été créé. Ce dossier va contenir tous ce dont aura besoin pour développer notre projet en particulier les dossiers:</a:t>
            </a:r>
          </a:p>
          <a:p>
            <a:pPr lvl="2" algn="just"/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</a:t>
            </a: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just"/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bootstrap</a:t>
            </a: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</a:t>
            </a:r>
          </a:p>
          <a:p>
            <a:pPr lvl="2" algn="just"/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</a:t>
            </a: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</a:t>
            </a:r>
          </a:p>
          <a:p>
            <a:pPr lvl="2" algn="just"/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resources</a:t>
            </a: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routes</a:t>
            </a:r>
          </a:p>
          <a:p>
            <a:pPr lvl="2" algn="just"/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torage</a:t>
            </a: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tests </a:t>
            </a:r>
          </a:p>
          <a:p>
            <a:pPr lvl="2" algn="just"/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vendors</a:t>
            </a: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just"/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8580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IV- Installation de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 des répertoires racines d’un projet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1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contient le code principal de votre application. Il contient deux répertoires principal http et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Models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répertoire Http :contient les contrôleurs et les middleware. </a:t>
            </a: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répertoire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contient toutes les classes de modèle Eloquent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lvl="1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/config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contient tous les fichiers de configuration de votre application, authentification,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namespace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mails,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 de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données etc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</a:p>
          <a:p>
            <a:pPr lvl="1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contient vos migrations de base de données, les données factices ( faux data) de vos modèles. </a:t>
            </a: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/public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par convention comme pour la majorité des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il s’agit du seul dossier accessible depuis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serveur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où les fichiers sont accessibles depuis votre site (images, feuilles de style et scripts principalement). Contient le fichier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index.php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qui est le point d'entrée pour toutes les demandes entrant dans votre application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 configure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chargement automatique. </a:t>
            </a:r>
          </a:p>
        </p:txBody>
      </p:sp>
    </p:spTree>
    <p:extLst>
      <p:ext uri="{BB962C8B-B14F-4D97-AF65-F5344CB8AC3E}">
        <p14:creationId xmlns:p14="http://schemas.microsoft.com/office/powerpoint/2010/main" val="371077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IV-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Installation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 des répertoires racines d’un projet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1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contient vos vues ainsi que vos fichiers bruts non compilés tels que CSS, SASS ou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JavaScript.</a:t>
            </a:r>
          </a:p>
          <a:p>
            <a:pPr lvl="1"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/routes: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contient toutes les définitions des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URLs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pour votre application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457200" lvl="1" indent="0" algn="just">
              <a:buNone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Par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défaut, 4 fichiers de route sont inclus avec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web.php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api.php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console.php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channels.php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fichier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web.php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contient des routes placés dans le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RouteServiceProvider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(web groupe middleware),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 fournit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l'état de la session, la protection CSRF et le cryptage des cookies.  </a:t>
            </a:r>
          </a:p>
        </p:txBody>
      </p:sp>
    </p:spTree>
    <p:extLst>
      <p:ext uri="{BB962C8B-B14F-4D97-AF65-F5344CB8AC3E}">
        <p14:creationId xmlns:p14="http://schemas.microsoft.com/office/powerpoint/2010/main" val="166744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IV- Installation de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Lancement du serveur:</a:t>
            </a:r>
          </a:p>
          <a:p>
            <a:pPr lvl="1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Pour lancer le serveur, on peut utiliser la commande :</a:t>
            </a:r>
          </a:p>
          <a:p>
            <a:pPr marL="457200" lvl="1" indent="0">
              <a:buNone/>
            </a:pPr>
            <a:r>
              <a:rPr lang="fr-FR" i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php</a:t>
            </a:r>
            <a:r>
              <a:rPr lang="fr-FR" i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artisan serve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dans le navigateur on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tape l’adresse: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http://127.0.0.1:8000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/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obtient la page d’accueil de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fr-FR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884" y="3386367"/>
            <a:ext cx="6573476" cy="320361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632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2817</TotalTime>
  <Words>1236</Words>
  <Application>Microsoft Office PowerPoint</Application>
  <PresentationFormat>Grand écran</PresentationFormat>
  <Paragraphs>115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Thème Office</vt:lpstr>
      <vt:lpstr>CH1-Framework Back-end</vt:lpstr>
      <vt:lpstr>I-Introduction</vt:lpstr>
      <vt:lpstr>I-Introduction</vt:lpstr>
      <vt:lpstr>I-Introduction</vt:lpstr>
      <vt:lpstr>II-Le framework Laravel</vt:lpstr>
      <vt:lpstr>II-Le framework Laravel</vt:lpstr>
      <vt:lpstr>II-Le framework Laravel</vt:lpstr>
      <vt:lpstr>III-L’architecture MVC</vt:lpstr>
      <vt:lpstr>III-L’architecture MVC</vt:lpstr>
      <vt:lpstr>IV- Installation de Laravel</vt:lpstr>
      <vt:lpstr>IV- Installation de Laravel</vt:lpstr>
      <vt:lpstr>IV- Installation de Laravel</vt:lpstr>
      <vt:lpstr>IV- Installation de Laravel</vt:lpstr>
      <vt:lpstr>IV- Installation de Laravel</vt:lpstr>
      <vt:lpstr>IV- Installation de Laravel</vt:lpstr>
      <vt:lpstr>IV- Installation de Laravel</vt:lpstr>
      <vt:lpstr>IV- Installation de Laravel</vt:lpstr>
      <vt:lpstr>IV- Installation de Laravel</vt:lpstr>
      <vt:lpstr>IV- Installation de Laravel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CH1-Framework Back-end</dc:title>
  <dc:creator>NAJ LAM</dc:creator>
  <cp:lastModifiedBy>NAJ LAM</cp:lastModifiedBy>
  <cp:revision>28</cp:revision>
  <dcterms:created xsi:type="dcterms:W3CDTF">2023-02-19T17:43:52Z</dcterms:created>
  <dcterms:modified xsi:type="dcterms:W3CDTF">2023-03-22T09:21:17Z</dcterms:modified>
</cp:coreProperties>
</file>