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2"/>
  </p:notesMasterIdLst>
  <p:sldIdLst>
    <p:sldId id="256" r:id="rId2"/>
    <p:sldId id="258" r:id="rId3"/>
    <p:sldId id="280" r:id="rId4"/>
    <p:sldId id="283" r:id="rId5"/>
    <p:sldId id="261" r:id="rId6"/>
    <p:sldId id="284" r:id="rId7"/>
    <p:sldId id="285" r:id="rId8"/>
    <p:sldId id="286" r:id="rId9"/>
    <p:sldId id="288" r:id="rId10"/>
    <p:sldId id="287" r:id="rId11"/>
    <p:sldId id="289" r:id="rId12"/>
    <p:sldId id="290" r:id="rId13"/>
    <p:sldId id="291" r:id="rId14"/>
    <p:sldId id="293" r:id="rId15"/>
    <p:sldId id="292" r:id="rId16"/>
    <p:sldId id="294" r:id="rId17"/>
    <p:sldId id="295" r:id="rId18"/>
    <p:sldId id="296" r:id="rId19"/>
    <p:sldId id="297" r:id="rId20"/>
    <p:sldId id="298"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10580-2A5A-4E45-925B-CACCF8C0B85F}" type="datetimeFigureOut">
              <a:rPr lang="fr-FR" smtClean="0"/>
              <a:t>04/03/2024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D4D56-1D12-4C59-BE0B-E4F26EDE9652}" type="slidenum">
              <a:rPr lang="fr-FR" smtClean="0"/>
              <a:t>‹N°›</a:t>
            </a:fld>
            <a:endParaRPr lang="fr-FR"/>
          </a:p>
        </p:txBody>
      </p:sp>
    </p:spTree>
    <p:extLst>
      <p:ext uri="{BB962C8B-B14F-4D97-AF65-F5344CB8AC3E}">
        <p14:creationId xmlns:p14="http://schemas.microsoft.com/office/powerpoint/2010/main" val="428751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97590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59786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3252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7BF7099-A69C-40A7-961E-56EC432041D2}" type="datetimeFigureOut">
              <a:rPr lang="fr-FR" smtClean="0"/>
              <a:t>04/03/2024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79222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7BF7099-A69C-40A7-961E-56EC432041D2}" type="datetimeFigureOut">
              <a:rPr lang="fr-FR" smtClean="0"/>
              <a:t>04/03/2024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4645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7BF7099-A69C-40A7-961E-56EC432041D2}" type="datetimeFigureOut">
              <a:rPr lang="fr-FR" smtClean="0"/>
              <a:t>04/03/2024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230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BF7099-A69C-40A7-961E-56EC432041D2}" type="datetimeFigureOut">
              <a:rPr lang="fr-FR" smtClean="0"/>
              <a:t>04/03/2024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158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04/03/2024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25709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04/03/2024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6533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16703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7782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F7099-A69C-40A7-961E-56EC432041D2}" type="datetimeFigureOut">
              <a:rPr lang="fr-FR" smtClean="0"/>
              <a:t>04/03/2024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51CD-4CEC-42A2-944E-03DCAE8EDECC}" type="slidenum">
              <a:rPr lang="fr-FR" smtClean="0"/>
              <a:t>‹N°›</a:t>
            </a:fld>
            <a:endParaRPr lang="fr-FR"/>
          </a:p>
        </p:txBody>
      </p:sp>
    </p:spTree>
    <p:extLst>
      <p:ext uri="{BB962C8B-B14F-4D97-AF65-F5344CB8AC3E}">
        <p14:creationId xmlns:p14="http://schemas.microsoft.com/office/powerpoint/2010/main" val="110272686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a:effectLst>
                  <a:outerShdw blurRad="38100" dist="38100" dir="2700000" algn="tl">
                    <a:srgbClr val="000000">
                      <a:alpha val="43137"/>
                    </a:srgbClr>
                  </a:outerShdw>
                </a:effectLst>
              </a:rPr>
              <a:t>CH5-Les </a:t>
            </a:r>
            <a:r>
              <a:rPr lang="fr-FR" b="1" dirty="0">
                <a:effectLst>
                  <a:outerShdw blurRad="38100" dist="38100" dir="2700000" algn="tl">
                    <a:srgbClr val="000000">
                      <a:alpha val="43137"/>
                    </a:srgbClr>
                  </a:outerShdw>
                </a:effectLst>
              </a:rPr>
              <a:t>modèles</a:t>
            </a:r>
          </a:p>
        </p:txBody>
      </p:sp>
      <p:sp>
        <p:nvSpPr>
          <p:cNvPr id="3" name="Sous-titre 2"/>
          <p:cNvSpPr>
            <a:spLocks noGrp="1"/>
          </p:cNvSpPr>
          <p:nvPr>
            <p:ph type="subTitle" idx="1"/>
          </p:nvPr>
        </p:nvSpPr>
        <p:spPr/>
        <p:txBody>
          <a:bodyPr/>
          <a:lstStyle/>
          <a:p>
            <a:r>
              <a:rPr lang="fr-FR" dirty="0">
                <a:effectLst>
                  <a:outerShdw blurRad="38100" dist="38100" dir="2700000" algn="tl">
                    <a:srgbClr val="000000">
                      <a:alpha val="43137"/>
                    </a:srgbClr>
                  </a:outerShdw>
                </a:effectLst>
              </a:rPr>
              <a:t>Développement back-end</a:t>
            </a:r>
          </a:p>
        </p:txBody>
      </p:sp>
    </p:spTree>
    <p:extLst>
      <p:ext uri="{BB962C8B-B14F-4D97-AF65-F5344CB8AC3E}">
        <p14:creationId xmlns:p14="http://schemas.microsoft.com/office/powerpoint/2010/main" val="325840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Configuration initiale</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gérer les bases de type  MySQL,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Postgres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SQLite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SQL Server.</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 faut indiquer où se trouve votre base, son nom, le nom de l’utilisateur, le mot de passe dans le fichier de configuration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env</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DB_CONNECTION=</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mysql</a:t>
            </a:r>
            <a:r>
              <a:rPr lang="fr-FR" sz="2800" i="1" dirty="0">
                <a:solidFill>
                  <a:schemeClr val="accent1">
                    <a:lumMod val="50000"/>
                  </a:schemeClr>
                </a:solidFill>
                <a:latin typeface="Times New Roman" panose="02020603050405020304" pitchFamily="18" charset="0"/>
                <a:cs typeface="Times New Roman" panose="02020603050405020304" pitchFamily="18" charset="0"/>
              </a:rPr>
              <a:t> </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DB_HOST=127.0.0.1 </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DB_PORT=3306 </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DB_DATABASE=</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laravel</a:t>
            </a:r>
            <a:r>
              <a:rPr lang="fr-FR" sz="2800" i="1" dirty="0">
                <a:solidFill>
                  <a:schemeClr val="accent1">
                    <a:lumMod val="50000"/>
                  </a:schemeClr>
                </a:solidFill>
                <a:latin typeface="Times New Roman" panose="02020603050405020304" pitchFamily="18" charset="0"/>
                <a:cs typeface="Times New Roman" panose="02020603050405020304" pitchFamily="18" charset="0"/>
              </a:rPr>
              <a:t> </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DB_USERNAME=</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root</a:t>
            </a:r>
            <a:r>
              <a:rPr lang="fr-FR" sz="2800" i="1" dirty="0">
                <a:solidFill>
                  <a:schemeClr val="accent1">
                    <a:lumMod val="50000"/>
                  </a:schemeClr>
                </a:solidFill>
                <a:latin typeface="Times New Roman" panose="02020603050405020304" pitchFamily="18" charset="0"/>
                <a:cs typeface="Times New Roman" panose="02020603050405020304" pitchFamily="18" charset="0"/>
              </a:rPr>
              <a:t> </a:t>
            </a:r>
          </a:p>
          <a:p>
            <a:pPr marL="457200" lvl="1" indent="0">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DB_PASSWORD=…</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374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Configuration initiale</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Ici nous avons les valeurs par défaut à l’installation 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 faudra évidemment modifier ces valeurs selon votre contexte de développement et définir surtout le nom de la base, le nom de l’utilisateur et le mot de passe.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une installation de MySQL en local en général l’utilisateur est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root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on n’a pas de mot de passe.</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957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Chaque table de base de données a un modèle correspondant qui est utilisé pour interagir avec cette table.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modèles vous permettent de rechercher des données dans vos tables, ainsi que d’insérer de nouveaux enregistrements dans la table.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construire  un modèle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modèle créé est ajouté dans le dossier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l’application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s’agit pour l’instant d’une classe sans méthodes ni propriétés propres qui hérite de la classe Model.</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modèles sont des classes qui héritent de la classe Model. Ils représentent les entités du site. Ils sont enregistrés dans le dossier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gn="just"/>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937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Contenu de la classe model:</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en-US" sz="2600" i="1" dirty="0">
                <a:solidFill>
                  <a:schemeClr val="accent1">
                    <a:lumMod val="50000"/>
                  </a:schemeClr>
                </a:solidFill>
                <a:latin typeface="Times New Roman" panose="02020603050405020304" pitchFamily="18" charset="0"/>
                <a:cs typeface="Times New Roman" panose="02020603050405020304" pitchFamily="18" charset="0"/>
              </a:rPr>
              <a:t>class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extends Model</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use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HasFactory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fr-F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Nom de la table: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 convention le nom du Model est le singulier du nom de la table qui lui correspond dans la BD. Si le nom de la table est différent, il faut le spécifier dans le model : </a:t>
            </a:r>
          </a:p>
          <a:p>
            <a:pPr marL="0" lvl="2" indent="0" algn="just">
              <a:spcBef>
                <a:spcPts val="1000"/>
              </a:spcBef>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$table=‘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t_eleves</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5229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Contenu de la classe model:</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en-US" sz="2600" i="1" dirty="0">
                <a:solidFill>
                  <a:schemeClr val="accent1">
                    <a:lumMod val="50000"/>
                  </a:schemeClr>
                </a:solidFill>
                <a:latin typeface="Times New Roman" panose="02020603050405020304" pitchFamily="18" charset="0"/>
                <a:cs typeface="Times New Roman" panose="02020603050405020304" pitchFamily="18" charset="0"/>
              </a:rPr>
              <a:t>class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extends Model</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use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HasFactory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$table=‘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t_eleves</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fr-F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Clé primaire: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 convention chaque table possède une colonne de clé primaire appelée id. Vous pouvez définir une propriété </a:t>
            </a:r>
            <a:r>
              <a:rPr lang="fr-FR" sz="2600" i="1" dirty="0">
                <a:solidFill>
                  <a:schemeClr val="accent1">
                    <a:lumMod val="50000"/>
                  </a:schemeClr>
                </a:solidFill>
                <a:latin typeface="Times New Roman" panose="02020603050405020304" pitchFamily="18" charset="0"/>
                <a:cs typeface="Times New Roman" panose="02020603050405020304" pitchFamily="18" charset="0"/>
              </a:rPr>
              <a:t>$</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primaryKey</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remplacer cette convention : </a:t>
            </a:r>
          </a:p>
          <a:p>
            <a:pPr marL="0" lvl="2" indent="0" algn="just">
              <a:spcBef>
                <a:spcPts val="1000"/>
              </a:spcBef>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primaryKey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code_elv</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508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92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Contenu de la classe model:</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en-US" sz="2600" i="1" dirty="0">
                <a:solidFill>
                  <a:schemeClr val="accent1">
                    <a:lumMod val="50000"/>
                  </a:schemeClr>
                </a:solidFill>
                <a:latin typeface="Times New Roman" panose="02020603050405020304" pitchFamily="18" charset="0"/>
                <a:cs typeface="Times New Roman" panose="02020603050405020304" pitchFamily="18" charset="0"/>
              </a:rPr>
              <a:t>class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extends Model</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use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HasFactory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$table=‘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t_eleves</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fr-F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Type et incrémentation: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 convention la clé primaire est une valeur entière incrémentée, ce qui signifie que, par défaut, la clé primaire sera automatiquement convertie en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 vous souhaitez utiliser une clé primaire non incrémentée ou non numérique, vous devez définir la propriété publique : </a:t>
            </a:r>
          </a:p>
          <a:p>
            <a:pPr marL="0" lvl="2" indent="0" algn="just">
              <a:spcBef>
                <a:spcPts val="1000"/>
              </a:spcBef>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public $incrementing=false;</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409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Contenu de la classe model:</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en-US" sz="2600" i="1" dirty="0">
                <a:solidFill>
                  <a:schemeClr val="accent1">
                    <a:lumMod val="50000"/>
                  </a:schemeClr>
                </a:solidFill>
                <a:latin typeface="Times New Roman" panose="02020603050405020304" pitchFamily="18" charset="0"/>
                <a:cs typeface="Times New Roman" panose="02020603050405020304" pitchFamily="18" charset="0"/>
              </a:rPr>
              <a:t>class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extends Model</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use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HasFactory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$table=‘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t_eleves</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public $incrementing=false;</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fr-FR" u="sng"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Timestamps</a:t>
            </a:r>
            <a:r>
              <a:rPr lang="fr-F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 vous ne souhaitez pas que les colonnes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created_at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updated_at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ne soient pas gérées automatiquement par Eloquent, définissez la propriété </a:t>
            </a:r>
            <a:r>
              <a:rPr lang="fr-FR" sz="2600" i="1" dirty="0">
                <a:solidFill>
                  <a:schemeClr val="accent1">
                    <a:lumMod val="50000"/>
                  </a:schemeClr>
                </a:solidFill>
                <a:latin typeface="Times New Roman" panose="02020603050405020304" pitchFamily="18" charset="0"/>
                <a:cs typeface="Times New Roman" panose="02020603050405020304" pitchFamily="18" charset="0"/>
              </a:rPr>
              <a:t>$</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timestamps</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 votre modèle sur false: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a:t>
            </a:r>
          </a:p>
          <a:p>
            <a:pPr algn="just"/>
            <a:r>
              <a:rPr lang="en-US" sz="2600" i="1" dirty="0">
                <a:solidFill>
                  <a:schemeClr val="accent1">
                    <a:lumMod val="50000"/>
                  </a:schemeClr>
                </a:solidFill>
                <a:latin typeface="Times New Roman" panose="02020603050405020304" pitchFamily="18" charset="0"/>
                <a:cs typeface="Times New Roman" panose="02020603050405020304" pitchFamily="18" charset="0"/>
              </a:rPr>
              <a:t>public $timestamps=false;</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77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a:t>
            </a:r>
            <a:r>
              <a:rPr lang="fr-FR" b="1" dirty="0" err="1">
                <a:solidFill>
                  <a:schemeClr val="accent1">
                    <a:lumMod val="50000"/>
                  </a:schemeClr>
                </a:solidFill>
                <a:effectLst>
                  <a:outerShdw blurRad="38100" dist="38100" dir="2700000" algn="tl">
                    <a:srgbClr val="000000">
                      <a:alpha val="43137"/>
                    </a:srgbClr>
                  </a:outerShdw>
                </a:effectLst>
              </a:rPr>
              <a:t>Creation</a:t>
            </a:r>
            <a:r>
              <a:rPr lang="fr-FR" b="1" dirty="0">
                <a:solidFill>
                  <a:schemeClr val="accent1">
                    <a:lumMod val="50000"/>
                  </a:schemeClr>
                </a:solidFill>
                <a:effectLst>
                  <a:outerShdw blurRad="38100" dist="38100" dir="2700000" algn="tl">
                    <a:srgbClr val="000000">
                      <a:alpha val="43137"/>
                    </a:srgbClr>
                  </a:outerShdw>
                </a:effectLst>
              </a:rPr>
              <a:t> de model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Contenu de la classe model:</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make:model</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NomModel</a:t>
            </a:r>
            <a:endParaRPr lang="fr-FR" sz="26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en-US" sz="2600" i="1" dirty="0">
                <a:solidFill>
                  <a:schemeClr val="accent1">
                    <a:lumMod val="50000"/>
                  </a:schemeClr>
                </a:solidFill>
                <a:latin typeface="Times New Roman" panose="02020603050405020304" pitchFamily="18" charset="0"/>
                <a:cs typeface="Times New Roman" panose="02020603050405020304" pitchFamily="18" charset="0"/>
              </a:rPr>
              <a:t>class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600" i="1" dirty="0">
                <a:solidFill>
                  <a:schemeClr val="accent1">
                    <a:lumMod val="50000"/>
                  </a:schemeClr>
                </a:solidFill>
                <a:latin typeface="Times New Roman" panose="02020603050405020304" pitchFamily="18" charset="0"/>
                <a:cs typeface="Times New Roman" panose="02020603050405020304" pitchFamily="18" charset="0"/>
              </a:rPr>
              <a:t> extends Model</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use </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HasFactory</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$fillable=[‘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id’,’nom</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$table=‘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t_eleves</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        public $incrementing=false;</a:t>
            </a:r>
          </a:p>
          <a:p>
            <a:pPr marL="914400" lvl="2" indent="0">
              <a:buNone/>
            </a:pP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fr-FR" u="sng"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Fillable</a:t>
            </a:r>
            <a:r>
              <a:rPr lang="fr-F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pouvoir ajouter ou modifier les enregistrements de la table du modèle, la propriété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fillable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définir les colonnes concernées par ces opérations:</a:t>
            </a:r>
            <a:r>
              <a:rPr lang="en-US" sz="2600" i="1" dirty="0">
                <a:solidFill>
                  <a:schemeClr val="accent1">
                    <a:lumMod val="50000"/>
                  </a:schemeClr>
                </a:solidFill>
                <a:latin typeface="Times New Roman" panose="02020603050405020304" pitchFamily="18" charset="0"/>
                <a:cs typeface="Times New Roman" panose="02020603050405020304" pitchFamily="18" charset="0"/>
              </a:rPr>
              <a:t>	</a:t>
            </a:r>
          </a:p>
          <a:p>
            <a:pPr algn="just"/>
            <a:r>
              <a:rPr lang="en-US" sz="2600" i="1" dirty="0">
                <a:solidFill>
                  <a:schemeClr val="accent1">
                    <a:lumMod val="50000"/>
                  </a:schemeClr>
                </a:solidFill>
                <a:latin typeface="Times New Roman" panose="02020603050405020304" pitchFamily="18" charset="0"/>
                <a:cs typeface="Times New Roman" panose="02020603050405020304" pitchFamily="18" charset="0"/>
              </a:rPr>
              <a:t> protected $fillable=[‘</a:t>
            </a:r>
            <a:r>
              <a:rPr lang="en-US" sz="2600" i="1" dirty="0" err="1">
                <a:solidFill>
                  <a:schemeClr val="accent1">
                    <a:lumMod val="50000"/>
                  </a:schemeClr>
                </a:solidFill>
                <a:latin typeface="Times New Roman" panose="02020603050405020304" pitchFamily="18" charset="0"/>
                <a:cs typeface="Times New Roman" panose="02020603050405020304" pitchFamily="18" charset="0"/>
              </a:rPr>
              <a:t>id’,’nom</a:t>
            </a:r>
            <a:r>
              <a:rPr lang="en-US" sz="2600" i="1" dirty="0">
                <a:solidFill>
                  <a:schemeClr val="accent1">
                    <a:lumMod val="50000"/>
                  </a:schemeClr>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8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Après avoir créée la table eleves avec les colonnes id, nom nous créons le modèle Eleve dans lequel nous désactivons timestamps.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Nous créons un contrôleur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EleveController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contenant les méthodes suivantes: index,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store, show,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edit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update, destroy:</a:t>
            </a:r>
          </a:p>
        </p:txBody>
      </p:sp>
      <p:graphicFrame>
        <p:nvGraphicFramePr>
          <p:cNvPr id="4" name="Tableau 3"/>
          <p:cNvGraphicFramePr>
            <a:graphicFrameLocks noGrp="1"/>
          </p:cNvGraphicFramePr>
          <p:nvPr>
            <p:extLst>
              <p:ext uri="{D42A27DB-BD31-4B8C-83A1-F6EECF244321}">
                <p14:modId xmlns:p14="http://schemas.microsoft.com/office/powerpoint/2010/main" val="3931542855"/>
              </p:ext>
            </p:extLst>
          </p:nvPr>
        </p:nvGraphicFramePr>
        <p:xfrm>
          <a:off x="2316480" y="3635586"/>
          <a:ext cx="8128000" cy="2966720"/>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239206068"/>
                    </a:ext>
                  </a:extLst>
                </a:gridCol>
                <a:gridCol w="2265680">
                  <a:extLst>
                    <a:ext uri="{9D8B030D-6E8A-4147-A177-3AD203B41FA5}">
                      <a16:colId xmlns:a16="http://schemas.microsoft.com/office/drawing/2014/main" val="3904824697"/>
                    </a:ext>
                  </a:extLst>
                </a:gridCol>
                <a:gridCol w="2032000">
                  <a:extLst>
                    <a:ext uri="{9D8B030D-6E8A-4147-A177-3AD203B41FA5}">
                      <a16:colId xmlns:a16="http://schemas.microsoft.com/office/drawing/2014/main" val="3883734126"/>
                    </a:ext>
                  </a:extLst>
                </a:gridCol>
                <a:gridCol w="2032000">
                  <a:extLst>
                    <a:ext uri="{9D8B030D-6E8A-4147-A177-3AD203B41FA5}">
                      <a16:colId xmlns:a16="http://schemas.microsoft.com/office/drawing/2014/main" val="1768545568"/>
                    </a:ext>
                  </a:extLst>
                </a:gridCol>
              </a:tblGrid>
              <a:tr h="370840">
                <a:tc>
                  <a:txBody>
                    <a:bodyPr/>
                    <a:lstStyle/>
                    <a:p>
                      <a:r>
                        <a:rPr lang="fr-FR" dirty="0"/>
                        <a:t>Méthode</a:t>
                      </a:r>
                    </a:p>
                  </a:txBody>
                  <a:tcPr/>
                </a:tc>
                <a:tc>
                  <a:txBody>
                    <a:bodyPr/>
                    <a:lstStyle/>
                    <a:p>
                      <a:r>
                        <a:rPr lang="fr-FR" dirty="0"/>
                        <a:t>URL</a:t>
                      </a:r>
                    </a:p>
                  </a:txBody>
                  <a:tcPr/>
                </a:tc>
                <a:tc>
                  <a:txBody>
                    <a:bodyPr/>
                    <a:lstStyle/>
                    <a:p>
                      <a:r>
                        <a:rPr lang="fr-FR" dirty="0"/>
                        <a:t>Action</a:t>
                      </a:r>
                    </a:p>
                  </a:txBody>
                  <a:tcPr/>
                </a:tc>
                <a:tc>
                  <a:txBody>
                    <a:bodyPr/>
                    <a:lstStyle/>
                    <a:p>
                      <a:r>
                        <a:rPr lang="fr-FR" dirty="0"/>
                        <a:t>Nom de la</a:t>
                      </a:r>
                      <a:r>
                        <a:rPr lang="fr-FR" baseline="0" dirty="0"/>
                        <a:t> route</a:t>
                      </a:r>
                      <a:endParaRPr lang="fr-FR" dirty="0"/>
                    </a:p>
                  </a:txBody>
                  <a:tcPr/>
                </a:tc>
                <a:extLst>
                  <a:ext uri="{0D108BD9-81ED-4DB2-BD59-A6C34878D82A}">
                    <a16:rowId xmlns:a16="http://schemas.microsoft.com/office/drawing/2014/main" val="171011466"/>
                  </a:ext>
                </a:extLst>
              </a:tr>
              <a:tr h="370840">
                <a:tc>
                  <a:txBody>
                    <a:bodyPr/>
                    <a:lstStyle/>
                    <a:p>
                      <a:r>
                        <a:rPr lang="fr-FR" dirty="0"/>
                        <a:t>GET</a:t>
                      </a:r>
                    </a:p>
                  </a:txBody>
                  <a:tcPr/>
                </a:tc>
                <a:tc>
                  <a:txBody>
                    <a:bodyPr/>
                    <a:lstStyle/>
                    <a:p>
                      <a:r>
                        <a:rPr lang="fr-FR" dirty="0"/>
                        <a:t>/</a:t>
                      </a:r>
                      <a:r>
                        <a:rPr lang="fr-FR" dirty="0" err="1"/>
                        <a:t>eleves</a:t>
                      </a:r>
                      <a:endParaRPr lang="fr-FR" dirty="0"/>
                    </a:p>
                  </a:txBody>
                  <a:tcPr/>
                </a:tc>
                <a:tc>
                  <a:txBody>
                    <a:bodyPr/>
                    <a:lstStyle/>
                    <a:p>
                      <a:r>
                        <a:rPr lang="fr-FR" dirty="0"/>
                        <a:t>index</a:t>
                      </a:r>
                    </a:p>
                  </a:txBody>
                  <a:tcPr/>
                </a:tc>
                <a:tc>
                  <a:txBody>
                    <a:bodyPr/>
                    <a:lstStyle/>
                    <a:p>
                      <a:r>
                        <a:rPr lang="fr-FR" dirty="0" err="1"/>
                        <a:t>eleves.index</a:t>
                      </a:r>
                      <a:endParaRPr lang="fr-FR" dirty="0"/>
                    </a:p>
                  </a:txBody>
                  <a:tcPr/>
                </a:tc>
                <a:extLst>
                  <a:ext uri="{0D108BD9-81ED-4DB2-BD59-A6C34878D82A}">
                    <a16:rowId xmlns:a16="http://schemas.microsoft.com/office/drawing/2014/main" val="3186476608"/>
                  </a:ext>
                </a:extLst>
              </a:tr>
              <a:tr h="370840">
                <a:tc>
                  <a:txBody>
                    <a:bodyPr/>
                    <a:lstStyle/>
                    <a:p>
                      <a:r>
                        <a:rPr lang="fr-FR" dirty="0"/>
                        <a:t>GET</a:t>
                      </a:r>
                    </a:p>
                  </a:txBody>
                  <a:tcPr/>
                </a:tc>
                <a:tc>
                  <a:txBody>
                    <a:bodyPr/>
                    <a:lstStyle/>
                    <a:p>
                      <a:r>
                        <a:rPr lang="fr-FR" dirty="0"/>
                        <a:t>/</a:t>
                      </a:r>
                      <a:r>
                        <a:rPr lang="fr-FR" dirty="0" err="1"/>
                        <a:t>eleves</a:t>
                      </a:r>
                      <a:r>
                        <a:rPr lang="fr-FR" dirty="0"/>
                        <a:t>/</a:t>
                      </a:r>
                      <a:r>
                        <a:rPr lang="fr-FR" dirty="0" err="1"/>
                        <a:t>create</a:t>
                      </a:r>
                      <a:endParaRPr lang="fr-FR" dirty="0"/>
                    </a:p>
                  </a:txBody>
                  <a:tcPr/>
                </a:tc>
                <a:tc>
                  <a:txBody>
                    <a:bodyPr/>
                    <a:lstStyle/>
                    <a:p>
                      <a:r>
                        <a:rPr lang="fr-FR" dirty="0" err="1"/>
                        <a:t>create</a:t>
                      </a:r>
                      <a:endParaRPr lang="fr-FR" dirty="0"/>
                    </a:p>
                  </a:txBody>
                  <a:tcPr/>
                </a:tc>
                <a:tc>
                  <a:txBody>
                    <a:bodyPr/>
                    <a:lstStyle/>
                    <a:p>
                      <a:r>
                        <a:rPr lang="fr-FR" dirty="0" err="1"/>
                        <a:t>eleves.create</a:t>
                      </a:r>
                      <a:endParaRPr lang="fr-FR" dirty="0"/>
                    </a:p>
                  </a:txBody>
                  <a:tcPr/>
                </a:tc>
                <a:extLst>
                  <a:ext uri="{0D108BD9-81ED-4DB2-BD59-A6C34878D82A}">
                    <a16:rowId xmlns:a16="http://schemas.microsoft.com/office/drawing/2014/main" val="182386394"/>
                  </a:ext>
                </a:extLst>
              </a:tr>
              <a:tr h="370840">
                <a:tc>
                  <a:txBody>
                    <a:bodyPr/>
                    <a:lstStyle/>
                    <a:p>
                      <a:r>
                        <a:rPr lang="fr-FR" dirty="0"/>
                        <a:t>POST</a:t>
                      </a:r>
                    </a:p>
                  </a:txBody>
                  <a:tcPr/>
                </a:tc>
                <a:tc>
                  <a:txBody>
                    <a:bodyPr/>
                    <a:lstStyle/>
                    <a:p>
                      <a:r>
                        <a:rPr lang="fr-FR" dirty="0"/>
                        <a:t>/</a:t>
                      </a:r>
                      <a:r>
                        <a:rPr lang="fr-FR" dirty="0" err="1"/>
                        <a:t>eleves</a:t>
                      </a:r>
                      <a:r>
                        <a:rPr lang="fr-FR" dirty="0"/>
                        <a:t>/store</a:t>
                      </a:r>
                    </a:p>
                  </a:txBody>
                  <a:tcPr/>
                </a:tc>
                <a:tc>
                  <a:txBody>
                    <a:bodyPr/>
                    <a:lstStyle/>
                    <a:p>
                      <a:r>
                        <a:rPr lang="fr-FR" dirty="0"/>
                        <a:t>store</a:t>
                      </a:r>
                    </a:p>
                  </a:txBody>
                  <a:tcPr/>
                </a:tc>
                <a:tc>
                  <a:txBody>
                    <a:bodyPr/>
                    <a:lstStyle/>
                    <a:p>
                      <a:r>
                        <a:rPr lang="fr-FR" dirty="0" err="1"/>
                        <a:t>eleves.store</a:t>
                      </a:r>
                      <a:endParaRPr lang="fr-FR" dirty="0"/>
                    </a:p>
                  </a:txBody>
                  <a:tcPr/>
                </a:tc>
                <a:extLst>
                  <a:ext uri="{0D108BD9-81ED-4DB2-BD59-A6C34878D82A}">
                    <a16:rowId xmlns:a16="http://schemas.microsoft.com/office/drawing/2014/main" val="2965429635"/>
                  </a:ext>
                </a:extLst>
              </a:tr>
              <a:tr h="370840">
                <a:tc>
                  <a:txBody>
                    <a:bodyPr/>
                    <a:lstStyle/>
                    <a:p>
                      <a:r>
                        <a:rPr lang="fr-FR" dirty="0"/>
                        <a:t>GET</a:t>
                      </a:r>
                    </a:p>
                  </a:txBody>
                  <a:tcPr/>
                </a:tc>
                <a:tc>
                  <a:txBody>
                    <a:bodyPr/>
                    <a:lstStyle/>
                    <a:p>
                      <a:r>
                        <a:rPr lang="fr-FR" dirty="0"/>
                        <a:t>/</a:t>
                      </a:r>
                      <a:r>
                        <a:rPr lang="fr-FR" dirty="0" err="1"/>
                        <a:t>eleves</a:t>
                      </a:r>
                      <a:r>
                        <a:rPr lang="fr-FR" dirty="0"/>
                        <a:t>/</a:t>
                      </a:r>
                      <a:r>
                        <a:rPr lang="fr-FR" baseline="0" dirty="0"/>
                        <a:t>{id}</a:t>
                      </a:r>
                      <a:endParaRPr lang="fr-FR" dirty="0"/>
                    </a:p>
                  </a:txBody>
                  <a:tcPr/>
                </a:tc>
                <a:tc>
                  <a:txBody>
                    <a:bodyPr/>
                    <a:lstStyle/>
                    <a:p>
                      <a:r>
                        <a:rPr lang="fr-FR" dirty="0"/>
                        <a:t>show</a:t>
                      </a:r>
                    </a:p>
                  </a:txBody>
                  <a:tcPr/>
                </a:tc>
                <a:tc>
                  <a:txBody>
                    <a:bodyPr/>
                    <a:lstStyle/>
                    <a:p>
                      <a:r>
                        <a:rPr lang="fr-FR" dirty="0" err="1"/>
                        <a:t>eleves.show</a:t>
                      </a:r>
                      <a:endParaRPr lang="fr-FR" dirty="0"/>
                    </a:p>
                  </a:txBody>
                  <a:tcPr/>
                </a:tc>
                <a:extLst>
                  <a:ext uri="{0D108BD9-81ED-4DB2-BD59-A6C34878D82A}">
                    <a16:rowId xmlns:a16="http://schemas.microsoft.com/office/drawing/2014/main" val="3268194741"/>
                  </a:ext>
                </a:extLst>
              </a:tr>
              <a:tr h="370840">
                <a:tc>
                  <a:txBody>
                    <a:bodyPr/>
                    <a:lstStyle/>
                    <a:p>
                      <a:r>
                        <a:rPr lang="fr-FR" dirty="0"/>
                        <a:t>GET</a:t>
                      </a:r>
                    </a:p>
                  </a:txBody>
                  <a:tcPr/>
                </a:tc>
                <a:tc>
                  <a:txBody>
                    <a:bodyPr/>
                    <a:lstStyle/>
                    <a:p>
                      <a:r>
                        <a:rPr lang="fr-FR" dirty="0"/>
                        <a:t>/</a:t>
                      </a:r>
                      <a:r>
                        <a:rPr lang="fr-FR" dirty="0" err="1"/>
                        <a:t>eleves</a:t>
                      </a:r>
                      <a:r>
                        <a:rPr lang="fr-FR" dirty="0"/>
                        <a:t>/{id}/</a:t>
                      </a:r>
                      <a:r>
                        <a:rPr lang="fr-FR" dirty="0" err="1"/>
                        <a:t>edit</a:t>
                      </a:r>
                      <a:endParaRPr lang="fr-FR" dirty="0"/>
                    </a:p>
                  </a:txBody>
                  <a:tcPr/>
                </a:tc>
                <a:tc>
                  <a:txBody>
                    <a:bodyPr/>
                    <a:lstStyle/>
                    <a:p>
                      <a:r>
                        <a:rPr lang="fr-FR" dirty="0" err="1"/>
                        <a:t>edit</a:t>
                      </a:r>
                      <a:endParaRPr lang="fr-FR" dirty="0"/>
                    </a:p>
                  </a:txBody>
                  <a:tcPr/>
                </a:tc>
                <a:tc>
                  <a:txBody>
                    <a:bodyPr/>
                    <a:lstStyle/>
                    <a:p>
                      <a:r>
                        <a:rPr lang="fr-FR" dirty="0" err="1"/>
                        <a:t>eleves.edit</a:t>
                      </a:r>
                      <a:endParaRPr lang="fr-FR" dirty="0"/>
                    </a:p>
                  </a:txBody>
                  <a:tcPr/>
                </a:tc>
                <a:extLst>
                  <a:ext uri="{0D108BD9-81ED-4DB2-BD59-A6C34878D82A}">
                    <a16:rowId xmlns:a16="http://schemas.microsoft.com/office/drawing/2014/main" val="493291260"/>
                  </a:ext>
                </a:extLst>
              </a:tr>
              <a:tr h="370840">
                <a:tc>
                  <a:txBody>
                    <a:bodyPr/>
                    <a:lstStyle/>
                    <a:p>
                      <a:r>
                        <a:rPr lang="fr-FR" dirty="0"/>
                        <a:t>PUT</a:t>
                      </a:r>
                    </a:p>
                  </a:txBody>
                  <a:tcPr/>
                </a:tc>
                <a:tc>
                  <a:txBody>
                    <a:bodyPr/>
                    <a:lstStyle/>
                    <a:p>
                      <a:r>
                        <a:rPr lang="fr-FR" dirty="0"/>
                        <a:t>/</a:t>
                      </a:r>
                      <a:r>
                        <a:rPr lang="fr-FR" dirty="0" err="1"/>
                        <a:t>eleves</a:t>
                      </a:r>
                      <a:r>
                        <a:rPr lang="fr-FR" dirty="0"/>
                        <a:t>/{id}/update</a:t>
                      </a:r>
                    </a:p>
                  </a:txBody>
                  <a:tcPr/>
                </a:tc>
                <a:tc>
                  <a:txBody>
                    <a:bodyPr/>
                    <a:lstStyle/>
                    <a:p>
                      <a:r>
                        <a:rPr lang="fr-FR" dirty="0"/>
                        <a:t>update</a:t>
                      </a:r>
                    </a:p>
                  </a:txBody>
                  <a:tcPr/>
                </a:tc>
                <a:tc>
                  <a:txBody>
                    <a:bodyPr/>
                    <a:lstStyle/>
                    <a:p>
                      <a:r>
                        <a:rPr lang="fr-FR" dirty="0" err="1"/>
                        <a:t>eleves.update</a:t>
                      </a:r>
                      <a:endParaRPr lang="fr-FR" dirty="0"/>
                    </a:p>
                  </a:txBody>
                  <a:tcPr/>
                </a:tc>
                <a:extLst>
                  <a:ext uri="{0D108BD9-81ED-4DB2-BD59-A6C34878D82A}">
                    <a16:rowId xmlns:a16="http://schemas.microsoft.com/office/drawing/2014/main" val="727726058"/>
                  </a:ext>
                </a:extLst>
              </a:tr>
              <a:tr h="370840">
                <a:tc>
                  <a:txBody>
                    <a:bodyPr/>
                    <a:lstStyle/>
                    <a:p>
                      <a:r>
                        <a:rPr lang="fr-FR" dirty="0"/>
                        <a:t>DELETE</a:t>
                      </a:r>
                    </a:p>
                  </a:txBody>
                  <a:tcPr/>
                </a:tc>
                <a:tc>
                  <a:txBody>
                    <a:bodyPr/>
                    <a:lstStyle/>
                    <a:p>
                      <a:r>
                        <a:rPr lang="fr-FR" dirty="0"/>
                        <a:t>/</a:t>
                      </a:r>
                      <a:r>
                        <a:rPr lang="fr-FR" dirty="0" err="1"/>
                        <a:t>eleves</a:t>
                      </a:r>
                      <a:r>
                        <a:rPr lang="fr-FR" dirty="0"/>
                        <a:t>/{id}/destroy</a:t>
                      </a:r>
                    </a:p>
                  </a:txBody>
                  <a:tcPr/>
                </a:tc>
                <a:tc>
                  <a:txBody>
                    <a:bodyPr/>
                    <a:lstStyle/>
                    <a:p>
                      <a:r>
                        <a:rPr lang="fr-FR" dirty="0"/>
                        <a:t>destroy</a:t>
                      </a:r>
                    </a:p>
                  </a:txBody>
                  <a:tcPr/>
                </a:tc>
                <a:tc>
                  <a:txBody>
                    <a:bodyPr/>
                    <a:lstStyle/>
                    <a:p>
                      <a:r>
                        <a:rPr lang="fr-FR" dirty="0" err="1"/>
                        <a:t>eleves.destroy</a:t>
                      </a:r>
                      <a:endParaRPr lang="fr-FR" dirty="0"/>
                    </a:p>
                  </a:txBody>
                  <a:tcPr/>
                </a:tc>
                <a:extLst>
                  <a:ext uri="{0D108BD9-81ED-4DB2-BD59-A6C34878D82A}">
                    <a16:rowId xmlns:a16="http://schemas.microsoft.com/office/drawing/2014/main" val="3003820705"/>
                  </a:ext>
                </a:extLst>
              </a:tr>
            </a:tbl>
          </a:graphicData>
        </a:graphic>
      </p:graphicFrame>
    </p:spTree>
    <p:extLst>
      <p:ext uri="{BB962C8B-B14F-4D97-AF65-F5344CB8AC3E}">
        <p14:creationId xmlns:p14="http://schemas.microsoft.com/office/powerpoint/2010/main" val="2479891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affiche la vue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create.blade.php</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create()</a:t>
            </a:r>
          </a:p>
          <a:p>
            <a:pPr marL="457200" lvl="1" indent="0">
              <a:lnSpc>
                <a:spcPct val="80000"/>
              </a:lnSpc>
              <a:buNone/>
            </a:pPr>
            <a:r>
              <a:rPr lang="en-US" sz="2000" i="1" dirty="0">
                <a:solidFill>
                  <a:schemeClr val="accent1">
                    <a:lumMod val="50000"/>
                  </a:schemeClr>
                </a:solidFill>
                <a:latin typeface="Times New Roman" panose="02020603050405020304" pitchFamily="18" charset="0"/>
                <a:cs typeface="Times New Roman" panose="02020603050405020304" pitchFamily="18" charset="0"/>
              </a:rPr>
              <a:t>    </a:t>
            </a:r>
            <a:r>
              <a:rPr lang="en-US"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nSpc>
                <a:spcPct val="80000"/>
              </a:lnSpc>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return view("create");</a:t>
            </a:r>
          </a:p>
          <a:p>
            <a:pPr marL="457200" lvl="1" indent="0">
              <a:lnSpc>
                <a:spcPct val="80000"/>
              </a:lnSpc>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affiche un formulaire d’ajout: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&lt;h1&gt;Ajouter un élève&lt;/h1&gt;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action={{route('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eleves.store</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sz="2400" i="1" dirty="0">
                <a:solidFill>
                  <a:schemeClr val="accent1">
                    <a:lumMod val="50000"/>
                  </a:schemeClr>
                </a:solidFill>
                <a:latin typeface="Times New Roman" panose="02020603050405020304" pitchFamily="18" charset="0"/>
                <a:cs typeface="Times New Roman" panose="02020603050405020304" pitchFamily="18" charset="0"/>
              </a:rPr>
              <a:t>="post"&gt;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csrf</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ID:&lt;input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text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tID</a:t>
            </a:r>
            <a:r>
              <a:rPr lang="fr-FR" sz="2400" i="1" dirty="0">
                <a:solidFill>
                  <a:schemeClr val="accent1">
                    <a:lumMod val="50000"/>
                  </a:schemeClr>
                </a:solidFill>
                <a:latin typeface="Times New Roman" panose="02020603050405020304" pitchFamily="18" charset="0"/>
                <a:cs typeface="Times New Roman" panose="02020603050405020304" pitchFamily="18" charset="0"/>
              </a:rPr>
              <a:t>"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Nom:&lt;input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text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tNom</a:t>
            </a:r>
            <a:r>
              <a:rPr lang="fr-FR" sz="2400" i="1" dirty="0">
                <a:solidFill>
                  <a:schemeClr val="accent1">
                    <a:lumMod val="50000"/>
                  </a:schemeClr>
                </a:solidFill>
                <a:latin typeface="Times New Roman" panose="02020603050405020304" pitchFamily="18" charset="0"/>
                <a:cs typeface="Times New Roman" panose="02020603050405020304" pitchFamily="18" charset="0"/>
              </a:rPr>
              <a:t>"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submit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value="Ajouter"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sz="2400" i="1" dirty="0">
                <a:solidFill>
                  <a:schemeClr val="accent1">
                    <a:lumMod val="50000"/>
                  </a:schemeClr>
                </a:solidFill>
                <a:latin typeface="Times New Roman" panose="02020603050405020304" pitchFamily="18" charset="0"/>
                <a:cs typeface="Times New Roman" panose="02020603050405020304" pitchFamily="18" charset="0"/>
              </a:rPr>
              <a:t>&gt;</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015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a:solidFill>
                  <a:schemeClr val="accent1">
                    <a:lumMod val="50000"/>
                  </a:schemeClr>
                </a:solidFill>
                <a:latin typeface="Times New Roman" panose="02020603050405020304" pitchFamily="18" charset="0"/>
                <a:cs typeface="Times New Roman" panose="02020603050405020304" pitchFamily="18" charset="0"/>
              </a:rPr>
              <a:t>store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créer un élève et l’ajouter :</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store(Request $request)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::create([</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'id' =&gt; request('</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tID</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'nom' =&gt; request('</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tNom</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redirect(route('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eleves.index</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15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77468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err="1">
                <a:solidFill>
                  <a:schemeClr val="accent1">
                    <a:lumMod val="50000"/>
                  </a:schemeClr>
                </a:solidFill>
                <a:latin typeface="Times New Roman" panose="02020603050405020304" pitchFamily="18" charset="0"/>
                <a:cs typeface="Times New Roman" panose="02020603050405020304" pitchFamily="18" charset="0"/>
              </a:rPr>
              <a:t>edit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affiche la vue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edit.blade.php</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après avoir recherché l’élève dont l’id est passé en paramètre:</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edit($id)</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::where('id', $id)-&gt;get()-&gt;first();</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if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view('edit', [</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=&gt;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endParaRPr lang="en-US" sz="2400" i="1" dirty="0">
              <a:solidFill>
                <a:schemeClr val="accent1">
                  <a:lumMod val="50000"/>
                </a:schemeClr>
              </a:solidFill>
              <a:latin typeface="Times New Roman" panose="02020603050405020304" pitchFamily="18" charset="0"/>
              <a:cs typeface="Times New Roman" panose="02020603050405020304" pitchFamily="18" charset="0"/>
            </a:endParaRP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Cet</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identifiant</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n'existe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pas!";</a:t>
            </a:r>
          </a:p>
          <a:p>
            <a:pPr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666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4" name="Espace réservé du contenu 2"/>
          <p:cNvSpPr txBox="1">
            <a:spLocks/>
          </p:cNvSpPr>
          <p:nvPr/>
        </p:nvSpPr>
        <p:spPr>
          <a:xfrm>
            <a:off x="640080" y="1906904"/>
            <a:ext cx="11247120" cy="4930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80000"/>
              </a:lnSpc>
              <a:buFont typeface="Arial" panose="020B0604020202020204" pitchFamily="34" charset="0"/>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i="1" dirty="0" err="1">
                <a:solidFill>
                  <a:schemeClr val="accent1">
                    <a:lumMod val="50000"/>
                  </a:schemeClr>
                </a:solidFill>
                <a:latin typeface="Times New Roman" panose="02020603050405020304" pitchFamily="18" charset="0"/>
                <a:cs typeface="Times New Roman" panose="02020603050405020304" pitchFamily="18" charset="0"/>
              </a:rPr>
              <a:t>edit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affiche un formulaire de modification :</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&lt;h1&gt;Modifier un élève&lt;/h1&gt;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action={{route('eleves.update',$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sz="2400" i="1" dirty="0">
                <a:solidFill>
                  <a:schemeClr val="accent1">
                    <a:lumMod val="50000"/>
                  </a:schemeClr>
                </a:solidFill>
                <a:latin typeface="Times New Roman" panose="02020603050405020304" pitchFamily="18" charset="0"/>
                <a:cs typeface="Times New Roman" panose="02020603050405020304" pitchFamily="18" charset="0"/>
              </a:rPr>
              <a:t>-&gt;id)}}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sz="2400" i="1" dirty="0">
                <a:solidFill>
                  <a:schemeClr val="accent1">
                    <a:lumMod val="50000"/>
                  </a:schemeClr>
                </a:solidFill>
                <a:latin typeface="Times New Roman" panose="02020603050405020304" pitchFamily="18" charset="0"/>
                <a:cs typeface="Times New Roman" panose="02020603050405020304" pitchFamily="18" charset="0"/>
              </a:rPr>
              <a:t>='POST'&gt;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sz="2400" i="1" dirty="0">
                <a:solidFill>
                  <a:schemeClr val="accent1">
                    <a:lumMod val="50000"/>
                  </a:schemeClr>
                </a:solidFill>
                <a:latin typeface="Times New Roman" panose="02020603050405020304" pitchFamily="18" charset="0"/>
                <a:cs typeface="Times New Roman" panose="02020603050405020304" pitchFamily="18" charset="0"/>
              </a:rPr>
              <a:t>('PUT')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csrf</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ID:&lt;input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text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tID</a:t>
            </a:r>
            <a:r>
              <a:rPr lang="fr-FR" sz="2400" i="1" dirty="0">
                <a:solidFill>
                  <a:schemeClr val="accent1">
                    <a:lumMod val="50000"/>
                  </a:schemeClr>
                </a:solidFill>
                <a:latin typeface="Times New Roman" panose="02020603050405020304" pitchFamily="18" charset="0"/>
                <a:cs typeface="Times New Roman" panose="02020603050405020304" pitchFamily="18" charset="0"/>
              </a:rPr>
              <a:t>" value={{$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sz="2400" i="1" dirty="0">
                <a:solidFill>
                  <a:schemeClr val="accent1">
                    <a:lumMod val="50000"/>
                  </a:schemeClr>
                </a:solidFill>
                <a:latin typeface="Times New Roman" panose="02020603050405020304" pitchFamily="18" charset="0"/>
                <a:cs typeface="Times New Roman" panose="02020603050405020304" pitchFamily="18" charset="0"/>
              </a:rPr>
              <a:t>-&gt;id}}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readonly</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true</a:t>
            </a:r>
            <a:r>
              <a:rPr lang="fr-FR" sz="2400" i="1" dirty="0">
                <a:solidFill>
                  <a:schemeClr val="accent1">
                    <a:lumMod val="50000"/>
                  </a:schemeClr>
                </a:solidFill>
                <a:latin typeface="Times New Roman" panose="02020603050405020304" pitchFamily="18" charset="0"/>
                <a:cs typeface="Times New Roman" panose="02020603050405020304" pitchFamily="18" charset="0"/>
              </a:rPr>
              <a:t>"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Nom:&lt;input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text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tNom</a:t>
            </a:r>
            <a:r>
              <a:rPr lang="fr-FR" sz="2400" i="1" dirty="0">
                <a:solidFill>
                  <a:schemeClr val="accent1">
                    <a:lumMod val="50000"/>
                  </a:schemeClr>
                </a:solidFill>
                <a:latin typeface="Times New Roman" panose="02020603050405020304" pitchFamily="18" charset="0"/>
                <a:cs typeface="Times New Roman" panose="02020603050405020304" pitchFamily="18" charset="0"/>
              </a:rPr>
              <a:t>" value={{$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sz="2400" i="1" dirty="0">
                <a:solidFill>
                  <a:schemeClr val="accent1">
                    <a:lumMod val="50000"/>
                  </a:schemeClr>
                </a:solidFill>
                <a:latin typeface="Times New Roman" panose="02020603050405020304" pitchFamily="18" charset="0"/>
                <a:cs typeface="Times New Roman" panose="02020603050405020304" pitchFamily="18" charset="0"/>
              </a:rPr>
              <a:t>-&gt;nom}}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&lt;input type="</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submit</a:t>
            </a:r>
            <a:r>
              <a:rPr lang="fr-FR" sz="2400" i="1" dirty="0">
                <a:solidFill>
                  <a:schemeClr val="accent1">
                    <a:lumMod val="50000"/>
                  </a:schemeClr>
                </a:solidFill>
                <a:latin typeface="Times New Roman" panose="02020603050405020304" pitchFamily="18" charset="0"/>
                <a:cs typeface="Times New Roman" panose="02020603050405020304" pitchFamily="18" charset="0"/>
              </a:rPr>
              <a:t>" value="Modifier" /&gt;</a:t>
            </a:r>
          </a:p>
          <a:p>
            <a:pPr indent="0">
              <a:lnSpc>
                <a:spcPct val="8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    &lt;/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sz="2400" i="1" dirty="0">
                <a:solidFill>
                  <a:schemeClr val="accent1">
                    <a:lumMod val="50000"/>
                  </a:schemeClr>
                </a:solidFill>
                <a:latin typeface="Times New Roman" panose="02020603050405020304" pitchFamily="18" charset="0"/>
                <a:cs typeface="Times New Roman" panose="02020603050405020304" pitchFamily="18" charset="0"/>
              </a:rPr>
              <a:t>&gt;</a:t>
            </a:r>
          </a:p>
          <a:p>
            <a:pPr indent="0">
              <a:lnSpc>
                <a:spcPct val="80000"/>
              </a:lnSpc>
              <a:buNone/>
            </a:pPr>
            <a:r>
              <a:rPr lang="fr-F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NB: Les formulaires n’</a:t>
            </a:r>
            <a:r>
              <a:rPr lang="fr-FR"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accepent</a:t>
            </a:r>
            <a:r>
              <a:rPr lang="fr-F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pas les méthodes </a:t>
            </a:r>
            <a:r>
              <a:rPr lang="fr-FR" sz="2400" i="1" dirty="0">
                <a:solidFill>
                  <a:schemeClr val="accent1">
                    <a:lumMod val="50000"/>
                  </a:schemeClr>
                </a:solidFill>
                <a:latin typeface="Times New Roman" panose="02020603050405020304" pitchFamily="18" charset="0"/>
                <a:cs typeface="Times New Roman" panose="02020603050405020304" pitchFamily="18" charset="0"/>
              </a:rPr>
              <a:t>PUT, PATCH et DELETE</a:t>
            </a:r>
            <a:r>
              <a:rPr lang="fr-F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on utilise la directive </a:t>
            </a:r>
            <a:r>
              <a:rPr lang="fr-FR"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sz="2400" i="1" dirty="0">
                <a:solidFill>
                  <a:schemeClr val="accent1">
                    <a:lumMod val="50000"/>
                  </a:schemeClr>
                </a:solidFill>
                <a:latin typeface="Times New Roman" panose="02020603050405020304" pitchFamily="18" charset="0"/>
                <a:cs typeface="Times New Roman" panose="02020603050405020304" pitchFamily="18" charset="0"/>
              </a:rPr>
              <a:t>(‘PUT|PATCH|DELETE’)</a:t>
            </a:r>
            <a:r>
              <a:rPr lang="fr-F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à la place.</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7707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a:solidFill>
                  <a:schemeClr val="accent1">
                    <a:lumMod val="50000"/>
                  </a:schemeClr>
                </a:solidFill>
                <a:latin typeface="Times New Roman" panose="02020603050405020304" pitchFamily="18" charset="0"/>
                <a:cs typeface="Times New Roman" panose="02020603050405020304" pitchFamily="18" charset="0"/>
              </a:rPr>
              <a:t>update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modifier l’élève:</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update(Request $request, $id)</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::where('id', $id)-&gt;get()-&gt;first();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if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-&gt;update(</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['nom' =&gt; request('</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tNom</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redirect(route('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eleves.index</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Cet</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élève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n'existe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pas!";</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5817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a:solidFill>
                  <a:schemeClr val="accent1">
                    <a:lumMod val="50000"/>
                  </a:schemeClr>
                </a:solidFill>
                <a:latin typeface="Times New Roman" panose="02020603050405020304" pitchFamily="18" charset="0"/>
                <a:cs typeface="Times New Roman" panose="02020603050405020304" pitchFamily="18" charset="0"/>
              </a:rPr>
              <a:t>destroy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supprimer l’élève:</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destroy(Request $request, $id)</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::where('id', $id)-&gt;get()-&gt;first();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if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-&gt;delete();</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redirect(route('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eleves.index</a:t>
            </a:r>
            <a:r>
              <a:rPr lang="en-US"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Cet</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identifiant</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n'existe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pas!";</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845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peut ajouter la méthode </a:t>
            </a:r>
            <a:r>
              <a:rPr lang="fr-FR" i="1" dirty="0" err="1">
                <a:solidFill>
                  <a:schemeClr val="accent1">
                    <a:lumMod val="50000"/>
                  </a:schemeClr>
                </a:solidFill>
                <a:latin typeface="Times New Roman" panose="02020603050405020304" pitchFamily="18" charset="0"/>
                <a:cs typeface="Times New Roman" panose="02020603050405020304" pitchFamily="18" charset="0"/>
              </a:rPr>
              <a:t>confirm_delete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permet de confirmer la suppression de l’élève à travers un formulaire :</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public function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confirm_delete</a:t>
            </a:r>
            <a:r>
              <a:rPr lang="en-US" sz="2400" i="1" dirty="0">
                <a:solidFill>
                  <a:schemeClr val="accent1">
                    <a:lumMod val="50000"/>
                  </a:schemeClr>
                </a:solidFill>
                <a:latin typeface="Times New Roman" panose="02020603050405020304" pitchFamily="18" charset="0"/>
                <a:cs typeface="Times New Roman" panose="02020603050405020304" pitchFamily="18" charset="0"/>
              </a:rPr>
              <a:t>($id)</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::where('id', $id)-&gt;get()-&gt;first();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return view('destroy',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 =&gt;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endParaRPr lang="en-US"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8900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i="1" dirty="0" err="1">
                <a:solidFill>
                  <a:schemeClr val="accent1">
                    <a:lumMod val="50000"/>
                  </a:schemeClr>
                </a:solidFill>
                <a:latin typeface="Times New Roman" panose="02020603050405020304" pitchFamily="18" charset="0"/>
                <a:cs typeface="Times New Roman" panose="02020603050405020304" pitchFamily="18" charset="0"/>
              </a:rPr>
              <a:t>destroy.blade.php</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contiendra le formulaire suivant :</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chemeClr val="accent1">
                    <a:lumMod val="50000"/>
                  </a:schemeClr>
                </a:solidFill>
                <a:latin typeface="Times New Roman" panose="02020603050405020304" pitchFamily="18" charset="0"/>
                <a:cs typeface="Times New Roman" panose="02020603050405020304" pitchFamily="18" charset="0"/>
              </a:rPr>
              <a:t>&lt;h1&gt;</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Supprimer</a:t>
            </a:r>
            <a:r>
              <a:rPr lang="en-US" sz="2400" i="1" dirty="0">
                <a:solidFill>
                  <a:schemeClr val="accent1">
                    <a:lumMod val="50000"/>
                  </a:schemeClr>
                </a:solidFill>
                <a:latin typeface="Times New Roman" panose="02020603050405020304" pitchFamily="18" charset="0"/>
                <a:cs typeface="Times New Roman" panose="02020603050405020304" pitchFamily="18" charset="0"/>
              </a:rPr>
              <a:t> un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élève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&lt;/h1&gt;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&lt;form action={{route('eleves.destroy',$</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-&gt;id)}} method='POST'&gt;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@method('DELETE')</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csrf</a:t>
            </a:r>
            <a:endParaRPr lang="en-US"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ID:&lt;input type="text" name="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tID</a:t>
            </a:r>
            <a:r>
              <a:rPr lang="en-US" sz="2400" i="1" dirty="0">
                <a:solidFill>
                  <a:schemeClr val="accent1">
                    <a:lumMod val="50000"/>
                  </a:schemeClr>
                </a:solidFill>
                <a:latin typeface="Times New Roman" panose="02020603050405020304" pitchFamily="18" charset="0"/>
                <a:cs typeface="Times New Roman" panose="02020603050405020304" pitchFamily="18" charset="0"/>
              </a:rPr>
              <a:t>" value={{$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-&gt;id}}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readonly</a:t>
            </a:r>
            <a:r>
              <a:rPr lang="en-US" sz="2400" i="1" dirty="0">
                <a:solidFill>
                  <a:schemeClr val="accent1">
                    <a:lumMod val="50000"/>
                  </a:schemeClr>
                </a:solidFill>
                <a:latin typeface="Times New Roman" panose="02020603050405020304" pitchFamily="18" charset="0"/>
                <a:cs typeface="Times New Roman" panose="02020603050405020304" pitchFamily="18" charset="0"/>
              </a:rPr>
              <a:t>="true" /&gt;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Nom:&lt;input type="text" name="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tNom</a:t>
            </a:r>
            <a:r>
              <a:rPr lang="en-US" sz="2400" i="1" dirty="0">
                <a:solidFill>
                  <a:schemeClr val="accent1">
                    <a:lumMod val="50000"/>
                  </a:schemeClr>
                </a:solidFill>
                <a:latin typeface="Times New Roman" panose="02020603050405020304" pitchFamily="18" charset="0"/>
                <a:cs typeface="Times New Roman" panose="02020603050405020304" pitchFamily="18" charset="0"/>
              </a:rPr>
              <a:t>" value={{$</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eleve</a:t>
            </a:r>
            <a:r>
              <a:rPr lang="en-US" sz="2400" i="1" dirty="0">
                <a:solidFill>
                  <a:schemeClr val="accent1">
                    <a:lumMod val="50000"/>
                  </a:schemeClr>
                </a:solidFill>
                <a:latin typeface="Times New Roman" panose="02020603050405020304" pitchFamily="18" charset="0"/>
                <a:cs typeface="Times New Roman" panose="02020603050405020304" pitchFamily="18" charset="0"/>
              </a:rPr>
              <a:t>-&gt;nom}} </a:t>
            </a:r>
            <a:r>
              <a:rPr lang="en-US" sz="2400" i="1" dirty="0" err="1">
                <a:solidFill>
                  <a:schemeClr val="accent1">
                    <a:lumMod val="50000"/>
                  </a:schemeClr>
                </a:solidFill>
                <a:latin typeface="Times New Roman" panose="02020603050405020304" pitchFamily="18" charset="0"/>
                <a:cs typeface="Times New Roman" panose="02020603050405020304" pitchFamily="18" charset="0"/>
              </a:rPr>
              <a:t>readonly</a:t>
            </a:r>
            <a:r>
              <a:rPr lang="en-US" sz="2400" i="1" dirty="0">
                <a:solidFill>
                  <a:schemeClr val="accent1">
                    <a:lumMod val="50000"/>
                  </a:schemeClr>
                </a:solidFill>
                <a:latin typeface="Times New Roman" panose="02020603050405020304" pitchFamily="18" charset="0"/>
                <a:cs typeface="Times New Roman" panose="02020603050405020304" pitchFamily="18" charset="0"/>
              </a:rPr>
              <a:t>="true" /&gt;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&lt;input type="submit" value="Confirmer" /&gt;</a:t>
            </a:r>
          </a:p>
          <a:p>
            <a:pPr marL="0" indent="0">
              <a:lnSpc>
                <a:spcPct val="80000"/>
              </a:lnSpc>
              <a:buNone/>
            </a:pPr>
            <a:r>
              <a:rPr lang="en-US" sz="2400" i="1" dirty="0">
                <a:solidFill>
                  <a:schemeClr val="accent1">
                    <a:lumMod val="50000"/>
                  </a:schemeClr>
                </a:solidFill>
                <a:latin typeface="Times New Roman" panose="02020603050405020304" pitchFamily="18" charset="0"/>
                <a:cs typeface="Times New Roman" panose="02020603050405020304" pitchFamily="18" charset="0"/>
              </a:rPr>
              <a:t>    &lt;/form&gt;</a:t>
            </a:r>
          </a:p>
          <a:p>
            <a:pPr marL="0" indent="0">
              <a:lnSpc>
                <a:spcPct val="80000"/>
              </a:lnSpc>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NB: Remarquez l’utilisation encore une fois de la directive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i="1" dirty="0">
                <a:solidFill>
                  <a:schemeClr val="accent1">
                    <a:lumMod val="50000"/>
                  </a:schemeClr>
                </a:solidFill>
                <a:latin typeface="Times New Roman" panose="02020603050405020304" pitchFamily="18" charset="0"/>
                <a:cs typeface="Times New Roman" panose="02020603050405020304" pitchFamily="18" charset="0"/>
              </a:rPr>
              <a:t>(‘DELETE’)</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021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i="1" dirty="0" err="1">
                <a:solidFill>
                  <a:schemeClr val="accent1">
                    <a:lumMod val="50000"/>
                  </a:schemeClr>
                </a:solidFill>
                <a:latin typeface="Times New Roman" panose="02020603050405020304" pitchFamily="18" charset="0"/>
                <a:cs typeface="Times New Roman" panose="02020603050405020304" pitchFamily="18" charset="0"/>
              </a:rPr>
              <a:t>index.blade.php</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peut afficher la liste des élèves avec un menu pour faire appel à toutes les opérations, elle peut être contrôlée par la méthode </a:t>
            </a:r>
            <a:r>
              <a:rPr lang="en-US" i="1" dirty="0">
                <a:solidFill>
                  <a:schemeClr val="accent1">
                    <a:lumMod val="50000"/>
                  </a:schemeClr>
                </a:solidFill>
                <a:latin typeface="Times New Roman" panose="02020603050405020304" pitchFamily="18" charset="0"/>
                <a:cs typeface="Times New Roman" panose="02020603050405020304" pitchFamily="18" charset="0"/>
              </a:rPr>
              <a:t>index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du contrôleur </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en-US" sz="2400" i="1" dirty="0">
                <a:solidFill>
                  <a:schemeClr val="accent1">
                    <a:lumMod val="50000"/>
                  </a:schemeClr>
                </a:solidFill>
                <a:latin typeface="Times New Roman" panose="02020603050405020304" pitchFamily="18" charset="0"/>
                <a:cs typeface="Times New Roman" panose="02020603050405020304" pitchFamily="18" charset="0"/>
              </a:rPr>
              <a:t>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i="1" dirty="0">
                <a:solidFill>
                  <a:schemeClr val="accent1">
                    <a:lumMod val="50000"/>
                  </a:schemeClr>
                </a:solidFill>
                <a:latin typeface="Times New Roman" panose="02020603050405020304" pitchFamily="18" charset="0"/>
                <a:cs typeface="Times New Roman" panose="02020603050405020304" pitchFamily="18" charset="0"/>
              </a:rPr>
              <a:t>show</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peut être utilisée pour afficher le détail d’un élève à l’aide d’une vue par exemple.</a:t>
            </a:r>
          </a:p>
        </p:txBody>
      </p:sp>
    </p:spTree>
    <p:extLst>
      <p:ext uri="{BB962C8B-B14F-4D97-AF65-F5344CB8AC3E}">
        <p14:creationId xmlns:p14="http://schemas.microsoft.com/office/powerpoint/2010/main" val="201293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Exemple de CRUD (</a:t>
            </a:r>
            <a:r>
              <a:rPr lang="fr-FR" b="1" dirty="0" err="1">
                <a:solidFill>
                  <a:schemeClr val="accent1">
                    <a:lumMod val="50000"/>
                  </a:schemeClr>
                </a:solidFill>
                <a:effectLst>
                  <a:outerShdw blurRad="38100" dist="38100" dir="2700000" algn="tl">
                    <a:srgbClr val="000000">
                      <a:alpha val="43137"/>
                    </a:srgbClr>
                  </a:outerShdw>
                </a:effectLst>
              </a:rPr>
              <a:t>Create</a:t>
            </a:r>
            <a:r>
              <a:rPr lang="fr-FR" b="1" dirty="0">
                <a:solidFill>
                  <a:schemeClr val="accent1">
                    <a:lumMod val="50000"/>
                  </a:schemeClr>
                </a:solidFill>
                <a:effectLst>
                  <a:outerShdw blurRad="38100" dist="38100" dir="2700000" algn="tl">
                    <a:srgbClr val="000000">
                      <a:alpha val="43137"/>
                    </a:srgbClr>
                  </a:outerShdw>
                </a:effectLst>
              </a:rPr>
              <a:t>, Read, </a:t>
            </a:r>
            <a:r>
              <a:rPr lang="fr-FR" b="1" dirty="0" err="1">
                <a:solidFill>
                  <a:schemeClr val="accent1">
                    <a:lumMod val="50000"/>
                  </a:schemeClr>
                </a:solidFill>
                <a:effectLst>
                  <a:outerShdw blurRad="38100" dist="38100" dir="2700000" algn="tl">
                    <a:srgbClr val="000000">
                      <a:alpha val="43137"/>
                    </a:srgbClr>
                  </a:outerShdw>
                </a:effectLst>
              </a:rPr>
              <a:t>Update,Delete</a:t>
            </a:r>
            <a:r>
              <a:rPr lang="fr-FR" b="1" dirty="0">
                <a:solidFill>
                  <a:schemeClr val="accent1">
                    <a:lumMod val="50000"/>
                  </a:schemeClr>
                </a:solidFill>
                <a:effectLst>
                  <a:outerShdw blurRad="38100" dist="38100" dir="2700000" algn="tl">
                    <a:srgbClr val="000000">
                      <a:alpha val="43137"/>
                    </a:srgbClr>
                  </a:outerShdw>
                </a:effectLst>
              </a:rPr>
              <a:t>) </a:t>
            </a:r>
            <a:r>
              <a:rPr lang="fr-FR" b="1" dirty="0" err="1">
                <a:solidFill>
                  <a:schemeClr val="accent1">
                    <a:lumMod val="50000"/>
                  </a:schemeClr>
                </a:solidFill>
                <a:effectLst>
                  <a:outerShdw blurRad="38100" dist="38100" dir="2700000" algn="tl">
                    <a:srgbClr val="000000">
                      <a:alpha val="43137"/>
                    </a:srgbClr>
                  </a:outerShdw>
                </a:effectLst>
              </a:rPr>
              <a:t>monotable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1188720" y="1825624"/>
            <a:ext cx="998728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routes:</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'index'])-&gt;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eleves.index</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eleves.create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Route::post('/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/store',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'store'])-&gt;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eleves.store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/{id}',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'show'])-&gt;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eleves.show</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/{id}/</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edit</a:t>
            </a:r>
            <a:r>
              <a:rPr lang="fr-FR" sz="2000" i="1" dirty="0">
                <a:solidFill>
                  <a:schemeClr val="accent1">
                    <a:lumMod val="50000"/>
                  </a:schemeClr>
                </a:solidFill>
                <a:latin typeface="Times New Roman" panose="02020603050405020304" pitchFamily="18" charset="0"/>
                <a:cs typeface="Times New Roman" panose="02020603050405020304" pitchFamily="18" charset="0"/>
              </a:rPr>
              <a:t>',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edit</a:t>
            </a:r>
            <a:r>
              <a:rPr lang="fr-FR" sz="2000" i="1" dirty="0">
                <a:solidFill>
                  <a:schemeClr val="accent1">
                    <a:lumMod val="50000"/>
                  </a:schemeClr>
                </a:solidFill>
                <a:latin typeface="Times New Roman" panose="02020603050405020304" pitchFamily="18" charset="0"/>
                <a:cs typeface="Times New Roman" panose="02020603050405020304" pitchFamily="18" charset="0"/>
              </a:rPr>
              <a:t>'])-&gt;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eleves.edit</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Route::put('/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/{id}/update',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'update'])-&gt;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eleves.update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delete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/{id}/destroy',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'destroy'])-&gt;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eleves.destroy</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sz="2000" i="1" dirty="0">
                <a:solidFill>
                  <a:schemeClr val="accent1">
                    <a:lumMod val="50000"/>
                  </a:schemeClr>
                </a:solidFill>
                <a:latin typeface="Times New Roman" panose="02020603050405020304" pitchFamily="18" charset="0"/>
                <a:cs typeface="Times New Roman" panose="02020603050405020304" pitchFamily="18" charset="0"/>
              </a:rPr>
              <a:t>/{id}/</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delete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EleveController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confirm_delete</a:t>
            </a:r>
            <a:r>
              <a:rPr lang="fr-FR" sz="20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000" i="1" dirty="0">
                <a:solidFill>
                  <a:schemeClr val="accent1">
                    <a:lumMod val="50000"/>
                  </a:schemeClr>
                </a:solidFill>
                <a:latin typeface="Times New Roman" panose="02020603050405020304" pitchFamily="18" charset="0"/>
                <a:cs typeface="Times New Roman" panose="02020603050405020304" pitchFamily="18" charset="0"/>
              </a:rPr>
              <a:t>Route::</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sz="2000" i="1" dirty="0">
                <a:solidFill>
                  <a:schemeClr val="accent1">
                    <a:lumMod val="50000"/>
                  </a:schemeClr>
                </a:solidFill>
                <a:latin typeface="Times New Roman" panose="02020603050405020304" pitchFamily="18" charset="0"/>
                <a:cs typeface="Times New Roman" panose="02020603050405020304" pitchFamily="18" charset="0"/>
              </a:rPr>
              <a:t>('/module/store', [</a:t>
            </a:r>
            <a:r>
              <a:rPr lang="fr-FR" sz="2000" i="1" dirty="0" err="1">
                <a:solidFill>
                  <a:schemeClr val="accent1">
                    <a:lumMod val="50000"/>
                  </a:schemeClr>
                </a:solidFill>
                <a:latin typeface="Times New Roman" panose="02020603050405020304" pitchFamily="18" charset="0"/>
                <a:cs typeface="Times New Roman" panose="02020603050405020304" pitchFamily="18" charset="0"/>
              </a:rPr>
              <a:t>ModuleController</a:t>
            </a:r>
            <a:r>
              <a:rPr lang="fr-FR" sz="2000" i="1" dirty="0">
                <a:solidFill>
                  <a:schemeClr val="accent1">
                    <a:lumMod val="50000"/>
                  </a:schemeClr>
                </a:solidFill>
                <a:latin typeface="Times New Roman" panose="02020603050405020304" pitchFamily="18" charset="0"/>
                <a:cs typeface="Times New Roman" panose="02020603050405020304" pitchFamily="18" charset="0"/>
              </a:rPr>
              <a:t>::class, 'store']);</a:t>
            </a:r>
          </a:p>
        </p:txBody>
      </p:sp>
    </p:spTree>
    <p:extLst>
      <p:ext uri="{BB962C8B-B14F-4D97-AF65-F5344CB8AC3E}">
        <p14:creationId xmlns:p14="http://schemas.microsoft.com/office/powerpoint/2010/main" val="31293143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33717</TotalTime>
  <Words>1948</Words>
  <Application>Microsoft Office PowerPoint</Application>
  <PresentationFormat>Grand écran</PresentationFormat>
  <Paragraphs>214</Paragraphs>
  <Slides>20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Arial</vt:lpstr>
      <vt:lpstr>Calibri</vt:lpstr>
      <vt:lpstr>Calibri Light</vt:lpstr>
      <vt:lpstr>Times New Roman</vt:lpstr>
      <vt:lpstr>Thème Office</vt:lpstr>
      <vt:lpstr>CH5-Les modèles</vt:lpstr>
      <vt:lpstr>I- Configuration initiale</vt:lpstr>
      <vt:lpstr>I- Configuration initiale</vt:lpstr>
      <vt:lpstr>II- Creation de model </vt:lpstr>
      <vt:lpstr>II- Creation de model </vt:lpstr>
      <vt:lpstr>II- Creation de model </vt:lpstr>
      <vt:lpstr>II- Creation de model </vt:lpstr>
      <vt:lpstr>II- Creation de model </vt:lpstr>
      <vt:lpstr>II- Creation de model </vt:lpstr>
      <vt:lpstr>III-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lpstr>IV- Exemple de CRUD (Create, Read, Update,Delete) monotable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CH1-Framework Back-end</dc:title>
  <dc:creator>NAJ LAM</dc:creator>
  <cp:lastModifiedBy>NAJ LAM</cp:lastModifiedBy>
  <cp:revision>128</cp:revision>
  <dcterms:created xsi:type="dcterms:W3CDTF">2023-02-19T17:43:52Z</dcterms:created>
  <dcterms:modified xsi:type="dcterms:W3CDTF">2024-03-04T21:16:42Z</dcterms:modified>
</cp:coreProperties>
</file>