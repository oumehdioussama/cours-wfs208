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82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910580-2A5A-4E45-925B-CACCF8C0B85F}" type="datetimeFigureOut">
              <a:rPr lang="fr-FR" smtClean="0"/>
              <a:t>21/02/2024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ED4D56-1D12-4C59-BE0B-E4F26EDE9652}" type="slidenum">
              <a:rPr lang="fr-FR" smtClean="0"/>
              <a:t>‹N°›</a:t>
            </a:fld>
            <a:endParaRPr lang="fr-FR"/>
          </a:p>
        </p:txBody>
      </p:sp>
    </p:spTree>
    <p:extLst>
      <p:ext uri="{BB962C8B-B14F-4D97-AF65-F5344CB8AC3E}">
        <p14:creationId xmlns:p14="http://schemas.microsoft.com/office/powerpoint/2010/main" val="428751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67BF7099-A69C-40A7-961E-56EC432041D2}" type="datetimeFigureOut">
              <a:rPr lang="fr-FR" smtClean="0"/>
              <a:t>21/02/2024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975904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BF7099-A69C-40A7-961E-56EC432041D2}" type="datetimeFigureOut">
              <a:rPr lang="fr-FR" smtClean="0"/>
              <a:t>21/02/2024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3597861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67BF7099-A69C-40A7-961E-56EC432041D2}" type="datetimeFigureOut">
              <a:rPr lang="fr-FR" smtClean="0"/>
              <a:t>21/02/2024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132520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7BF7099-A69C-40A7-961E-56EC432041D2}" type="datetimeFigureOut">
              <a:rPr lang="fr-FR" smtClean="0"/>
              <a:t>21/02/2024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2792224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7BF7099-A69C-40A7-961E-56EC432041D2}" type="datetimeFigureOut">
              <a:rPr lang="fr-FR" smtClean="0"/>
              <a:t>21/02/2024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24645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7BF7099-A69C-40A7-961E-56EC432041D2}" type="datetimeFigureOut">
              <a:rPr lang="fr-FR" smtClean="0"/>
              <a:t>21/02/2024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3230939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7BF7099-A69C-40A7-961E-56EC432041D2}" type="datetimeFigureOut">
              <a:rPr lang="fr-FR" smtClean="0"/>
              <a:t>21/02/2024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4158727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67BF7099-A69C-40A7-961E-56EC432041D2}" type="datetimeFigureOut">
              <a:rPr lang="fr-FR" smtClean="0"/>
              <a:t>21/02/2024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4257094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67BF7099-A69C-40A7-961E-56EC432041D2}" type="datetimeFigureOut">
              <a:rPr lang="fr-FR" smtClean="0"/>
              <a:t>21/02/2024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1653361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BF7099-A69C-40A7-961E-56EC432041D2}" type="datetimeFigureOut">
              <a:rPr lang="fr-FR" smtClean="0"/>
              <a:t>21/02/2024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2167032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BF7099-A69C-40A7-961E-56EC432041D2}" type="datetimeFigureOut">
              <a:rPr lang="fr-FR" smtClean="0"/>
              <a:t>21/02/2024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177822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BF7099-A69C-40A7-961E-56EC432041D2}" type="datetimeFigureOut">
              <a:rPr lang="fr-FR" smtClean="0"/>
              <a:t>21/02/2024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0E51CD-4CEC-42A2-944E-03DCAE8EDECC}" type="slidenum">
              <a:rPr lang="fr-FR" smtClean="0"/>
              <a:t>‹N°›</a:t>
            </a:fld>
            <a:endParaRPr lang="fr-FR"/>
          </a:p>
        </p:txBody>
      </p:sp>
    </p:spTree>
    <p:extLst>
      <p:ext uri="{BB962C8B-B14F-4D97-AF65-F5344CB8AC3E}">
        <p14:creationId xmlns:p14="http://schemas.microsoft.com/office/powerpoint/2010/main" val="110272686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b="1">
                <a:effectLst>
                  <a:outerShdw blurRad="38100" dist="38100" dir="2700000" algn="tl">
                    <a:srgbClr val="000000">
                      <a:alpha val="43137"/>
                    </a:srgbClr>
                  </a:outerShdw>
                </a:effectLst>
              </a:rPr>
              <a:t>CH4-Les </a:t>
            </a:r>
            <a:r>
              <a:rPr lang="fr-FR" b="1" dirty="0">
                <a:effectLst>
                  <a:outerShdw blurRad="38100" dist="38100" dir="2700000" algn="tl">
                    <a:srgbClr val="000000">
                      <a:alpha val="43137"/>
                    </a:srgbClr>
                  </a:outerShdw>
                </a:effectLst>
              </a:rPr>
              <a:t>vues</a:t>
            </a:r>
          </a:p>
        </p:txBody>
      </p:sp>
      <p:sp>
        <p:nvSpPr>
          <p:cNvPr id="3" name="Sous-titre 2"/>
          <p:cNvSpPr>
            <a:spLocks noGrp="1"/>
          </p:cNvSpPr>
          <p:nvPr>
            <p:ph type="subTitle" idx="1"/>
          </p:nvPr>
        </p:nvSpPr>
        <p:spPr/>
        <p:txBody>
          <a:bodyPr/>
          <a:lstStyle/>
          <a:p>
            <a:r>
              <a:rPr lang="fr-FR" dirty="0">
                <a:effectLst>
                  <a:outerShdw blurRad="38100" dist="38100" dir="2700000" algn="tl">
                    <a:srgbClr val="000000">
                      <a:alpha val="43137"/>
                    </a:srgbClr>
                  </a:outerShdw>
                </a:effectLst>
              </a:rPr>
              <a:t>Développement back-end</a:t>
            </a:r>
          </a:p>
        </p:txBody>
      </p:sp>
    </p:spTree>
    <p:extLst>
      <p:ext uri="{BB962C8B-B14F-4D97-AF65-F5344CB8AC3E}">
        <p14:creationId xmlns:p14="http://schemas.microsoft.com/office/powerpoint/2010/main" val="3258402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Définition</a:t>
            </a:r>
          </a:p>
        </p:txBody>
      </p:sp>
      <p:sp>
        <p:nvSpPr>
          <p:cNvPr id="3" name="Espace réservé du contenu 2"/>
          <p:cNvSpPr>
            <a:spLocks noGrp="1"/>
          </p:cNvSpPr>
          <p:nvPr>
            <p:ph idx="1"/>
          </p:nvPr>
        </p:nvSpPr>
        <p:spPr/>
        <p:txBody>
          <a:bodyPr>
            <a:normAutofit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vues offrent un moyen pratique de placer tout notre code HTML dans des fichiers séparés. Les vues séparent la logique de votre contrôleur d’application avec votre logique de présentation et sont stockées dans le répertoire </a:t>
            </a:r>
            <a:r>
              <a:rPr lang="fr-FR" i="1" dirty="0" err="1">
                <a:solidFill>
                  <a:schemeClr val="accent1">
                    <a:lumMod val="50000"/>
                  </a:schemeClr>
                </a:solidFill>
                <a:latin typeface="Times New Roman" panose="02020603050405020304" pitchFamily="18" charset="0"/>
                <a:cs typeface="Times New Roman" panose="02020603050405020304" pitchFamily="18" charset="0"/>
              </a:rPr>
              <a:t>resources</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views</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Exemple: </a:t>
            </a:r>
            <a:r>
              <a:rPr lang="fr-FR" i="1" dirty="0" err="1">
                <a:solidFill>
                  <a:schemeClr val="accent1">
                    <a:lumMod val="50000"/>
                  </a:schemeClr>
                </a:solidFill>
                <a:latin typeface="Times New Roman" panose="02020603050405020304" pitchFamily="18" charset="0"/>
                <a:cs typeface="Times New Roman" panose="02020603050405020304" pitchFamily="18" charset="0"/>
              </a:rPr>
              <a:t>resources</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views</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accueil.blade.php</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&lt;html&gt;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&lt;body&gt;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&lt;h1&gt;Bonjour {{$nom}}&lt;/h1&gt;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&lt;body&gt;	</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&lt;/html&gt;</a:t>
            </a:r>
          </a:p>
        </p:txBody>
      </p:sp>
    </p:spTree>
    <p:extLst>
      <p:ext uri="{BB962C8B-B14F-4D97-AF65-F5344CB8AC3E}">
        <p14:creationId xmlns:p14="http://schemas.microsoft.com/office/powerpoint/2010/main" val="2300802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Création d’une vue	</a:t>
            </a:r>
          </a:p>
        </p:txBody>
      </p:sp>
      <p:sp>
        <p:nvSpPr>
          <p:cNvPr id="3" name="Espace réservé du contenu 2"/>
          <p:cNvSpPr>
            <a:spLocks noGrp="1"/>
          </p:cNvSpPr>
          <p:nvPr>
            <p:ph idx="1"/>
          </p:nvPr>
        </p:nvSpPr>
        <p:spPr>
          <a:xfrm>
            <a:off x="838200" y="1825624"/>
            <a:ext cx="10515600" cy="4930775"/>
          </a:xfrm>
        </p:spPr>
        <p:txBody>
          <a:bodyPr>
            <a:normAutofit fontScale="92500"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Vous pouvez créer une vue en plaçant un fichier avec l'extension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blade.php</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dans le répertoire </a:t>
            </a:r>
            <a:r>
              <a:rPr lang="fr-FR" i="1" dirty="0" err="1">
                <a:solidFill>
                  <a:schemeClr val="accent1">
                    <a:lumMod val="50000"/>
                  </a:schemeClr>
                </a:solidFill>
                <a:latin typeface="Times New Roman" panose="02020603050405020304" pitchFamily="18" charset="0"/>
                <a:cs typeface="Times New Roman" panose="02020603050405020304" pitchFamily="18" charset="0"/>
              </a:rPr>
              <a:t>resources</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views</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de votre application.</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L'extension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blade.php</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informe le Framework que le fichier contient un modèle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Blade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Les modèles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blade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contiennent du HTML ainsi que des directives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Blade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qui vous permettent de faire facilement écho des valeurs, de créer des instructions "if", d'itérer sur les données, etc.</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Une fois que vous avez créé une vue, vous pouvez la renvoyer à partir de l'une des routes ou des contrôleurs de votre application à l'aide de l'assistant global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view</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Route::</a:t>
            </a:r>
            <a:r>
              <a:rPr lang="fr-FR" i="1" dirty="0" err="1">
                <a:solidFill>
                  <a:schemeClr val="accent1">
                    <a:lumMod val="50000"/>
                  </a:schemeClr>
                </a:solidFill>
                <a:latin typeface="Times New Roman" panose="02020603050405020304" pitchFamily="18" charset="0"/>
                <a:cs typeface="Times New Roman" panose="02020603050405020304" pitchFamily="18" charset="0"/>
              </a:rPr>
              <a:t>get</a:t>
            </a:r>
            <a:r>
              <a:rPr lang="fr-FR" i="1" dirty="0">
                <a:solidFill>
                  <a:schemeClr val="accent1">
                    <a:lumMod val="50000"/>
                  </a:schemeClr>
                </a:solidFill>
                <a:latin typeface="Times New Roman" panose="02020603050405020304" pitchFamily="18" charset="0"/>
                <a:cs typeface="Times New Roman" panose="02020603050405020304" pitchFamily="18" charset="0"/>
              </a:rPr>
              <a:t>(‘/bienvenue’, </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return </a:t>
            </a:r>
            <a:r>
              <a:rPr lang="fr-FR" i="1" dirty="0" err="1">
                <a:solidFill>
                  <a:schemeClr val="accent1">
                    <a:lumMod val="50000"/>
                  </a:schemeClr>
                </a:solidFill>
                <a:latin typeface="Times New Roman" panose="02020603050405020304" pitchFamily="18" charset="0"/>
                <a:cs typeface="Times New Roman" panose="02020603050405020304" pitchFamily="18" charset="0"/>
              </a:rPr>
              <a:t>view</a:t>
            </a:r>
            <a:r>
              <a:rPr lang="fr-FR" i="1" dirty="0">
                <a:solidFill>
                  <a:schemeClr val="accent1">
                    <a:lumMod val="50000"/>
                  </a:schemeClr>
                </a:solidFill>
                <a:latin typeface="Times New Roman" panose="02020603050405020304" pitchFamily="18" charset="0"/>
                <a:cs typeface="Times New Roman" panose="02020603050405020304" pitchFamily="18" charset="0"/>
              </a:rPr>
              <a:t>(‘accueil’,[‘nom’=&gt;’HAMDI’]);</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274374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III- Passage d’une variable à une vue	</a:t>
            </a:r>
          </a:p>
        </p:txBody>
      </p:sp>
      <p:sp>
        <p:nvSpPr>
          <p:cNvPr id="3" name="Espace réservé du contenu 2"/>
          <p:cNvSpPr>
            <a:spLocks noGrp="1"/>
          </p:cNvSpPr>
          <p:nvPr>
            <p:ph idx="1"/>
          </p:nvPr>
        </p:nvSpPr>
        <p:spPr>
          <a:xfrm>
            <a:off x="838200" y="1825624"/>
            <a:ext cx="10515600" cy="49307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passer une variable à la vue, nous pouvons envoyer un tableau en deuxième paramètre à la fonction </a:t>
            </a:r>
            <a:r>
              <a:rPr lang="fr-FR" i="1" dirty="0" err="1">
                <a:solidFill>
                  <a:schemeClr val="accent1">
                    <a:lumMod val="50000"/>
                  </a:schemeClr>
                </a:solidFill>
                <a:latin typeface="Times New Roman" panose="02020603050405020304" pitchFamily="18" charset="0"/>
                <a:cs typeface="Times New Roman" panose="02020603050405020304" pitchFamily="18" charset="0"/>
              </a:rPr>
              <a:t>view</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Route::</a:t>
            </a:r>
            <a:r>
              <a:rPr lang="fr-FR" i="1" dirty="0" err="1">
                <a:solidFill>
                  <a:schemeClr val="accent1">
                    <a:lumMod val="50000"/>
                  </a:schemeClr>
                </a:solidFill>
                <a:latin typeface="Times New Roman" panose="02020603050405020304" pitchFamily="18" charset="0"/>
                <a:cs typeface="Times New Roman" panose="02020603050405020304" pitchFamily="18" charset="0"/>
              </a:rPr>
              <a:t>get</a:t>
            </a:r>
            <a:r>
              <a:rPr lang="fr-FR" i="1" dirty="0">
                <a:solidFill>
                  <a:schemeClr val="accent1">
                    <a:lumMod val="50000"/>
                  </a:schemeClr>
                </a:solidFill>
                <a:latin typeface="Times New Roman" panose="02020603050405020304" pitchFamily="18" charset="0"/>
                <a:cs typeface="Times New Roman" panose="02020603050405020304" pitchFamily="18" charset="0"/>
              </a:rPr>
              <a:t>(‘/bienvenue’, </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$nom=‘HAMDI’;</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return </a:t>
            </a:r>
            <a:r>
              <a:rPr lang="fr-FR" i="1" dirty="0" err="1">
                <a:solidFill>
                  <a:schemeClr val="accent1">
                    <a:lumMod val="50000"/>
                  </a:schemeClr>
                </a:solidFill>
                <a:latin typeface="Times New Roman" panose="02020603050405020304" pitchFamily="18" charset="0"/>
                <a:cs typeface="Times New Roman" panose="02020603050405020304" pitchFamily="18" charset="0"/>
              </a:rPr>
              <a:t>view</a:t>
            </a:r>
            <a:r>
              <a:rPr lang="fr-FR" i="1" dirty="0">
                <a:solidFill>
                  <a:schemeClr val="accent1">
                    <a:lumMod val="50000"/>
                  </a:schemeClr>
                </a:solidFill>
                <a:latin typeface="Times New Roman" panose="02020603050405020304" pitchFamily="18" charset="0"/>
                <a:cs typeface="Times New Roman" panose="02020603050405020304" pitchFamily="18" charset="0"/>
              </a:rPr>
              <a:t>(‘accueil’,[‘nom’=&gt;$nom]);</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 supposant que la vue contient:</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&lt;h1&gt;Bonjour {{$nom}}&lt;/h1&gt;</a:t>
            </a:r>
          </a:p>
        </p:txBody>
      </p:sp>
    </p:spTree>
    <p:extLst>
      <p:ext uri="{BB962C8B-B14F-4D97-AF65-F5344CB8AC3E}">
        <p14:creationId xmlns:p14="http://schemas.microsoft.com/office/powerpoint/2010/main" val="3671845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III- Passage d’une variable à une vue	</a:t>
            </a:r>
          </a:p>
        </p:txBody>
      </p:sp>
      <p:sp>
        <p:nvSpPr>
          <p:cNvPr id="3" name="Espace réservé du contenu 2"/>
          <p:cNvSpPr>
            <a:spLocks noGrp="1"/>
          </p:cNvSpPr>
          <p:nvPr>
            <p:ph idx="1"/>
          </p:nvPr>
        </p:nvSpPr>
        <p:spPr>
          <a:xfrm>
            <a:off x="838200" y="1825624"/>
            <a:ext cx="10515600" cy="49307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passer une variable à la vue, nous pouvons utiliser la fonction </a:t>
            </a:r>
            <a:r>
              <a:rPr lang="fr-FR" i="1" dirty="0">
                <a:solidFill>
                  <a:schemeClr val="accent1">
                    <a:lumMod val="50000"/>
                  </a:schemeClr>
                </a:solidFill>
                <a:latin typeface="Times New Roman" panose="02020603050405020304" pitchFamily="18" charset="0"/>
                <a:cs typeface="Times New Roman" panose="02020603050405020304" pitchFamily="18" charset="0"/>
              </a:rPr>
              <a:t>compact()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Route::</a:t>
            </a:r>
            <a:r>
              <a:rPr lang="fr-FR" i="1" dirty="0" err="1">
                <a:solidFill>
                  <a:schemeClr val="accent1">
                    <a:lumMod val="50000"/>
                  </a:schemeClr>
                </a:solidFill>
                <a:latin typeface="Times New Roman" panose="02020603050405020304" pitchFamily="18" charset="0"/>
                <a:cs typeface="Times New Roman" panose="02020603050405020304" pitchFamily="18" charset="0"/>
              </a:rPr>
              <a:t>get</a:t>
            </a:r>
            <a:r>
              <a:rPr lang="fr-FR" i="1" dirty="0">
                <a:solidFill>
                  <a:schemeClr val="accent1">
                    <a:lumMod val="50000"/>
                  </a:schemeClr>
                </a:solidFill>
                <a:latin typeface="Times New Roman" panose="02020603050405020304" pitchFamily="18" charset="0"/>
                <a:cs typeface="Times New Roman" panose="02020603050405020304" pitchFamily="18" charset="0"/>
              </a:rPr>
              <a:t>(‘/bienvenue’, </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$nom=‘HAMDI’;</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return </a:t>
            </a:r>
            <a:r>
              <a:rPr lang="fr-FR" i="1" dirty="0" err="1">
                <a:solidFill>
                  <a:schemeClr val="accent1">
                    <a:lumMod val="50000"/>
                  </a:schemeClr>
                </a:solidFill>
                <a:latin typeface="Times New Roman" panose="02020603050405020304" pitchFamily="18" charset="0"/>
                <a:cs typeface="Times New Roman" panose="02020603050405020304" pitchFamily="18" charset="0"/>
              </a:rPr>
              <a:t>view</a:t>
            </a:r>
            <a:r>
              <a:rPr lang="fr-FR" i="1" dirty="0">
                <a:solidFill>
                  <a:schemeClr val="accent1">
                    <a:lumMod val="50000"/>
                  </a:schemeClr>
                </a:solidFill>
                <a:latin typeface="Times New Roman" panose="02020603050405020304" pitchFamily="18" charset="0"/>
                <a:cs typeface="Times New Roman" panose="02020603050405020304" pitchFamily="18" charset="0"/>
              </a:rPr>
              <a:t>(‘accueil’, compact(‘nom’));</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fonction </a:t>
            </a:r>
            <a:r>
              <a:rPr lang="fr-FR" i="1" dirty="0">
                <a:solidFill>
                  <a:schemeClr val="accent1">
                    <a:lumMod val="50000"/>
                  </a:schemeClr>
                </a:solidFill>
                <a:latin typeface="Times New Roman" panose="02020603050405020304" pitchFamily="18" charset="0"/>
                <a:cs typeface="Times New Roman" panose="02020603050405020304" pitchFamily="18" charset="0"/>
              </a:rPr>
              <a:t>compact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prend le nom seulement de la variable sous forme d’une chaine sans le ‘$’.</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88585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Syntaxe </a:t>
            </a:r>
            <a:r>
              <a:rPr lang="fr-FR" b="1" dirty="0" err="1">
                <a:solidFill>
                  <a:schemeClr val="accent1">
                    <a:lumMod val="50000"/>
                  </a:schemeClr>
                </a:solidFill>
                <a:effectLst>
                  <a:outerShdw blurRad="38100" dist="38100" dir="2700000" algn="tl">
                    <a:srgbClr val="000000">
                      <a:alpha val="43137"/>
                    </a:srgbClr>
                  </a:outerShdw>
                </a:effectLst>
              </a:rPr>
              <a:t>Blade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a:normAutofit/>
          </a:bodyPr>
          <a:lstStyle/>
          <a:p>
            <a:pPr algn="just"/>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Blade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est le moteur de Template utilisé par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Son but est de permettre d’utiliser du PHP sur notre vue mais d’une manière assez particulière. </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créer un fichier qui utilise le moteur de Template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Blade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il vous faut ajouter l’extension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blade.php</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Syntaxe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Blade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pour afficher une variable:</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$nom=‘&lt;h1&gt;Bienvenue ALAMI&lt;/h1&gt;’;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Dans la vue:</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{{$nom}}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echape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pas les balises html, résultat: </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 {!!$nom!!}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echape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les balises html, résultat: </a:t>
            </a:r>
          </a:p>
          <a:p>
            <a:pPr marL="0" indent="0" algn="just">
              <a:buNone/>
            </a:pP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2"/>
          <a:stretch>
            <a:fillRect/>
          </a:stretch>
        </p:blipFill>
        <p:spPr>
          <a:xfrm>
            <a:off x="8851900" y="5567045"/>
            <a:ext cx="3124200" cy="438150"/>
          </a:xfrm>
          <a:prstGeom prst="rect">
            <a:avLst/>
          </a:prstGeom>
          <a:effectLst>
            <a:outerShdw blurRad="50800" dist="38100" dir="8100000" algn="tr" rotWithShape="0">
              <a:prstClr val="black">
                <a:alpha val="40000"/>
              </a:prstClr>
            </a:outerShdw>
          </a:effectLst>
        </p:spPr>
      </p:pic>
      <p:pic>
        <p:nvPicPr>
          <p:cNvPr id="5" name="Image 4"/>
          <p:cNvPicPr>
            <a:picLocks noChangeAspect="1"/>
          </p:cNvPicPr>
          <p:nvPr/>
        </p:nvPicPr>
        <p:blipFill>
          <a:blip r:embed="rId3"/>
          <a:stretch>
            <a:fillRect/>
          </a:stretch>
        </p:blipFill>
        <p:spPr>
          <a:xfrm>
            <a:off x="8295640" y="6090284"/>
            <a:ext cx="3810000" cy="581025"/>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4285229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Syntaxe </a:t>
            </a:r>
            <a:r>
              <a:rPr lang="fr-FR" b="1" dirty="0" err="1">
                <a:solidFill>
                  <a:schemeClr val="accent1">
                    <a:lumMod val="50000"/>
                  </a:schemeClr>
                </a:solidFill>
                <a:effectLst>
                  <a:outerShdw blurRad="38100" dist="38100" dir="2700000" algn="tl">
                    <a:srgbClr val="000000">
                      <a:alpha val="43137"/>
                    </a:srgbClr>
                  </a:outerShdw>
                </a:effectLst>
              </a:rPr>
              <a:t>Blade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Instructions conditionnelles :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Blade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vous permet de manipuler des données comme le ferait le PHP, il vous est donc possible d’utiliser les différentes structures de contrôle PHP existantes. À la différence que leur écriture diffèrent un tout petit peu.</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exprimer les conditions, nous avons:</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@if - @</a:t>
            </a:r>
            <a:r>
              <a:rPr lang="fr-FR" i="1" dirty="0" err="1">
                <a:solidFill>
                  <a:schemeClr val="accent1">
                    <a:lumMod val="50000"/>
                  </a:schemeClr>
                </a:solidFill>
                <a:latin typeface="Times New Roman" panose="02020603050405020304" pitchFamily="18" charset="0"/>
                <a:cs typeface="Times New Roman" panose="02020603050405020304" pitchFamily="18" charset="0"/>
              </a:rPr>
              <a:t>elseif</a:t>
            </a:r>
            <a:r>
              <a:rPr lang="fr-FR" i="1" dirty="0">
                <a:solidFill>
                  <a:schemeClr val="accent1">
                    <a:lumMod val="50000"/>
                  </a:schemeClr>
                </a:solidFill>
                <a:latin typeface="Times New Roman" panose="02020603050405020304" pitchFamily="18" charset="0"/>
                <a:cs typeface="Times New Roman" panose="02020603050405020304" pitchFamily="18" charset="0"/>
              </a:rPr>
              <a:t> - @</a:t>
            </a:r>
            <a:r>
              <a:rPr lang="fr-FR" i="1" dirty="0" err="1">
                <a:solidFill>
                  <a:schemeClr val="accent1">
                    <a:lumMod val="50000"/>
                  </a:schemeClr>
                </a:solidFill>
                <a:latin typeface="Times New Roman" panose="02020603050405020304" pitchFamily="18" charset="0"/>
                <a:cs typeface="Times New Roman" panose="02020603050405020304" pitchFamily="18" charset="0"/>
              </a:rPr>
              <a:t>else</a:t>
            </a:r>
            <a:r>
              <a:rPr lang="fr-FR" i="1" dirty="0">
                <a:solidFill>
                  <a:schemeClr val="accent1">
                    <a:lumMod val="50000"/>
                  </a:schemeClr>
                </a:solidFill>
                <a:latin typeface="Times New Roman" panose="02020603050405020304" pitchFamily="18" charset="0"/>
                <a:cs typeface="Times New Roman" panose="02020603050405020304" pitchFamily="18" charset="0"/>
              </a:rPr>
              <a:t> - @switch - @</a:t>
            </a:r>
            <a:r>
              <a:rPr lang="fr-FR" i="1" dirty="0" err="1">
                <a:solidFill>
                  <a:schemeClr val="accent1">
                    <a:lumMod val="50000"/>
                  </a:schemeClr>
                </a:solidFill>
                <a:latin typeface="Times New Roman" panose="02020603050405020304" pitchFamily="18" charset="0"/>
                <a:cs typeface="Times New Roman" panose="02020603050405020304" pitchFamily="18" charset="0"/>
              </a:rPr>
              <a:t>empty</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2136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Syntaxe </a:t>
            </a:r>
            <a:r>
              <a:rPr lang="fr-FR" b="1" dirty="0" err="1">
                <a:solidFill>
                  <a:schemeClr val="accent1">
                    <a:lumMod val="50000"/>
                  </a:schemeClr>
                </a:solidFill>
                <a:effectLst>
                  <a:outerShdw blurRad="38100" dist="38100" dir="2700000" algn="tl">
                    <a:srgbClr val="000000">
                      <a:alpha val="43137"/>
                    </a:srgbClr>
                  </a:outerShdw>
                </a:effectLst>
              </a:rPr>
              <a:t>Blade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L’instruction </a:t>
            </a:r>
            <a:r>
              <a:rPr lang="fr-FR" i="1" dirty="0">
                <a:solidFill>
                  <a:schemeClr val="accent1">
                    <a:lumMod val="50000"/>
                  </a:schemeClr>
                </a:solidFill>
                <a:latin typeface="Times New Roman" panose="02020603050405020304" pitchFamily="18" charset="0"/>
                <a:cs typeface="Times New Roman" panose="02020603050405020304" pitchFamily="18" charset="0"/>
              </a:rPr>
              <a:t>@if - @</a:t>
            </a:r>
            <a:r>
              <a:rPr lang="fr-FR" i="1" dirty="0" err="1">
                <a:solidFill>
                  <a:schemeClr val="accent1">
                    <a:lumMod val="50000"/>
                  </a:schemeClr>
                </a:solidFill>
                <a:latin typeface="Times New Roman" panose="02020603050405020304" pitchFamily="18" charset="0"/>
                <a:cs typeface="Times New Roman" panose="02020603050405020304" pitchFamily="18" charset="0"/>
              </a:rPr>
              <a:t>elseif</a:t>
            </a:r>
            <a:r>
              <a:rPr lang="fr-FR" i="1" dirty="0">
                <a:solidFill>
                  <a:schemeClr val="accent1">
                    <a:lumMod val="50000"/>
                  </a:schemeClr>
                </a:solidFill>
                <a:latin typeface="Times New Roman" panose="02020603050405020304" pitchFamily="18" charset="0"/>
                <a:cs typeface="Times New Roman" panose="02020603050405020304" pitchFamily="18" charset="0"/>
              </a:rPr>
              <a:t> - @</a:t>
            </a:r>
            <a:r>
              <a:rPr lang="fr-FR" i="1" dirty="0" err="1">
                <a:solidFill>
                  <a:schemeClr val="accent1">
                    <a:lumMod val="50000"/>
                  </a:schemeClr>
                </a:solidFill>
                <a:latin typeface="Times New Roman" panose="02020603050405020304" pitchFamily="18" charset="0"/>
                <a:cs typeface="Times New Roman" panose="02020603050405020304" pitchFamily="18" charset="0"/>
              </a:rPr>
              <a:t>else</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@if($</a:t>
            </a:r>
            <a:r>
              <a:rPr lang="fr-FR" i="1" dirty="0" err="1">
                <a:solidFill>
                  <a:schemeClr val="accent1">
                    <a:lumMod val="50000"/>
                  </a:schemeClr>
                </a:solidFill>
                <a:latin typeface="Times New Roman" panose="02020603050405020304" pitchFamily="18" charset="0"/>
                <a:cs typeface="Times New Roman" panose="02020603050405020304" pitchFamily="18" charset="0"/>
              </a:rPr>
              <a:t>nbre</a:t>
            </a:r>
            <a:r>
              <a:rPr lang="fr-FR" i="1" dirty="0">
                <a:solidFill>
                  <a:schemeClr val="accent1">
                    <a:lumMod val="50000"/>
                  </a:schemeClr>
                </a:solidFill>
                <a:latin typeface="Times New Roman" panose="02020603050405020304" pitchFamily="18" charset="0"/>
                <a:cs typeface="Times New Roman" panose="02020603050405020304" pitchFamily="18" charset="0"/>
              </a:rPr>
              <a:t>&gt;0)</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&lt;p&gt;Le nombre est positif&lt;/p&gt;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elseif</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nbre</a:t>
            </a:r>
            <a:r>
              <a:rPr lang="fr-FR" i="1" dirty="0">
                <a:solidFill>
                  <a:schemeClr val="accent1">
                    <a:lumMod val="50000"/>
                  </a:schemeClr>
                </a:solidFill>
                <a:latin typeface="Times New Roman" panose="02020603050405020304" pitchFamily="18" charset="0"/>
                <a:cs typeface="Times New Roman" panose="02020603050405020304" pitchFamily="18" charset="0"/>
              </a:rPr>
              <a:t>==0)</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&lt;p&gt;Le nombre est nul&lt;/p&gt;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else</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&lt;p&gt;Le nombre est négatif&lt;/p&gt;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endif</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5165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Syntaxe </a:t>
            </a:r>
            <a:r>
              <a:rPr lang="fr-FR" b="1" dirty="0" err="1">
                <a:solidFill>
                  <a:schemeClr val="accent1">
                    <a:lumMod val="50000"/>
                  </a:schemeClr>
                </a:solidFill>
                <a:effectLst>
                  <a:outerShdw blurRad="38100" dist="38100" dir="2700000" algn="tl">
                    <a:srgbClr val="000000">
                      <a:alpha val="43137"/>
                    </a:srgbClr>
                  </a:outerShdw>
                </a:effectLst>
              </a:rPr>
              <a:t>Blade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a:normAutofit fontScale="92500"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L’instruction </a:t>
            </a:r>
            <a:r>
              <a:rPr lang="fr-FR" i="1" dirty="0">
                <a:solidFill>
                  <a:schemeClr val="accent1">
                    <a:lumMod val="50000"/>
                  </a:schemeClr>
                </a:solidFill>
                <a:latin typeface="Times New Roman" panose="02020603050405020304" pitchFamily="18" charset="0"/>
                <a:cs typeface="Times New Roman" panose="02020603050405020304" pitchFamily="18" charset="0"/>
              </a:rPr>
              <a:t>@switch – @case - @default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@switch ($</a:t>
            </a:r>
            <a:r>
              <a:rPr lang="fr-FR" i="1" dirty="0" err="1">
                <a:solidFill>
                  <a:schemeClr val="accent1">
                    <a:lumMod val="50000"/>
                  </a:schemeClr>
                </a:solidFill>
                <a:latin typeface="Times New Roman" panose="02020603050405020304" pitchFamily="18" charset="0"/>
                <a:cs typeface="Times New Roman" panose="02020603050405020304" pitchFamily="18" charset="0"/>
              </a:rPr>
              <a:t>nbre</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@case (1)</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&lt;p&gt;Le nombre est 1&lt;/p&gt;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@break</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@case (2)</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&lt;p&gt;Le nombre est 2&lt;/p&gt;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@break</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@default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&lt;p&gt;Le nombre est ni 1 ni 2&lt;/p&gt;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endswitch</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2617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Syntaxe </a:t>
            </a:r>
            <a:r>
              <a:rPr lang="fr-FR" b="1" dirty="0" err="1">
                <a:solidFill>
                  <a:schemeClr val="accent1">
                    <a:lumMod val="50000"/>
                  </a:schemeClr>
                </a:solidFill>
                <a:effectLst>
                  <a:outerShdw blurRad="38100" dist="38100" dir="2700000" algn="tl">
                    <a:srgbClr val="000000">
                      <a:alpha val="43137"/>
                    </a:srgbClr>
                  </a:outerShdw>
                </a:effectLst>
              </a:rPr>
              <a:t>Blade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a:normAutofit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L’instruction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isset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$nom=‘ALAMI’;</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a:buNone/>
            </a:pPr>
            <a:r>
              <a:rPr lang="fr-FR" i="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isset</a:t>
            </a:r>
            <a:r>
              <a:rPr lang="fr-FR" i="1" dirty="0">
                <a:solidFill>
                  <a:schemeClr val="accent1">
                    <a:lumMod val="50000"/>
                  </a:schemeClr>
                </a:solidFill>
                <a:latin typeface="Times New Roman" panose="02020603050405020304" pitchFamily="18" charset="0"/>
                <a:cs typeface="Times New Roman" panose="02020603050405020304" pitchFamily="18" charset="0"/>
              </a:rPr>
              <a:t>($nom)</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&lt;p&gt;Le nom contient une valeur&lt;/p&gt;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endisset</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L’instruction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empty</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$nom=‘’;</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empty</a:t>
            </a:r>
            <a:r>
              <a:rPr lang="fr-FR" i="1" dirty="0">
                <a:solidFill>
                  <a:schemeClr val="accent1">
                    <a:lumMod val="50000"/>
                  </a:schemeClr>
                </a:solidFill>
                <a:latin typeface="Times New Roman" panose="02020603050405020304" pitchFamily="18" charset="0"/>
                <a:cs typeface="Times New Roman" panose="02020603050405020304" pitchFamily="18" charset="0"/>
              </a:rPr>
              <a:t>($nom)</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&lt;p&gt;Le nom ne contient pas de valeur&lt;/p&gt;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endempty</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0251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Syntaxe </a:t>
            </a:r>
            <a:r>
              <a:rPr lang="fr-FR" b="1" dirty="0" err="1">
                <a:solidFill>
                  <a:schemeClr val="accent1">
                    <a:lumMod val="50000"/>
                  </a:schemeClr>
                </a:solidFill>
                <a:effectLst>
                  <a:outerShdw blurRad="38100" dist="38100" dir="2700000" algn="tl">
                    <a:srgbClr val="000000">
                      <a:alpha val="43137"/>
                    </a:srgbClr>
                  </a:outerShdw>
                </a:effectLst>
              </a:rPr>
              <a:t>Blade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Instructions répétitives : Pour exprimer les boucles, nous avons:</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while</a:t>
            </a:r>
            <a:r>
              <a:rPr lang="fr-FR" i="1" dirty="0">
                <a:solidFill>
                  <a:schemeClr val="accent1">
                    <a:lumMod val="50000"/>
                  </a:schemeClr>
                </a:solidFill>
                <a:latin typeface="Times New Roman" panose="02020603050405020304" pitchFamily="18" charset="0"/>
                <a:cs typeface="Times New Roman" panose="02020603050405020304" pitchFamily="18" charset="0"/>
              </a:rPr>
              <a:t> - @for - @</a:t>
            </a:r>
            <a:r>
              <a:rPr lang="fr-FR" i="1" dirty="0" err="1">
                <a:solidFill>
                  <a:schemeClr val="accent1">
                    <a:lumMod val="50000"/>
                  </a:schemeClr>
                </a:solidFill>
                <a:latin typeface="Times New Roman" panose="02020603050405020304" pitchFamily="18" charset="0"/>
                <a:cs typeface="Times New Roman" panose="02020603050405020304" pitchFamily="18" charset="0"/>
              </a:rPr>
              <a:t>foreach</a:t>
            </a:r>
            <a:r>
              <a:rPr lang="fr-FR" i="1" dirty="0">
                <a:solidFill>
                  <a:schemeClr val="accent1">
                    <a:lumMod val="50000"/>
                  </a:schemeClr>
                </a:solidFill>
                <a:latin typeface="Times New Roman" panose="02020603050405020304" pitchFamily="18" charset="0"/>
                <a:cs typeface="Times New Roman" panose="02020603050405020304" pitchFamily="18" charset="0"/>
              </a:rPr>
              <a:t> - @</a:t>
            </a:r>
            <a:r>
              <a:rPr lang="fr-FR" i="1" dirty="0" err="1">
                <a:solidFill>
                  <a:schemeClr val="accent1">
                    <a:lumMod val="50000"/>
                  </a:schemeClr>
                </a:solidFill>
                <a:latin typeface="Times New Roman" panose="02020603050405020304" pitchFamily="18" charset="0"/>
                <a:cs typeface="Times New Roman" panose="02020603050405020304" pitchFamily="18" charset="0"/>
              </a:rPr>
              <a:t>forelse</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Instruction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while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p>
          <a:p>
            <a:pPr marL="0" indent="0" algn="just">
              <a:buNone/>
            </a:pPr>
            <a:r>
              <a:rPr lang="fr-FR" i="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php</a:t>
            </a:r>
            <a:r>
              <a:rPr lang="fr-FR" i="1" dirty="0">
                <a:solidFill>
                  <a:schemeClr val="accent1">
                    <a:lumMod val="50000"/>
                  </a:schemeClr>
                </a:solidFill>
                <a:latin typeface="Times New Roman" panose="02020603050405020304" pitchFamily="18" charset="0"/>
                <a:cs typeface="Times New Roman" panose="02020603050405020304" pitchFamily="18" charset="0"/>
              </a:rPr>
              <a:t>($i=0)</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php</a:t>
            </a:r>
            <a:r>
              <a:rPr lang="fr-FR" i="1" dirty="0">
                <a:solidFill>
                  <a:schemeClr val="accent1">
                    <a:lumMod val="50000"/>
                  </a:schemeClr>
                </a:solidFill>
                <a:latin typeface="Times New Roman" panose="02020603050405020304" pitchFamily="18" charset="0"/>
                <a:cs typeface="Times New Roman" panose="02020603050405020304" pitchFamily="18" charset="0"/>
              </a:rPr>
              <a:t>($n=5)</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while</a:t>
            </a:r>
            <a:r>
              <a:rPr lang="fr-FR" i="1" dirty="0">
                <a:solidFill>
                  <a:schemeClr val="accent1">
                    <a:lumMod val="50000"/>
                  </a:schemeClr>
                </a:solidFill>
                <a:latin typeface="Times New Roman" panose="02020603050405020304" pitchFamily="18" charset="0"/>
                <a:cs typeface="Times New Roman" panose="02020603050405020304" pitchFamily="18" charset="0"/>
              </a:rPr>
              <a:t>($i&lt;$n)</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&lt;p&gt;La valeur de $i est {{$i}}&lt;p&gt;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php</a:t>
            </a:r>
            <a:r>
              <a:rPr lang="fr-FR" i="1" dirty="0">
                <a:solidFill>
                  <a:schemeClr val="accent1">
                    <a:lumMod val="50000"/>
                  </a:schemeClr>
                </a:solidFill>
                <a:latin typeface="Times New Roman" panose="02020603050405020304" pitchFamily="18" charset="0"/>
                <a:cs typeface="Times New Roman" panose="02020603050405020304" pitchFamily="18" charset="0"/>
              </a:rPr>
              <a:t>($i++)</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endwhile</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914400" lvl="2" indent="0" algn="just">
              <a:buNone/>
            </a:pP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5668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Syntaxe </a:t>
            </a:r>
            <a:r>
              <a:rPr lang="fr-FR" b="1" dirty="0" err="1">
                <a:solidFill>
                  <a:schemeClr val="accent1">
                    <a:lumMod val="50000"/>
                  </a:schemeClr>
                </a:solidFill>
                <a:effectLst>
                  <a:outerShdw blurRad="38100" dist="38100" dir="2700000" algn="tl">
                    <a:srgbClr val="000000">
                      <a:alpha val="43137"/>
                    </a:srgbClr>
                  </a:outerShdw>
                </a:effectLst>
              </a:rPr>
              <a:t>Blade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Instruction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foreach</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p>
          <a:p>
            <a:pPr marL="0" indent="0" algn="just">
              <a:buNone/>
            </a:pPr>
            <a:r>
              <a:rPr lang="fr-FR" i="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php</a:t>
            </a:r>
            <a:r>
              <a:rPr lang="fr-FR" i="1" dirty="0">
                <a:solidFill>
                  <a:schemeClr val="accent1">
                    <a:lumMod val="50000"/>
                  </a:schemeClr>
                </a:solidFill>
                <a:latin typeface="Times New Roman" panose="02020603050405020304" pitchFamily="18" charset="0"/>
                <a:cs typeface="Times New Roman" panose="02020603050405020304" pitchFamily="18" charset="0"/>
              </a:rPr>
              <a:t>($clients=[‘ALAMI’,’HAMDI’,’MAJIDI’])</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foreach</a:t>
            </a:r>
            <a:r>
              <a:rPr lang="fr-FR" i="1" dirty="0">
                <a:solidFill>
                  <a:schemeClr val="accent1">
                    <a:lumMod val="50000"/>
                  </a:schemeClr>
                </a:solidFill>
                <a:latin typeface="Times New Roman" panose="02020603050405020304" pitchFamily="18" charset="0"/>
                <a:cs typeface="Times New Roman" panose="02020603050405020304" pitchFamily="18" charset="0"/>
              </a:rPr>
              <a:t>($clients as $client)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&lt;p&gt;Client:{{$client}}&lt;p&gt;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endforeach</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914400" lvl="2" indent="0" algn="just">
              <a:buNone/>
            </a:pP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0271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Syntaxe </a:t>
            </a:r>
            <a:r>
              <a:rPr lang="fr-FR" b="1" dirty="0" err="1">
                <a:solidFill>
                  <a:schemeClr val="accent1">
                    <a:lumMod val="50000"/>
                  </a:schemeClr>
                </a:solidFill>
                <a:effectLst>
                  <a:outerShdw blurRad="38100" dist="38100" dir="2700000" algn="tl">
                    <a:srgbClr val="000000">
                      <a:alpha val="43137"/>
                    </a:srgbClr>
                  </a:outerShdw>
                </a:effectLst>
              </a:rPr>
              <a:t>Blade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Instruction </a:t>
            </a:r>
            <a:r>
              <a:rPr lang="fr-FR" i="1" dirty="0">
                <a:solidFill>
                  <a:schemeClr val="accent1">
                    <a:lumMod val="50000"/>
                  </a:schemeClr>
                </a:solidFill>
                <a:latin typeface="Times New Roman" panose="02020603050405020304" pitchFamily="18" charset="0"/>
                <a:cs typeface="Times New Roman" panose="02020603050405020304" pitchFamily="18" charset="0"/>
              </a:rPr>
              <a:t>@for</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p>
          <a:p>
            <a:pPr marL="0" indent="0" algn="just">
              <a:buNone/>
            </a:pPr>
            <a:r>
              <a:rPr lang="fr-FR" i="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pt-BR" i="1" dirty="0">
                <a:solidFill>
                  <a:schemeClr val="accent1">
                    <a:lumMod val="50000"/>
                  </a:schemeClr>
                </a:solidFill>
                <a:latin typeface="Times New Roman" panose="02020603050405020304" pitchFamily="18" charset="0"/>
                <a:cs typeface="Times New Roman" panose="02020603050405020304" pitchFamily="18" charset="0"/>
              </a:rPr>
              <a:t>@php($clients=['ALAMI','HAMDI','MAJIDI'])</a:t>
            </a:r>
          </a:p>
          <a:p>
            <a:pPr marL="0" indent="0" algn="just">
              <a:buNone/>
            </a:pPr>
            <a:r>
              <a:rPr lang="pt-BR" i="1" dirty="0">
                <a:solidFill>
                  <a:schemeClr val="accent1">
                    <a:lumMod val="50000"/>
                  </a:schemeClr>
                </a:solidFill>
                <a:latin typeface="Times New Roman" panose="02020603050405020304" pitchFamily="18" charset="0"/>
                <a:cs typeface="Times New Roman" panose="02020603050405020304" pitchFamily="18" charset="0"/>
              </a:rPr>
              <a:t>    	@for($i=0;$i&lt;count($clients);$i++)</a:t>
            </a:r>
          </a:p>
          <a:p>
            <a:pPr marL="0" indent="0" algn="just">
              <a:buNone/>
            </a:pPr>
            <a:r>
              <a:rPr lang="pt-BR" i="1" dirty="0">
                <a:solidFill>
                  <a:schemeClr val="accent1">
                    <a:lumMod val="50000"/>
                  </a:schemeClr>
                </a:solidFill>
                <a:latin typeface="Times New Roman" panose="02020603050405020304" pitchFamily="18" charset="0"/>
                <a:cs typeface="Times New Roman" panose="02020603050405020304" pitchFamily="18" charset="0"/>
              </a:rPr>
              <a:t>		 &lt;p&gt;Client N°{{$i+1}}:{{$clients[$i]}}&lt;/p&gt;</a:t>
            </a:r>
          </a:p>
          <a:p>
            <a:pPr marL="0" indent="0" algn="just">
              <a:buNone/>
            </a:pPr>
            <a:r>
              <a:rPr lang="pt-BR" i="1" dirty="0">
                <a:solidFill>
                  <a:schemeClr val="accent1">
                    <a:lumMod val="50000"/>
                  </a:schemeClr>
                </a:solidFill>
                <a:latin typeface="Times New Roman" panose="02020603050405020304" pitchFamily="18" charset="0"/>
                <a:cs typeface="Times New Roman" panose="02020603050405020304" pitchFamily="18" charset="0"/>
              </a:rPr>
              <a:t>        	@endfor</a:t>
            </a: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4318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Syntaxe </a:t>
            </a:r>
            <a:r>
              <a:rPr lang="fr-FR" b="1" dirty="0" err="1">
                <a:solidFill>
                  <a:schemeClr val="accent1">
                    <a:lumMod val="50000"/>
                  </a:schemeClr>
                </a:solidFill>
                <a:effectLst>
                  <a:outerShdw blurRad="38100" dist="38100" dir="2700000" algn="tl">
                    <a:srgbClr val="000000">
                      <a:alpha val="43137"/>
                    </a:srgbClr>
                  </a:outerShdw>
                </a:effectLst>
              </a:rPr>
              <a:t>Blade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Instruction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forelse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p>
          <a:p>
            <a:pPr marL="0" indent="0" algn="just">
              <a:buNone/>
            </a:pPr>
            <a:r>
              <a:rPr lang="fr-FR" i="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php</a:t>
            </a:r>
            <a:r>
              <a:rPr lang="fr-FR" i="1" dirty="0">
                <a:solidFill>
                  <a:schemeClr val="accent1">
                    <a:lumMod val="50000"/>
                  </a:schemeClr>
                </a:solidFill>
                <a:latin typeface="Times New Roman" panose="02020603050405020304" pitchFamily="18" charset="0"/>
                <a:cs typeface="Times New Roman" panose="02020603050405020304" pitchFamily="18" charset="0"/>
              </a:rPr>
              <a:t>($clients=['ALAMI','HAMDI','MAJIDI'])</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forelse</a:t>
            </a:r>
            <a:r>
              <a:rPr lang="fr-FR" i="1" dirty="0">
                <a:solidFill>
                  <a:schemeClr val="accent1">
                    <a:lumMod val="50000"/>
                  </a:schemeClr>
                </a:solidFill>
                <a:latin typeface="Times New Roman" panose="02020603050405020304" pitchFamily="18" charset="0"/>
                <a:cs typeface="Times New Roman" panose="02020603050405020304" pitchFamily="18" charset="0"/>
              </a:rPr>
              <a:t>($clients as $client)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&lt;p&gt;Client :{{$client}}&lt;/p&gt;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empty</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&lt;p&gt;Aucun client&lt;/p&gt;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endforelse</a:t>
            </a: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2"/>
          <a:stretch>
            <a:fillRect/>
          </a:stretch>
        </p:blipFill>
        <p:spPr>
          <a:xfrm>
            <a:off x="9630727" y="2427287"/>
            <a:ext cx="1647825" cy="1495425"/>
          </a:xfrm>
          <a:prstGeom prst="rect">
            <a:avLst/>
          </a:prstGeom>
          <a:effectLst>
            <a:outerShdw blurRad="50800" dist="38100" dir="8100000" algn="tr" rotWithShape="0">
              <a:prstClr val="black">
                <a:alpha val="40000"/>
              </a:prstClr>
            </a:outerShdw>
          </a:effectLst>
        </p:spPr>
      </p:pic>
      <p:sp>
        <p:nvSpPr>
          <p:cNvPr id="5" name="Flèche droite 4"/>
          <p:cNvSpPr/>
          <p:nvPr/>
        </p:nvSpPr>
        <p:spPr>
          <a:xfrm>
            <a:off x="8239760" y="3048000"/>
            <a:ext cx="1219200" cy="457200"/>
          </a:xfrm>
          <a:prstGeom prst="rightArrow">
            <a:avLst/>
          </a:prstGeom>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57140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Syntaxe </a:t>
            </a:r>
            <a:r>
              <a:rPr lang="fr-FR" b="1" dirty="0" err="1">
                <a:solidFill>
                  <a:schemeClr val="accent1">
                    <a:lumMod val="50000"/>
                  </a:schemeClr>
                </a:solidFill>
                <a:effectLst>
                  <a:outerShdw blurRad="38100" dist="38100" dir="2700000" algn="tl">
                    <a:srgbClr val="000000">
                      <a:alpha val="43137"/>
                    </a:srgbClr>
                  </a:outerShdw>
                </a:effectLst>
              </a:rPr>
              <a:t>Blade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Instruction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forelse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p>
          <a:p>
            <a:pPr marL="0" indent="0" algn="just">
              <a:buNone/>
            </a:pPr>
            <a:r>
              <a:rPr lang="fr-FR" i="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php</a:t>
            </a:r>
            <a:r>
              <a:rPr lang="fr-FR" i="1" dirty="0">
                <a:solidFill>
                  <a:schemeClr val="accent1">
                    <a:lumMod val="50000"/>
                  </a:schemeClr>
                </a:solidFill>
                <a:latin typeface="Times New Roman" panose="02020603050405020304" pitchFamily="18" charset="0"/>
                <a:cs typeface="Times New Roman" panose="02020603050405020304" pitchFamily="18" charset="0"/>
              </a:rPr>
              <a:t>($clients=[])</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forelse</a:t>
            </a:r>
            <a:r>
              <a:rPr lang="fr-FR" i="1" dirty="0">
                <a:solidFill>
                  <a:schemeClr val="accent1">
                    <a:lumMod val="50000"/>
                  </a:schemeClr>
                </a:solidFill>
                <a:latin typeface="Times New Roman" panose="02020603050405020304" pitchFamily="18" charset="0"/>
                <a:cs typeface="Times New Roman" panose="02020603050405020304" pitchFamily="18" charset="0"/>
              </a:rPr>
              <a:t>($clients as $client)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&lt;p&gt;Client :{{$client}}&lt;/p&gt;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empty</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&lt;p&gt;Aucun client&lt;/p&gt;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endforelse</a:t>
            </a: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5" name="Flèche droite 4"/>
          <p:cNvSpPr/>
          <p:nvPr/>
        </p:nvSpPr>
        <p:spPr>
          <a:xfrm>
            <a:off x="8239760" y="3048000"/>
            <a:ext cx="1219200" cy="457200"/>
          </a:xfrm>
          <a:prstGeom prst="rightArrow">
            <a:avLst/>
          </a:prstGeom>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p:cNvPicPr>
            <a:picLocks noChangeAspect="1"/>
          </p:cNvPicPr>
          <p:nvPr/>
        </p:nvPicPr>
        <p:blipFill>
          <a:blip r:embed="rId2"/>
          <a:stretch>
            <a:fillRect/>
          </a:stretch>
        </p:blipFill>
        <p:spPr>
          <a:xfrm>
            <a:off x="9710737" y="3086100"/>
            <a:ext cx="1643063" cy="381000"/>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651254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Syntaxe </a:t>
            </a:r>
            <a:r>
              <a:rPr lang="fr-FR" b="1" dirty="0" err="1">
                <a:solidFill>
                  <a:schemeClr val="accent1">
                    <a:lumMod val="50000"/>
                  </a:schemeClr>
                </a:solidFill>
                <a:effectLst>
                  <a:outerShdw blurRad="38100" dist="38100" dir="2700000" algn="tl">
                    <a:srgbClr val="000000">
                      <a:alpha val="43137"/>
                    </a:srgbClr>
                  </a:outerShdw>
                </a:effectLst>
              </a:rPr>
              <a:t>Blade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a:normAutofit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Accès à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loop</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p>
          <a:p>
            <a:pPr marL="0" indent="0" algn="just">
              <a:buNone/>
            </a:pPr>
            <a:r>
              <a:rPr lang="fr-FR" i="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php</a:t>
            </a:r>
            <a:r>
              <a:rPr lang="fr-FR" i="1" dirty="0">
                <a:solidFill>
                  <a:schemeClr val="accent1">
                    <a:lumMod val="50000"/>
                  </a:schemeClr>
                </a:solidFill>
                <a:latin typeface="Times New Roman" panose="02020603050405020304" pitchFamily="18" charset="0"/>
                <a:cs typeface="Times New Roman" panose="02020603050405020304" pitchFamily="18" charset="0"/>
              </a:rPr>
              <a:t>($clients=[‘ALAMI’,’HAMDI’,’MAJIDI’])</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foreach</a:t>
            </a:r>
            <a:r>
              <a:rPr lang="fr-FR" i="1" dirty="0">
                <a:solidFill>
                  <a:schemeClr val="accent1">
                    <a:lumMod val="50000"/>
                  </a:schemeClr>
                </a:solidFill>
                <a:latin typeface="Times New Roman" panose="02020603050405020304" pitchFamily="18" charset="0"/>
                <a:cs typeface="Times New Roman" panose="02020603050405020304" pitchFamily="18" charset="0"/>
              </a:rPr>
              <a:t>($clients as $client)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@if($</a:t>
            </a:r>
            <a:r>
              <a:rPr lang="fr-FR" i="1" dirty="0" err="1">
                <a:solidFill>
                  <a:schemeClr val="accent1">
                    <a:lumMod val="50000"/>
                  </a:schemeClr>
                </a:solidFill>
                <a:latin typeface="Times New Roman" panose="02020603050405020304" pitchFamily="18" charset="0"/>
                <a:cs typeface="Times New Roman" panose="02020603050405020304" pitchFamily="18" charset="0"/>
              </a:rPr>
              <a:t>loop</a:t>
            </a:r>
            <a:r>
              <a:rPr lang="fr-FR" i="1" dirty="0">
                <a:solidFill>
                  <a:schemeClr val="accent1">
                    <a:lumMod val="50000"/>
                  </a:schemeClr>
                </a:solidFill>
                <a:latin typeface="Times New Roman" panose="02020603050405020304" pitchFamily="18" charset="0"/>
                <a:cs typeface="Times New Roman" panose="02020603050405020304" pitchFamily="18" charset="0"/>
              </a:rPr>
              <a:t>-&gt;first)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&lt;p&gt;C’est le premier client&lt;/p&gt;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endif</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@if($</a:t>
            </a:r>
            <a:r>
              <a:rPr lang="fr-FR" i="1" dirty="0" err="1">
                <a:solidFill>
                  <a:schemeClr val="accent1">
                    <a:lumMod val="50000"/>
                  </a:schemeClr>
                </a:solidFill>
                <a:latin typeface="Times New Roman" panose="02020603050405020304" pitchFamily="18" charset="0"/>
                <a:cs typeface="Times New Roman" panose="02020603050405020304" pitchFamily="18" charset="0"/>
              </a:rPr>
              <a:t>loop</a:t>
            </a:r>
            <a:r>
              <a:rPr lang="fr-FR" i="1" dirty="0">
                <a:solidFill>
                  <a:schemeClr val="accent1">
                    <a:lumMod val="50000"/>
                  </a:schemeClr>
                </a:solidFill>
                <a:latin typeface="Times New Roman" panose="02020603050405020304" pitchFamily="18" charset="0"/>
                <a:cs typeface="Times New Roman" panose="02020603050405020304" pitchFamily="18" charset="0"/>
              </a:rPr>
              <a:t>-&gt;last)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&lt;p&gt;C’est le dernier client&lt;/p&gt;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endif</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endforeach</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914400" lvl="2" indent="0" algn="just">
              <a:buNone/>
            </a:pP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2506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V- Template </a:t>
            </a:r>
            <a:r>
              <a:rPr lang="fr-FR" b="1" dirty="0" err="1">
                <a:solidFill>
                  <a:schemeClr val="accent1">
                    <a:lumMod val="50000"/>
                  </a:schemeClr>
                </a:solidFill>
                <a:effectLst>
                  <a:outerShdw blurRad="38100" dist="38100" dir="2700000" algn="tl">
                    <a:srgbClr val="000000">
                      <a:alpha val="43137"/>
                    </a:srgbClr>
                  </a:outerShdw>
                </a:effectLst>
              </a:rPr>
              <a:t>Blade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Exemple (fichier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docparent.blade.php</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marL="0" indent="0" algn="just">
              <a:lnSpc>
                <a:spcPct val="100000"/>
              </a:lnSpc>
              <a:buNone/>
            </a:pPr>
            <a:r>
              <a:rPr lang="fr-FR" i="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&lt;!DOCTYPE html&gt;</a:t>
            </a:r>
          </a:p>
          <a:p>
            <a:pPr marL="914400" lvl="2" indent="0" algn="just">
              <a:lnSpc>
                <a:spcPct val="100000"/>
              </a:lnSpc>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&lt;html </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lang</a:t>
            </a:r>
            <a:r>
              <a:rPr lang="fr-FR" sz="2800" i="1" dirty="0">
                <a:solidFill>
                  <a:schemeClr val="accent1">
                    <a:lumMod val="50000"/>
                  </a:schemeClr>
                </a:solidFill>
                <a:latin typeface="Times New Roman" panose="02020603050405020304" pitchFamily="18" charset="0"/>
                <a:cs typeface="Times New Roman" panose="02020603050405020304" pitchFamily="18" charset="0"/>
              </a:rPr>
              <a:t>="en"&gt;</a:t>
            </a:r>
          </a:p>
          <a:p>
            <a:pPr marL="914400" lvl="2" indent="0" algn="just">
              <a:lnSpc>
                <a:spcPct val="100000"/>
              </a:lnSpc>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&lt;</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head</a:t>
            </a:r>
            <a:r>
              <a:rPr lang="fr-FR" sz="2800" i="1" dirty="0">
                <a:solidFill>
                  <a:schemeClr val="accent1">
                    <a:lumMod val="50000"/>
                  </a:schemeClr>
                </a:solidFill>
                <a:latin typeface="Times New Roman" panose="02020603050405020304" pitchFamily="18" charset="0"/>
                <a:cs typeface="Times New Roman" panose="02020603050405020304" pitchFamily="18" charset="0"/>
              </a:rPr>
              <a:t>&gt;</a:t>
            </a:r>
          </a:p>
          <a:p>
            <a:pPr marL="914400" lvl="2" indent="0" algn="just">
              <a:lnSpc>
                <a:spcPct val="100000"/>
              </a:lnSpc>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    &lt;</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title</a:t>
            </a:r>
            <a:r>
              <a:rPr lang="fr-FR" sz="2800" i="1" dirty="0">
                <a:solidFill>
                  <a:schemeClr val="accent1">
                    <a:lumMod val="50000"/>
                  </a:schemeClr>
                </a:solidFill>
                <a:latin typeface="Times New Roman" panose="02020603050405020304" pitchFamily="18" charset="0"/>
                <a:cs typeface="Times New Roman" panose="02020603050405020304" pitchFamily="18" charset="0"/>
              </a:rPr>
              <a:t>&gt;Document @</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yield</a:t>
            </a:r>
            <a:r>
              <a:rPr lang="fr-FR" sz="2800" i="1" dirty="0">
                <a:solidFill>
                  <a:schemeClr val="accent1">
                    <a:lumMod val="50000"/>
                  </a:schemeClr>
                </a:solidFill>
                <a:latin typeface="Times New Roman" panose="02020603050405020304" pitchFamily="18" charset="0"/>
                <a:cs typeface="Times New Roman" panose="02020603050405020304" pitchFamily="18" charset="0"/>
              </a:rPr>
              <a:t>('</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title</a:t>
            </a:r>
            <a:r>
              <a:rPr lang="fr-FR" sz="2800" i="1" dirty="0">
                <a:solidFill>
                  <a:schemeClr val="accent1">
                    <a:lumMod val="50000"/>
                  </a:schemeClr>
                </a:solidFill>
                <a:latin typeface="Times New Roman" panose="02020603050405020304" pitchFamily="18" charset="0"/>
                <a:cs typeface="Times New Roman" panose="02020603050405020304" pitchFamily="18" charset="0"/>
              </a:rPr>
              <a:t>')&lt;/</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title</a:t>
            </a:r>
            <a:r>
              <a:rPr lang="fr-FR" sz="2800" i="1" dirty="0">
                <a:solidFill>
                  <a:schemeClr val="accent1">
                    <a:lumMod val="50000"/>
                  </a:schemeClr>
                </a:solidFill>
                <a:latin typeface="Times New Roman" panose="02020603050405020304" pitchFamily="18" charset="0"/>
                <a:cs typeface="Times New Roman" panose="02020603050405020304" pitchFamily="18" charset="0"/>
              </a:rPr>
              <a:t>&gt;</a:t>
            </a:r>
          </a:p>
          <a:p>
            <a:pPr marL="914400" lvl="2" indent="0" algn="just">
              <a:lnSpc>
                <a:spcPct val="100000"/>
              </a:lnSpc>
              <a:buNone/>
            </a:pPr>
            <a:r>
              <a:rPr lang="fr-FR" sz="2800" i="1" dirty="0">
                <a:solidFill>
                  <a:schemeClr val="accent1">
                    <a:lumMod val="50000"/>
                  </a:schemeClr>
                </a:solidFill>
                <a:latin typeface="Times New Roman" panose="02020603050405020304" pitchFamily="18" charset="0"/>
                <a:cs typeface="Times New Roman" panose="02020603050405020304" pitchFamily="18" charset="0"/>
              </a:rPr>
              <a:t>&lt;/</a:t>
            </a:r>
            <a:r>
              <a:rPr lang="fr-FR" sz="2800" i="1" dirty="0" err="1">
                <a:solidFill>
                  <a:schemeClr val="accent1">
                    <a:lumMod val="50000"/>
                  </a:schemeClr>
                </a:solidFill>
                <a:latin typeface="Times New Roman" panose="02020603050405020304" pitchFamily="18" charset="0"/>
                <a:cs typeface="Times New Roman" panose="02020603050405020304" pitchFamily="18" charset="0"/>
              </a:rPr>
              <a:t>head</a:t>
            </a:r>
            <a:r>
              <a:rPr lang="fr-FR" sz="2800" i="1" dirty="0">
                <a:solidFill>
                  <a:schemeClr val="accent1">
                    <a:lumMod val="50000"/>
                  </a:schemeClr>
                </a:solidFill>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3826552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V- Template </a:t>
            </a:r>
            <a:r>
              <a:rPr lang="fr-FR" b="1" dirty="0" err="1">
                <a:solidFill>
                  <a:schemeClr val="accent1">
                    <a:lumMod val="50000"/>
                  </a:schemeClr>
                </a:solidFill>
                <a:effectLst>
                  <a:outerShdw blurRad="38100" dist="38100" dir="2700000" algn="tl">
                    <a:srgbClr val="000000">
                      <a:alpha val="43137"/>
                    </a:srgbClr>
                  </a:outerShdw>
                </a:effectLst>
              </a:rPr>
              <a:t>Blade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4"/>
            <a:ext cx="10515600" cy="4930775"/>
          </a:xfrm>
        </p:spPr>
        <p:txBody>
          <a:bodyPr>
            <a:normAutofit fontScale="92500"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Exemple (fichier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docparent.blade.php</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suite:  </a:t>
            </a:r>
          </a:p>
          <a:p>
            <a:pPr marL="0" indent="0" algn="just">
              <a:lnSpc>
                <a:spcPct val="100000"/>
              </a:lnSpc>
              <a:buNone/>
            </a:pPr>
            <a:r>
              <a:rPr lang="fr-FR" i="1" dirty="0">
                <a:solidFill>
                  <a:schemeClr val="accent1">
                    <a:lumMod val="50000"/>
                  </a:schemeClr>
                </a:solidFill>
                <a:latin typeface="Times New Roman" panose="02020603050405020304" pitchFamily="18" charset="0"/>
                <a:cs typeface="Times New Roman" panose="02020603050405020304" pitchFamily="18" charset="0"/>
              </a:rPr>
              <a:t>&lt;body&gt;</a:t>
            </a:r>
          </a:p>
          <a:p>
            <a:pPr marL="0" indent="0" algn="just">
              <a:lnSpc>
                <a:spcPct val="100000"/>
              </a:lnSpc>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@section('</a:t>
            </a:r>
            <a:r>
              <a:rPr lang="fr-FR" i="1" dirty="0" err="1">
                <a:solidFill>
                  <a:schemeClr val="accent1">
                    <a:lumMod val="50000"/>
                  </a:schemeClr>
                </a:solidFill>
                <a:latin typeface="Times New Roman" panose="02020603050405020304" pitchFamily="18" charset="0"/>
                <a:cs typeface="Times New Roman" panose="02020603050405020304" pitchFamily="18" charset="0"/>
              </a:rPr>
              <a:t>sidebar</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lnSpc>
                <a:spcPct val="100000"/>
              </a:lnSpc>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Contenu de la section '</a:t>
            </a:r>
            <a:r>
              <a:rPr lang="fr-FR" i="1" dirty="0" err="1">
                <a:solidFill>
                  <a:schemeClr val="accent1">
                    <a:lumMod val="50000"/>
                  </a:schemeClr>
                </a:solidFill>
                <a:latin typeface="Times New Roman" panose="02020603050405020304" pitchFamily="18" charset="0"/>
                <a:cs typeface="Times New Roman" panose="02020603050405020304" pitchFamily="18" charset="0"/>
              </a:rPr>
              <a:t>sidebar</a:t>
            </a:r>
            <a:r>
              <a:rPr lang="fr-FR" i="1" dirty="0">
                <a:solidFill>
                  <a:schemeClr val="accent1">
                    <a:lumMod val="50000"/>
                  </a:schemeClr>
                </a:solidFill>
                <a:latin typeface="Times New Roman" panose="02020603050405020304" pitchFamily="18" charset="0"/>
                <a:cs typeface="Times New Roman" panose="02020603050405020304" pitchFamily="18" charset="0"/>
              </a:rPr>
              <a:t>' du parent</a:t>
            </a:r>
          </a:p>
          <a:p>
            <a:pPr marL="0" indent="0" algn="just">
              <a:lnSpc>
                <a:spcPct val="100000"/>
              </a:lnSpc>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@show</a:t>
            </a:r>
          </a:p>
          <a:p>
            <a:pPr marL="0" indent="0" algn="just">
              <a:lnSpc>
                <a:spcPct val="100000"/>
              </a:lnSpc>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yield</a:t>
            </a:r>
            <a:r>
              <a:rPr lang="fr-FR" i="1" dirty="0">
                <a:solidFill>
                  <a:schemeClr val="accent1">
                    <a:lumMod val="50000"/>
                  </a:schemeClr>
                </a:solidFill>
                <a:latin typeface="Times New Roman" panose="02020603050405020304" pitchFamily="18" charset="0"/>
                <a:cs typeface="Times New Roman" panose="02020603050405020304" pitchFamily="18" charset="0"/>
              </a:rPr>
              <a:t>('section1')</a:t>
            </a:r>
          </a:p>
          <a:p>
            <a:pPr marL="0" indent="0" algn="just">
              <a:lnSpc>
                <a:spcPct val="100000"/>
              </a:lnSpc>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&lt;div style=‘border: </a:t>
            </a:r>
            <a:r>
              <a:rPr lang="fr-FR" i="1" dirty="0" err="1">
                <a:solidFill>
                  <a:schemeClr val="accent1">
                    <a:lumMod val="50000"/>
                  </a:schemeClr>
                </a:solidFill>
                <a:latin typeface="Times New Roman" panose="02020603050405020304" pitchFamily="18" charset="0"/>
                <a:cs typeface="Times New Roman" panose="02020603050405020304" pitchFamily="18" charset="0"/>
              </a:rPr>
              <a:t>solid</a:t>
            </a:r>
            <a:r>
              <a:rPr lang="fr-FR" i="1" dirty="0">
                <a:solidFill>
                  <a:schemeClr val="accent1">
                    <a:lumMod val="50000"/>
                  </a:schemeClr>
                </a:solidFill>
                <a:latin typeface="Times New Roman" panose="02020603050405020304" pitchFamily="18" charset="0"/>
                <a:cs typeface="Times New Roman" panose="02020603050405020304" pitchFamily="18" charset="0"/>
              </a:rPr>
              <a:t> black 1px;’&gt;        </a:t>
            </a:r>
          </a:p>
          <a:p>
            <a:pPr marL="0" indent="0" algn="just">
              <a:lnSpc>
                <a:spcPct val="100000"/>
              </a:lnSpc>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yield</a:t>
            </a:r>
            <a:r>
              <a:rPr lang="fr-FR" i="1" dirty="0">
                <a:solidFill>
                  <a:schemeClr val="accent1">
                    <a:lumMod val="50000"/>
                  </a:schemeClr>
                </a:solidFill>
                <a:latin typeface="Times New Roman" panose="02020603050405020304" pitchFamily="18" charset="0"/>
                <a:cs typeface="Times New Roman" panose="02020603050405020304" pitchFamily="18" charset="0"/>
              </a:rPr>
              <a:t>('section2')</a:t>
            </a:r>
          </a:p>
          <a:p>
            <a:pPr marL="0" indent="0" algn="just">
              <a:lnSpc>
                <a:spcPct val="100000"/>
              </a:lnSpc>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&lt;/div&gt;</a:t>
            </a:r>
          </a:p>
          <a:p>
            <a:pPr marL="0" indent="0" algn="just">
              <a:lnSpc>
                <a:spcPct val="100000"/>
              </a:lnSpc>
              <a:buNone/>
            </a:pPr>
            <a:r>
              <a:rPr lang="fr-FR" i="1" dirty="0">
                <a:solidFill>
                  <a:schemeClr val="accent1">
                    <a:lumMod val="50000"/>
                  </a:schemeClr>
                </a:solidFill>
                <a:latin typeface="Times New Roman" panose="02020603050405020304" pitchFamily="18" charset="0"/>
                <a:cs typeface="Times New Roman" panose="02020603050405020304" pitchFamily="18" charset="0"/>
              </a:rPr>
              <a:t>&lt;/body&gt;</a:t>
            </a:r>
            <a:endParaRPr lang="fr-FR" sz="2800"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8403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V- Template </a:t>
            </a:r>
            <a:r>
              <a:rPr lang="fr-FR" b="1" dirty="0" err="1">
                <a:solidFill>
                  <a:schemeClr val="accent1">
                    <a:lumMod val="50000"/>
                  </a:schemeClr>
                </a:solidFill>
                <a:effectLst>
                  <a:outerShdw blurRad="38100" dist="38100" dir="2700000" algn="tl">
                    <a:srgbClr val="000000">
                      <a:alpha val="43137"/>
                    </a:srgbClr>
                  </a:outerShdw>
                </a:effectLst>
              </a:rPr>
              <a:t>Blade</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5"/>
            <a:ext cx="10515600" cy="4879976"/>
          </a:xfrm>
        </p:spPr>
        <p:txBody>
          <a:bodyPr>
            <a:normAutofit/>
          </a:bodyPr>
          <a:lstStyle/>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Explication :</a:t>
            </a:r>
          </a:p>
          <a:p>
            <a:pPr algn="just"/>
            <a:r>
              <a:rPr lang="fr-FR" sz="2600" i="1" dirty="0">
                <a:solidFill>
                  <a:schemeClr val="accent1">
                    <a:lumMod val="50000"/>
                  </a:schemeClr>
                </a:solidFill>
                <a:latin typeface="Times New Roman" panose="02020603050405020304" pitchFamily="18" charset="0"/>
                <a:cs typeface="Times New Roman" panose="02020603050405020304" pitchFamily="18" charset="0"/>
              </a:rPr>
              <a:t>@section()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permet de déterminer la section d’un contenu.</a:t>
            </a:r>
          </a:p>
          <a:p>
            <a:pPr algn="just"/>
            <a:r>
              <a:rPr lang="fr-FR" sz="2600" i="1" dirty="0">
                <a:solidFill>
                  <a:schemeClr val="accent1">
                    <a:lumMod val="50000"/>
                  </a:schemeClr>
                </a:solidFill>
                <a:latin typeface="Times New Roman" panose="02020603050405020304" pitchFamily="18" charset="0"/>
                <a:cs typeface="Times New Roman" panose="02020603050405020304" pitchFamily="18" charset="0"/>
              </a:rPr>
              <a:t>@</a:t>
            </a:r>
            <a:r>
              <a:rPr lang="fr-FR" sz="2600" i="1" dirty="0" err="1">
                <a:solidFill>
                  <a:schemeClr val="accent1">
                    <a:lumMod val="50000"/>
                  </a:schemeClr>
                </a:solidFill>
                <a:latin typeface="Times New Roman" panose="02020603050405020304" pitchFamily="18" charset="0"/>
                <a:cs typeface="Times New Roman" panose="02020603050405020304" pitchFamily="18" charset="0"/>
              </a:rPr>
              <a:t>yield</a:t>
            </a:r>
            <a:r>
              <a:rPr lang="fr-FR" sz="2600"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permet de définir une zone qui permettra à l’enfant du Template d’y établir sa valeur.</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Voici comment étendre le Template que nous venons de voir :</a:t>
            </a:r>
          </a:p>
        </p:txBody>
      </p:sp>
    </p:spTree>
    <p:extLst>
      <p:ext uri="{BB962C8B-B14F-4D97-AF65-F5344CB8AC3E}">
        <p14:creationId xmlns:p14="http://schemas.microsoft.com/office/powerpoint/2010/main" val="1101086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V- Template </a:t>
            </a:r>
            <a:r>
              <a:rPr lang="fr-FR" b="1" dirty="0" err="1">
                <a:solidFill>
                  <a:schemeClr val="accent1">
                    <a:lumMod val="50000"/>
                  </a:schemeClr>
                </a:solidFill>
                <a:effectLst>
                  <a:outerShdw blurRad="38100" dist="38100" dir="2700000" algn="tl">
                    <a:srgbClr val="000000">
                      <a:alpha val="43137"/>
                    </a:srgbClr>
                  </a:outerShdw>
                </a:effectLst>
              </a:rPr>
              <a:t>Blade</a:t>
            </a:r>
            <a:r>
              <a:rPr lang="fr-FR" b="1" dirty="0">
                <a:solidFill>
                  <a:schemeClr val="accent1">
                    <a:lumMod val="50000"/>
                  </a:schemeClr>
                </a:solidFill>
                <a:effectLst>
                  <a:outerShdw blurRad="38100" dist="38100" dir="2700000" algn="tl">
                    <a:srgbClr val="000000">
                      <a:alpha val="43137"/>
                    </a:srgbClr>
                  </a:outerShdw>
                </a:effectLst>
              </a:rPr>
              <a:t>	</a:t>
            </a:r>
            <a:endParaRPr lang="fr-FR" dirty="0"/>
          </a:p>
        </p:txBody>
      </p:sp>
      <p:sp>
        <p:nvSpPr>
          <p:cNvPr id="3" name="Espace réservé du contenu 2"/>
          <p:cNvSpPr>
            <a:spLocks noGrp="1"/>
          </p:cNvSpPr>
          <p:nvPr>
            <p:ph idx="1"/>
          </p:nvPr>
        </p:nvSpPr>
        <p:spPr>
          <a:xfrm>
            <a:off x="838200" y="1825624"/>
            <a:ext cx="5135880" cy="5032375"/>
          </a:xfrm>
        </p:spPr>
        <p:txBody>
          <a:bodyPr>
            <a:noAutofit/>
          </a:bodyPr>
          <a:lstStyle/>
          <a:p>
            <a:pPr marL="0" indent="0" algn="just">
              <a:lnSpc>
                <a:spcPct val="11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extends</a:t>
            </a:r>
            <a:r>
              <a:rPr lang="fr-FR" sz="2400" i="1" dirty="0">
                <a:solidFill>
                  <a:schemeClr val="accent1">
                    <a:lumMod val="50000"/>
                  </a:schemeClr>
                </a:solidFill>
                <a:latin typeface="Times New Roman" panose="02020603050405020304" pitchFamily="18" charset="0"/>
                <a:cs typeface="Times New Roman" panose="02020603050405020304" pitchFamily="18" charset="0"/>
              </a:rPr>
              <a: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docparent</a:t>
            </a:r>
            <a:r>
              <a:rPr lang="fr-FR" sz="24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lnSpc>
                <a:spcPct val="11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@section('</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title</a:t>
            </a:r>
            <a:r>
              <a:rPr lang="fr-FR" sz="2400" i="1" dirty="0">
                <a:solidFill>
                  <a:schemeClr val="accent1">
                    <a:lumMod val="50000"/>
                  </a:schemeClr>
                </a:solidFill>
                <a:latin typeface="Times New Roman" panose="02020603050405020304" pitchFamily="18" charset="0"/>
                <a:cs typeface="Times New Roman" panose="02020603050405020304" pitchFamily="18" charset="0"/>
              </a:rPr>
              <a:t>',' fils')</a:t>
            </a:r>
          </a:p>
          <a:p>
            <a:pPr marL="0" indent="0" algn="just">
              <a:lnSpc>
                <a:spcPct val="11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@section('</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sidebar</a:t>
            </a:r>
            <a:r>
              <a:rPr lang="fr-FR" sz="2400"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lnSpc>
                <a:spcPct val="11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&lt;h3&gt;Avant contenu parent&lt;/h3&gt;</a:t>
            </a:r>
          </a:p>
          <a:p>
            <a:pPr marL="0" indent="0" algn="just">
              <a:lnSpc>
                <a:spcPct val="11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@parent</a:t>
            </a:r>
          </a:p>
          <a:p>
            <a:pPr marL="0" indent="0" algn="just">
              <a:lnSpc>
                <a:spcPct val="11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&lt;h3&gt;Après contenu parent&lt;/h3&gt;</a:t>
            </a:r>
          </a:p>
          <a:p>
            <a:pPr marL="0" indent="0" algn="just">
              <a:lnSpc>
                <a:spcPct val="110000"/>
              </a:lnSpc>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endsection</a:t>
            </a:r>
            <a:endParaRPr lang="fr-FR" sz="24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buNone/>
            </a:pPr>
            <a:endParaRPr lang="fr-FR" sz="1600" dirty="0"/>
          </a:p>
        </p:txBody>
      </p:sp>
      <p:sp>
        <p:nvSpPr>
          <p:cNvPr id="4" name="Espace réservé du contenu 2"/>
          <p:cNvSpPr txBox="1">
            <a:spLocks/>
          </p:cNvSpPr>
          <p:nvPr/>
        </p:nvSpPr>
        <p:spPr>
          <a:xfrm>
            <a:off x="5974080" y="1795144"/>
            <a:ext cx="5374640" cy="5032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buFont typeface="Arial" panose="020B0604020202020204" pitchFamily="34" charset="0"/>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@section('section1')</a:t>
            </a:r>
          </a:p>
          <a:p>
            <a:pPr marL="0" indent="0" algn="just">
              <a:lnSpc>
                <a:spcPct val="110000"/>
              </a:lnSpc>
              <a:buFont typeface="Arial" panose="020B0604020202020204" pitchFamily="34" charset="0"/>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&lt;h2&gt;Contenu du fils section1&lt;/h2&gt;</a:t>
            </a:r>
          </a:p>
          <a:p>
            <a:pPr marL="0" indent="0" algn="just">
              <a:lnSpc>
                <a:spcPct val="110000"/>
              </a:lnSpc>
              <a:buFont typeface="Arial" panose="020B0604020202020204" pitchFamily="34" charset="0"/>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endsection</a:t>
            </a:r>
            <a:endParaRPr lang="fr-FR" sz="24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lnSpc>
                <a:spcPct val="110000"/>
              </a:lnSpc>
              <a:buFont typeface="Arial" panose="020B0604020202020204" pitchFamily="34" charset="0"/>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@section('section2')</a:t>
            </a:r>
          </a:p>
          <a:p>
            <a:pPr marL="0" indent="0" algn="just">
              <a:lnSpc>
                <a:spcPct val="110000"/>
              </a:lnSpc>
              <a:buFont typeface="Arial" panose="020B0604020202020204" pitchFamily="34" charset="0"/>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&lt;h3&gt;Contenu du fils section2&lt;/h3&gt;</a:t>
            </a:r>
          </a:p>
          <a:p>
            <a:pPr marL="0" indent="0" algn="just">
              <a:lnSpc>
                <a:spcPct val="110000"/>
              </a:lnSpc>
              <a:buFont typeface="Arial" panose="020B0604020202020204" pitchFamily="34" charset="0"/>
              <a:buNone/>
            </a:pPr>
            <a:r>
              <a:rPr lang="fr-FR" sz="2400" i="1" dirty="0">
                <a:solidFill>
                  <a:schemeClr val="accent1">
                    <a:lumMod val="50000"/>
                  </a:schemeClr>
                </a:solidFill>
                <a:latin typeface="Times New Roman" panose="02020603050405020304" pitchFamily="18" charset="0"/>
                <a:cs typeface="Times New Roman" panose="02020603050405020304" pitchFamily="18" charset="0"/>
              </a:rPr>
              <a: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endsection</a:t>
            </a:r>
            <a:endParaRPr lang="fr-FR" sz="2400"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fr-FR" sz="1600" dirty="0"/>
          </a:p>
        </p:txBody>
      </p:sp>
    </p:spTree>
    <p:extLst>
      <p:ext uri="{BB962C8B-B14F-4D97-AF65-F5344CB8AC3E}">
        <p14:creationId xmlns:p14="http://schemas.microsoft.com/office/powerpoint/2010/main" val="1530535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VI- Protection CSRF</a:t>
            </a:r>
            <a:endParaRPr lang="fr-FR" dirty="0"/>
          </a:p>
        </p:txBody>
      </p:sp>
      <p:sp>
        <p:nvSpPr>
          <p:cNvPr id="3" name="Espace réservé du contenu 2"/>
          <p:cNvSpPr>
            <a:spLocks noGrp="1"/>
          </p:cNvSpPr>
          <p:nvPr>
            <p:ph idx="1"/>
          </p:nvPr>
        </p:nvSpPr>
        <p:spPr/>
        <p:txBody>
          <a:bodyPr vert="horz" lIns="91440" tIns="45720" rIns="91440" bIns="45720" rtlCol="0">
            <a:normAutofit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falsification de requêtes intersites (CSRF) est un type d’attaque effectué par l’attaquant pour envoyer des requêtes à un système avec l’aide d’un utilisateur autorisé auquel le système fait confiance.</a:t>
            </a:r>
          </a:p>
          <a:p>
            <a:pPr algn="just"/>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fournit une protection contre les attaques CSRF en générant un jeton CSRF . Ce jeton CSRF est généré automatiquement pour chaque utilisateur. Ce jeton n’est rien d’autre qu’une chaîne aléatoire gérée par l’application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pour vérifier les demandes des utilisateurs.</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Cette protection de jeton CSRF peut être appliquée à n’importe quel formulaire HTML dans l’application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en spécifiant un champ de formulaire caché du jeton CSRF.</a:t>
            </a:r>
          </a:p>
        </p:txBody>
      </p:sp>
    </p:spTree>
    <p:extLst>
      <p:ext uri="{BB962C8B-B14F-4D97-AF65-F5344CB8AC3E}">
        <p14:creationId xmlns:p14="http://schemas.microsoft.com/office/powerpoint/2010/main" val="1717242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VI- Protection CSRF</a:t>
            </a:r>
            <a:endParaRPr lang="fr-FR" dirty="0"/>
          </a:p>
        </p:txBody>
      </p:sp>
      <p:sp>
        <p:nvSpPr>
          <p:cNvPr id="3" name="Espace réservé du contenu 2"/>
          <p:cNvSpPr>
            <a:spLocks noGrp="1"/>
          </p:cNvSpPr>
          <p:nvPr>
            <p:ph idx="1"/>
          </p:nvPr>
        </p:nvSpPr>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Empêcher les attaques CSRF en utilisant la directive </a:t>
            </a:r>
            <a:r>
              <a:rPr lang="fr-FR" sz="2400" i="1" dirty="0">
                <a:solidFill>
                  <a:schemeClr val="accent1">
                    <a:lumMod val="50000"/>
                  </a:schemeClr>
                </a:solidFill>
                <a:latin typeface="Times New Roman" panose="02020603050405020304" pitchFamily="18" charset="0"/>
                <a:cs typeface="Times New Roman" panose="02020603050405020304" pitchFamily="18" charset="0"/>
              </a:rPr>
              <a:t>@</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csrf</a:t>
            </a:r>
            <a:r>
              <a:rPr lang="fr-FR" sz="2400"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&lt;</a:t>
            </a:r>
            <a:r>
              <a:rPr lang="fr-FR" i="1" dirty="0" err="1">
                <a:solidFill>
                  <a:schemeClr val="accent1">
                    <a:lumMod val="50000"/>
                  </a:schemeClr>
                </a:solidFill>
                <a:latin typeface="Times New Roman" panose="02020603050405020304" pitchFamily="18" charset="0"/>
                <a:cs typeface="Times New Roman" panose="02020603050405020304" pitchFamily="18" charset="0"/>
              </a:rPr>
              <a:t>form</a:t>
            </a:r>
            <a:r>
              <a:rPr lang="fr-FR" i="1" dirty="0">
                <a:solidFill>
                  <a:schemeClr val="accent1">
                    <a:lumMod val="50000"/>
                  </a:schemeClr>
                </a:solidFill>
                <a:latin typeface="Times New Roman" panose="02020603050405020304" pitchFamily="18" charset="0"/>
                <a:cs typeface="Times New Roman" panose="02020603050405020304" pitchFamily="18" charset="0"/>
              </a:rPr>
              <a:t> action={{route(‘traitement’)}} </a:t>
            </a:r>
            <a:r>
              <a:rPr lang="fr-FR" i="1" dirty="0" err="1">
                <a:solidFill>
                  <a:schemeClr val="accent1">
                    <a:lumMod val="50000"/>
                  </a:schemeClr>
                </a:solidFill>
                <a:latin typeface="Times New Roman" panose="02020603050405020304" pitchFamily="18" charset="0"/>
                <a:cs typeface="Times New Roman" panose="02020603050405020304" pitchFamily="18" charset="0"/>
              </a:rPr>
              <a:t>method</a:t>
            </a:r>
            <a:r>
              <a:rPr lang="fr-FR" i="1" dirty="0">
                <a:solidFill>
                  <a:schemeClr val="accent1">
                    <a:lumMod val="50000"/>
                  </a:schemeClr>
                </a:solidFill>
                <a:latin typeface="Times New Roman" panose="02020603050405020304" pitchFamily="18" charset="0"/>
                <a:cs typeface="Times New Roman" panose="02020603050405020304" pitchFamily="18" charset="0"/>
              </a:rPr>
              <a:t>=‘post’&gt;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csrf</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&lt;/</a:t>
            </a:r>
            <a:r>
              <a:rPr lang="fr-FR" i="1" dirty="0" err="1">
                <a:solidFill>
                  <a:schemeClr val="accent1">
                    <a:lumMod val="50000"/>
                  </a:schemeClr>
                </a:solidFill>
                <a:latin typeface="Times New Roman" panose="02020603050405020304" pitchFamily="18" charset="0"/>
                <a:cs typeface="Times New Roman" panose="02020603050405020304" pitchFamily="18" charset="0"/>
              </a:rPr>
              <a:t>form</a:t>
            </a:r>
            <a:r>
              <a:rPr lang="fr-FR" i="1" dirty="0">
                <a:solidFill>
                  <a:schemeClr val="accent1">
                    <a:lumMod val="50000"/>
                  </a:schemeClr>
                </a:solidFill>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3104738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VI- Protection CSRF</a:t>
            </a:r>
            <a:endParaRPr lang="fr-FR" dirty="0"/>
          </a:p>
        </p:txBody>
      </p:sp>
      <p:sp>
        <p:nvSpPr>
          <p:cNvPr id="3" name="Espace réservé du contenu 2"/>
          <p:cNvSpPr>
            <a:spLocks noGrp="1"/>
          </p:cNvSpPr>
          <p:nvPr>
            <p:ph idx="1"/>
          </p:nvPr>
        </p:nvSpPr>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Empêcher les attaques CSRF en utilisant un champs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hidden</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et la méthode </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csrf_token</a:t>
            </a:r>
            <a:r>
              <a:rPr lang="fr-FR" sz="2400"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&lt;</a:t>
            </a:r>
            <a:r>
              <a:rPr lang="fr-FR" i="1" dirty="0" err="1">
                <a:solidFill>
                  <a:schemeClr val="accent1">
                    <a:lumMod val="50000"/>
                  </a:schemeClr>
                </a:solidFill>
                <a:latin typeface="Times New Roman" panose="02020603050405020304" pitchFamily="18" charset="0"/>
                <a:cs typeface="Times New Roman" panose="02020603050405020304" pitchFamily="18" charset="0"/>
              </a:rPr>
              <a:t>form</a:t>
            </a:r>
            <a:r>
              <a:rPr lang="fr-FR" i="1" dirty="0">
                <a:solidFill>
                  <a:schemeClr val="accent1">
                    <a:lumMod val="50000"/>
                  </a:schemeClr>
                </a:solidFill>
                <a:latin typeface="Times New Roman" panose="02020603050405020304" pitchFamily="18" charset="0"/>
                <a:cs typeface="Times New Roman" panose="02020603050405020304" pitchFamily="18" charset="0"/>
              </a:rPr>
              <a:t> action={{route(‘traitement’)}} </a:t>
            </a:r>
            <a:r>
              <a:rPr lang="fr-FR" i="1" dirty="0" err="1">
                <a:solidFill>
                  <a:schemeClr val="accent1">
                    <a:lumMod val="50000"/>
                  </a:schemeClr>
                </a:solidFill>
                <a:latin typeface="Times New Roman" panose="02020603050405020304" pitchFamily="18" charset="0"/>
                <a:cs typeface="Times New Roman" panose="02020603050405020304" pitchFamily="18" charset="0"/>
              </a:rPr>
              <a:t>method</a:t>
            </a:r>
            <a:r>
              <a:rPr lang="fr-FR" i="1" dirty="0">
                <a:solidFill>
                  <a:schemeClr val="accent1">
                    <a:lumMod val="50000"/>
                  </a:schemeClr>
                </a:solidFill>
                <a:latin typeface="Times New Roman" panose="02020603050405020304" pitchFamily="18" charset="0"/>
                <a:cs typeface="Times New Roman" panose="02020603050405020304" pitchFamily="18" charset="0"/>
              </a:rPr>
              <a:t>=‘post’&gt;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&lt;input type=‘</a:t>
            </a:r>
            <a:r>
              <a:rPr lang="fr-FR" i="1" dirty="0" err="1">
                <a:solidFill>
                  <a:schemeClr val="accent1">
                    <a:lumMod val="50000"/>
                  </a:schemeClr>
                </a:solidFill>
                <a:latin typeface="Times New Roman" panose="02020603050405020304" pitchFamily="18" charset="0"/>
                <a:cs typeface="Times New Roman" panose="02020603050405020304" pitchFamily="18" charset="0"/>
              </a:rPr>
              <a:t>hidden</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name</a:t>
            </a:r>
            <a:r>
              <a:rPr lang="fr-FR" i="1" dirty="0">
                <a:solidFill>
                  <a:schemeClr val="accent1">
                    <a:lumMod val="50000"/>
                  </a:schemeClr>
                </a:solidFill>
                <a:latin typeface="Times New Roman" panose="02020603050405020304" pitchFamily="18" charset="0"/>
                <a:cs typeface="Times New Roman" panose="02020603050405020304" pitchFamily="18" charset="0"/>
              </a:rPr>
              <a:t>=‘_</a:t>
            </a:r>
            <a:r>
              <a:rPr lang="fr-FR" i="1" dirty="0" err="1">
                <a:solidFill>
                  <a:schemeClr val="accent1">
                    <a:lumMod val="50000"/>
                  </a:schemeClr>
                </a:solidFill>
                <a:latin typeface="Times New Roman" panose="02020603050405020304" pitchFamily="18" charset="0"/>
                <a:cs typeface="Times New Roman" panose="02020603050405020304" pitchFamily="18" charset="0"/>
              </a:rPr>
              <a:t>token</a:t>
            </a:r>
            <a:r>
              <a:rPr lang="fr-FR" i="1" dirty="0">
                <a:solidFill>
                  <a:schemeClr val="accent1">
                    <a:lumMod val="50000"/>
                  </a:schemeClr>
                </a:solidFill>
                <a:latin typeface="Times New Roman" panose="02020603050405020304" pitchFamily="18" charset="0"/>
                <a:cs typeface="Times New Roman" panose="02020603050405020304" pitchFamily="18" charset="0"/>
              </a:rPr>
              <a:t>’ value=‘{{</a:t>
            </a:r>
            <a:r>
              <a:rPr lang="fr-FR" i="1" dirty="0" err="1">
                <a:solidFill>
                  <a:schemeClr val="accent1">
                    <a:lumMod val="50000"/>
                  </a:schemeClr>
                </a:solidFill>
                <a:latin typeface="Times New Roman" panose="02020603050405020304" pitchFamily="18" charset="0"/>
                <a:cs typeface="Times New Roman" panose="02020603050405020304" pitchFamily="18" charset="0"/>
              </a:rPr>
              <a:t>csrf_token</a:t>
            </a:r>
            <a:r>
              <a:rPr lang="fr-FR" i="1" dirty="0">
                <a:solidFill>
                  <a:schemeClr val="accent1">
                    <a:lumMod val="50000"/>
                  </a:schemeClr>
                </a:solidFill>
                <a:latin typeface="Times New Roman" panose="02020603050405020304" pitchFamily="18" charset="0"/>
                <a:cs typeface="Times New Roman" panose="02020603050405020304" pitchFamily="18" charset="0"/>
              </a:rPr>
              <a:t>()}}’/&gt;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&lt;/</a:t>
            </a:r>
            <a:r>
              <a:rPr lang="fr-FR" i="1" dirty="0" err="1">
                <a:solidFill>
                  <a:schemeClr val="accent1">
                    <a:lumMod val="50000"/>
                  </a:schemeClr>
                </a:solidFill>
                <a:latin typeface="Times New Roman" panose="02020603050405020304" pitchFamily="18" charset="0"/>
                <a:cs typeface="Times New Roman" panose="02020603050405020304" pitchFamily="18" charset="0"/>
              </a:rPr>
              <a:t>form</a:t>
            </a:r>
            <a:r>
              <a:rPr lang="fr-FR" i="1" dirty="0">
                <a:solidFill>
                  <a:schemeClr val="accent1">
                    <a:lumMod val="50000"/>
                  </a:schemeClr>
                </a:solidFill>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547196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VI- Protection CSRF</a:t>
            </a:r>
            <a:endParaRPr lang="fr-FR" dirty="0"/>
          </a:p>
        </p:txBody>
      </p:sp>
      <p:sp>
        <p:nvSpPr>
          <p:cNvPr id="3" name="Espace réservé du contenu 2"/>
          <p:cNvSpPr>
            <a:spLocks noGrp="1"/>
          </p:cNvSpPr>
          <p:nvPr>
            <p:ph idx="1"/>
          </p:nvPr>
        </p:nvSpPr>
        <p:spPr/>
        <p:txBody>
          <a:bodyPr vert="horz" lIns="91440" tIns="45720" rIns="91440" bIns="45720" rtlCol="0">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Empêcher les attaques CSRF en utilisant la fonction </a:t>
            </a:r>
            <a:r>
              <a:rPr lang="fr-FR" sz="2400" i="1" dirty="0" err="1">
                <a:solidFill>
                  <a:schemeClr val="accent1">
                    <a:lumMod val="50000"/>
                  </a:schemeClr>
                </a:solidFill>
                <a:latin typeface="Times New Roman" panose="02020603050405020304" pitchFamily="18" charset="0"/>
                <a:cs typeface="Times New Roman" panose="02020603050405020304" pitchFamily="18" charset="0"/>
              </a:rPr>
              <a:t>csrf_field</a:t>
            </a:r>
            <a:r>
              <a:rPr lang="fr-FR" sz="2400" i="1" dirty="0">
                <a:solidFill>
                  <a:schemeClr val="accent1">
                    <a:lumMod val="50000"/>
                  </a:schemeClr>
                </a:solidFill>
                <a:latin typeface="Times New Roman" panose="02020603050405020304" pitchFamily="18" charset="0"/>
                <a:cs typeface="Times New Roman" panose="02020603050405020304" pitchFamily="18" charset="0"/>
              </a:rPr>
              <a:t>() </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&lt;</a:t>
            </a:r>
            <a:r>
              <a:rPr lang="fr-FR" i="1" dirty="0" err="1">
                <a:solidFill>
                  <a:schemeClr val="accent1">
                    <a:lumMod val="50000"/>
                  </a:schemeClr>
                </a:solidFill>
                <a:latin typeface="Times New Roman" panose="02020603050405020304" pitchFamily="18" charset="0"/>
                <a:cs typeface="Times New Roman" panose="02020603050405020304" pitchFamily="18" charset="0"/>
              </a:rPr>
              <a:t>form</a:t>
            </a:r>
            <a:r>
              <a:rPr lang="fr-FR" i="1" dirty="0">
                <a:solidFill>
                  <a:schemeClr val="accent1">
                    <a:lumMod val="50000"/>
                  </a:schemeClr>
                </a:solidFill>
                <a:latin typeface="Times New Roman" panose="02020603050405020304" pitchFamily="18" charset="0"/>
                <a:cs typeface="Times New Roman" panose="02020603050405020304" pitchFamily="18" charset="0"/>
              </a:rPr>
              <a:t> action={{route(‘traitement’)}} </a:t>
            </a:r>
            <a:r>
              <a:rPr lang="fr-FR" i="1" dirty="0" err="1">
                <a:solidFill>
                  <a:schemeClr val="accent1">
                    <a:lumMod val="50000"/>
                  </a:schemeClr>
                </a:solidFill>
                <a:latin typeface="Times New Roman" panose="02020603050405020304" pitchFamily="18" charset="0"/>
                <a:cs typeface="Times New Roman" panose="02020603050405020304" pitchFamily="18" charset="0"/>
              </a:rPr>
              <a:t>method</a:t>
            </a:r>
            <a:r>
              <a:rPr lang="fr-FR" i="1" dirty="0">
                <a:solidFill>
                  <a:schemeClr val="accent1">
                    <a:lumMod val="50000"/>
                  </a:schemeClr>
                </a:solidFill>
                <a:latin typeface="Times New Roman" panose="02020603050405020304" pitchFamily="18" charset="0"/>
                <a:cs typeface="Times New Roman" panose="02020603050405020304" pitchFamily="18" charset="0"/>
              </a:rPr>
              <a:t>=‘post’&gt;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csrf_field</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&lt;/</a:t>
            </a:r>
            <a:r>
              <a:rPr lang="fr-FR" i="1" dirty="0" err="1">
                <a:solidFill>
                  <a:schemeClr val="accent1">
                    <a:lumMod val="50000"/>
                  </a:schemeClr>
                </a:solidFill>
                <a:latin typeface="Times New Roman" panose="02020603050405020304" pitchFamily="18" charset="0"/>
                <a:cs typeface="Times New Roman" panose="02020603050405020304" pitchFamily="18" charset="0"/>
              </a:rPr>
              <a:t>form</a:t>
            </a:r>
            <a:r>
              <a:rPr lang="fr-FR" i="1" dirty="0">
                <a:solidFill>
                  <a:schemeClr val="accent1">
                    <a:lumMod val="50000"/>
                  </a:schemeClr>
                </a:solidFill>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29306931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24978</TotalTime>
  <Words>1617</Words>
  <Application>Microsoft Office PowerPoint</Application>
  <PresentationFormat>Grand écran</PresentationFormat>
  <Paragraphs>186</Paragraphs>
  <Slides>24</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24</vt:i4>
      </vt:variant>
    </vt:vector>
  </HeadingPairs>
  <TitlesOfParts>
    <vt:vector size="29" baseType="lpstr">
      <vt:lpstr>Arial</vt:lpstr>
      <vt:lpstr>Calibri</vt:lpstr>
      <vt:lpstr>Calibri Light</vt:lpstr>
      <vt:lpstr>Times New Roman</vt:lpstr>
      <vt:lpstr>Thème Office</vt:lpstr>
      <vt:lpstr>CH4-Les vues</vt:lpstr>
      <vt:lpstr>I- Définition</vt:lpstr>
      <vt:lpstr>II- Création d’une vue </vt:lpstr>
      <vt:lpstr>III- Passage d’une variable à une vue </vt:lpstr>
      <vt:lpstr>III- Passage d’une variable à une vue </vt:lpstr>
      <vt:lpstr>IV- Syntaxe Blade </vt:lpstr>
      <vt:lpstr>IV- Syntaxe Blade </vt:lpstr>
      <vt:lpstr>IV- Syntaxe Blade </vt:lpstr>
      <vt:lpstr>IV- Syntaxe Blade </vt:lpstr>
      <vt:lpstr>IV- Syntaxe Blade </vt:lpstr>
      <vt:lpstr>IV- Syntaxe Blade </vt:lpstr>
      <vt:lpstr>IV- Syntaxe Blade </vt:lpstr>
      <vt:lpstr>IV- Syntaxe Blade </vt:lpstr>
      <vt:lpstr>IV- Syntaxe Blade </vt:lpstr>
      <vt:lpstr>IV- Syntaxe Blade </vt:lpstr>
      <vt:lpstr>IV- Syntaxe Blade </vt:lpstr>
      <vt:lpstr>V- Template Blade </vt:lpstr>
      <vt:lpstr>V- Template Blade </vt:lpstr>
      <vt:lpstr>V- Template Blade </vt:lpstr>
      <vt:lpstr>V- Template Blade </vt:lpstr>
      <vt:lpstr>VI- Protection CSRF</vt:lpstr>
      <vt:lpstr>VI- Protection CSRF</vt:lpstr>
      <vt:lpstr>VI- Protection CSRF</vt:lpstr>
      <vt:lpstr>VI- Protection CSRF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CH1-Framework Back-end</dc:title>
  <dc:creator>NAJ LAM</dc:creator>
  <cp:lastModifiedBy>NAJIB LAMOURI</cp:lastModifiedBy>
  <cp:revision>104</cp:revision>
  <dcterms:created xsi:type="dcterms:W3CDTF">2023-02-19T17:43:52Z</dcterms:created>
  <dcterms:modified xsi:type="dcterms:W3CDTF">2024-02-21T22:49:22Z</dcterms:modified>
</cp:coreProperties>
</file>