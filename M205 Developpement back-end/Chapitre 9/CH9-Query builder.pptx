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7"/>
  </p:notesMasterIdLst>
  <p:sldIdLst>
    <p:sldId id="256" r:id="rId2"/>
    <p:sldId id="257" r:id="rId3"/>
    <p:sldId id="258" r:id="rId4"/>
    <p:sldId id="259" r:id="rId5"/>
    <p:sldId id="260" r:id="rId6"/>
    <p:sldId id="261" r:id="rId7"/>
    <p:sldId id="262" r:id="rId8"/>
    <p:sldId id="265" r:id="rId9"/>
    <p:sldId id="266" r:id="rId10"/>
    <p:sldId id="268" r:id="rId11"/>
    <p:sldId id="267" r:id="rId12"/>
    <p:sldId id="263" r:id="rId13"/>
    <p:sldId id="264" r:id="rId14"/>
    <p:sldId id="269" r:id="rId15"/>
    <p:sldId id="270"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910580-2A5A-4E45-925B-CACCF8C0B85F}" type="datetimeFigureOut">
              <a:rPr lang="fr-FR" smtClean="0"/>
              <a:t>22/05/2024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ED4D56-1D12-4C59-BE0B-E4F26EDE9652}" type="slidenum">
              <a:rPr lang="fr-FR" smtClean="0"/>
              <a:t>‹N°›</a:t>
            </a:fld>
            <a:endParaRPr lang="fr-FR"/>
          </a:p>
        </p:txBody>
      </p:sp>
    </p:spTree>
    <p:extLst>
      <p:ext uri="{BB962C8B-B14F-4D97-AF65-F5344CB8AC3E}">
        <p14:creationId xmlns:p14="http://schemas.microsoft.com/office/powerpoint/2010/main" val="428751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MA" dirty="0"/>
          </a:p>
        </p:txBody>
      </p:sp>
      <p:sp>
        <p:nvSpPr>
          <p:cNvPr id="4" name="Espace réservé du numéro de diapositive 3"/>
          <p:cNvSpPr>
            <a:spLocks noGrp="1"/>
          </p:cNvSpPr>
          <p:nvPr>
            <p:ph type="sldNum" sz="quarter" idx="5"/>
          </p:nvPr>
        </p:nvSpPr>
        <p:spPr/>
        <p:txBody>
          <a:bodyPr/>
          <a:lstStyle/>
          <a:p>
            <a:fld id="{D2ED4D56-1D12-4C59-BE0B-E4F26EDE9652}" type="slidenum">
              <a:rPr lang="fr-FR" smtClean="0"/>
              <a:t>1</a:t>
            </a:fld>
            <a:endParaRPr lang="fr-FR"/>
          </a:p>
        </p:txBody>
      </p:sp>
    </p:spTree>
    <p:extLst>
      <p:ext uri="{BB962C8B-B14F-4D97-AF65-F5344CB8AC3E}">
        <p14:creationId xmlns:p14="http://schemas.microsoft.com/office/powerpoint/2010/main" val="16983969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67BF7099-A69C-40A7-961E-56EC432041D2}" type="datetimeFigureOut">
              <a:rPr lang="fr-FR" smtClean="0"/>
              <a:t>22/05/2024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975904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7BF7099-A69C-40A7-961E-56EC432041D2}" type="datetimeFigureOut">
              <a:rPr lang="fr-FR" smtClean="0"/>
              <a:t>22/05/2024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3597861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67BF7099-A69C-40A7-961E-56EC432041D2}" type="datetimeFigureOut">
              <a:rPr lang="fr-FR" smtClean="0"/>
              <a:t>22/05/2024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132520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67BF7099-A69C-40A7-961E-56EC432041D2}" type="datetimeFigureOut">
              <a:rPr lang="fr-FR" smtClean="0"/>
              <a:t>22/05/2024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2792224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67BF7099-A69C-40A7-961E-56EC432041D2}" type="datetimeFigureOut">
              <a:rPr lang="fr-FR" smtClean="0"/>
              <a:t>22/05/2024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246453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67BF7099-A69C-40A7-961E-56EC432041D2}" type="datetimeFigureOut">
              <a:rPr lang="fr-FR" smtClean="0"/>
              <a:t>22/05/2024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3230939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7BF7099-A69C-40A7-961E-56EC432041D2}" type="datetimeFigureOut">
              <a:rPr lang="fr-FR" smtClean="0"/>
              <a:t>22/05/2024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4158727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67BF7099-A69C-40A7-961E-56EC432041D2}" type="datetimeFigureOut">
              <a:rPr lang="fr-FR" smtClean="0"/>
              <a:t>22/05/2024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4257094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67BF7099-A69C-40A7-961E-56EC432041D2}" type="datetimeFigureOut">
              <a:rPr lang="fr-FR" smtClean="0"/>
              <a:t>22/05/2024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1653361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7BF7099-A69C-40A7-961E-56EC432041D2}" type="datetimeFigureOut">
              <a:rPr lang="fr-FR" smtClean="0"/>
              <a:t>22/05/2024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2167032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7BF7099-A69C-40A7-961E-56EC432041D2}" type="datetimeFigureOut">
              <a:rPr lang="fr-FR" smtClean="0"/>
              <a:t>22/05/2024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90E51CD-4CEC-42A2-944E-03DCAE8EDECC}" type="slidenum">
              <a:rPr lang="fr-FR" smtClean="0"/>
              <a:t>‹N°›</a:t>
            </a:fld>
            <a:endParaRPr lang="fr-FR"/>
          </a:p>
        </p:txBody>
      </p:sp>
    </p:spTree>
    <p:extLst>
      <p:ext uri="{BB962C8B-B14F-4D97-AF65-F5344CB8AC3E}">
        <p14:creationId xmlns:p14="http://schemas.microsoft.com/office/powerpoint/2010/main" val="177822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BF7099-A69C-40A7-961E-56EC432041D2}" type="datetimeFigureOut">
              <a:rPr lang="fr-FR" smtClean="0"/>
              <a:t>22/05/2024</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0E51CD-4CEC-42A2-944E-03DCAE8EDECC}" type="slidenum">
              <a:rPr lang="fr-FR" smtClean="0"/>
              <a:t>‹N°›</a:t>
            </a:fld>
            <a:endParaRPr lang="fr-FR"/>
          </a:p>
        </p:txBody>
      </p:sp>
    </p:spTree>
    <p:extLst>
      <p:ext uri="{BB962C8B-B14F-4D97-AF65-F5344CB8AC3E}">
        <p14:creationId xmlns:p14="http://schemas.microsoft.com/office/powerpoint/2010/main" val="110272686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b="1">
                <a:effectLst>
                  <a:outerShdw blurRad="38100" dist="38100" dir="2700000" algn="tl">
                    <a:srgbClr val="000000">
                      <a:alpha val="43137"/>
                    </a:srgbClr>
                  </a:outerShdw>
                </a:effectLst>
              </a:rPr>
              <a:t>CH9-Query </a:t>
            </a:r>
            <a:r>
              <a:rPr lang="fr-FR" b="1" dirty="0" err="1">
                <a:effectLst>
                  <a:outerShdw blurRad="38100" dist="38100" dir="2700000" algn="tl">
                    <a:srgbClr val="000000">
                      <a:alpha val="43137"/>
                    </a:srgbClr>
                  </a:outerShdw>
                </a:effectLst>
              </a:rPr>
              <a:t>builder</a:t>
            </a:r>
            <a:endParaRPr lang="fr-FR" b="1" dirty="0">
              <a:effectLst>
                <a:outerShdw blurRad="38100" dist="38100" dir="2700000" algn="tl">
                  <a:srgbClr val="000000">
                    <a:alpha val="43137"/>
                  </a:srgbClr>
                </a:outerShdw>
              </a:effectLst>
            </a:endParaRPr>
          </a:p>
        </p:txBody>
      </p:sp>
      <p:sp>
        <p:nvSpPr>
          <p:cNvPr id="3" name="Sous-titre 2"/>
          <p:cNvSpPr>
            <a:spLocks noGrp="1"/>
          </p:cNvSpPr>
          <p:nvPr>
            <p:ph type="subTitle" idx="1"/>
          </p:nvPr>
        </p:nvSpPr>
        <p:spPr/>
        <p:txBody>
          <a:bodyPr/>
          <a:lstStyle/>
          <a:p>
            <a:r>
              <a:rPr lang="fr-FR" dirty="0">
                <a:effectLst>
                  <a:outerShdw blurRad="38100" dist="38100" dir="2700000" algn="tl">
                    <a:srgbClr val="000000">
                      <a:alpha val="43137"/>
                    </a:srgbClr>
                  </a:outerShdw>
                </a:effectLst>
              </a:rPr>
              <a:t>Développement back-end</a:t>
            </a:r>
          </a:p>
        </p:txBody>
      </p:sp>
    </p:spTree>
    <p:extLst>
      <p:ext uri="{BB962C8B-B14F-4D97-AF65-F5344CB8AC3E}">
        <p14:creationId xmlns:p14="http://schemas.microsoft.com/office/powerpoint/2010/main" val="3258402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 Introduction</a:t>
            </a:r>
          </a:p>
        </p:txBody>
      </p:sp>
      <p:sp>
        <p:nvSpPr>
          <p:cNvPr id="3" name="Espace réservé du contenu 2"/>
          <p:cNvSpPr>
            <a:spLocks noGrp="1"/>
          </p:cNvSpPr>
          <p:nvPr>
            <p:ph idx="1"/>
          </p:nvPr>
        </p:nvSpPr>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 générateur de requêtes de base de données 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Laravel</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fournit une interface pratique et fluide pour créer et exécuter des requêtes de base de données. </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Il peut être utilisé pour effectuer la plupart des opérations de base de données dans votre application et fonctionne parfaitement avec tous les systèmes de base de données pris en charge par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Laravel</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 générateur de requêtes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Laravel</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utilise la liaison de paramètres PDO pour protéger votre application contre les attaques par injection SQL. </a:t>
            </a:r>
          </a:p>
        </p:txBody>
      </p:sp>
    </p:spTree>
    <p:extLst>
      <p:ext uri="{BB962C8B-B14F-4D97-AF65-F5344CB8AC3E}">
        <p14:creationId xmlns:p14="http://schemas.microsoft.com/office/powerpoint/2010/main" val="2300802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 Mise à jour des données: insertion</a:t>
            </a:r>
          </a:p>
        </p:txBody>
      </p:sp>
      <p:sp>
        <p:nvSpPr>
          <p:cNvPr id="3" name="Espace réservé du contenu 2"/>
          <p:cNvSpPr>
            <a:spLocks noGrp="1"/>
          </p:cNvSpPr>
          <p:nvPr>
            <p:ph idx="1"/>
          </p:nvPr>
        </p:nvSpPr>
        <p:spPr>
          <a:xfrm>
            <a:off x="838200" y="1825625"/>
            <a:ext cx="11125200" cy="4667250"/>
          </a:xfrm>
        </p:spPr>
        <p:txBody>
          <a:bodyPr>
            <a:normAutofit fontScale="77500" lnSpcReduction="2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insérer une ligne dans la base de données, on peut utiliser l’instruction insert de la manière suivante:</a:t>
            </a:r>
          </a:p>
          <a:p>
            <a:pPr marL="0" indent="0" algn="just">
              <a:lnSpc>
                <a:spcPct val="110000"/>
              </a:lnSpc>
              <a:buNone/>
            </a:pPr>
            <a:r>
              <a:rPr lang="fr-FR" sz="3000" i="1" dirty="0">
                <a:solidFill>
                  <a:schemeClr val="tx2"/>
                </a:solidFill>
                <a:latin typeface="Times New Roman" panose="02020603050405020304" pitchFamily="18" charset="0"/>
                <a:cs typeface="Times New Roman" panose="02020603050405020304" pitchFamily="18" charset="0"/>
              </a:rPr>
              <a:t>public </a:t>
            </a:r>
            <a:r>
              <a:rPr lang="fr-FR" sz="3000" i="1" dirty="0" err="1">
                <a:solidFill>
                  <a:schemeClr val="tx2"/>
                </a:solidFill>
                <a:latin typeface="Times New Roman" panose="02020603050405020304" pitchFamily="18" charset="0"/>
                <a:cs typeface="Times New Roman" panose="02020603050405020304" pitchFamily="18" charset="0"/>
              </a:rPr>
              <a:t>function</a:t>
            </a:r>
            <a:r>
              <a:rPr lang="fr-FR" sz="3000" i="1" dirty="0">
                <a:solidFill>
                  <a:schemeClr val="tx2"/>
                </a:solidFill>
                <a:latin typeface="Times New Roman" panose="02020603050405020304" pitchFamily="18" charset="0"/>
                <a:cs typeface="Times New Roman" panose="02020603050405020304" pitchFamily="18" charset="0"/>
              </a:rPr>
              <a:t> store(</a:t>
            </a:r>
            <a:r>
              <a:rPr lang="fr-FR" sz="3000" i="1" dirty="0" err="1">
                <a:solidFill>
                  <a:schemeClr val="tx2"/>
                </a:solidFill>
                <a:latin typeface="Times New Roman" panose="02020603050405020304" pitchFamily="18" charset="0"/>
                <a:cs typeface="Times New Roman" panose="02020603050405020304" pitchFamily="18" charset="0"/>
              </a:rPr>
              <a:t>Request</a:t>
            </a: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request</a:t>
            </a:r>
            <a:r>
              <a:rPr lang="fr-FR" sz="3000" i="1" dirty="0">
                <a:solidFill>
                  <a:schemeClr val="tx2"/>
                </a:solidFill>
                <a:latin typeface="Times New Roman" panose="02020603050405020304" pitchFamily="18" charset="0"/>
                <a:cs typeface="Times New Roman" panose="02020603050405020304" pitchFamily="18" charset="0"/>
              </a:rPr>
              <a:t>)</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’)-&gt;insert([</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‘id’=&gt;$</a:t>
            </a:r>
            <a:r>
              <a:rPr lang="fr-FR" sz="3000" i="1" dirty="0" err="1">
                <a:solidFill>
                  <a:schemeClr val="tx2"/>
                </a:solidFill>
                <a:latin typeface="Times New Roman" panose="02020603050405020304" pitchFamily="18" charset="0"/>
                <a:cs typeface="Times New Roman" panose="02020603050405020304" pitchFamily="18" charset="0"/>
              </a:rPr>
              <a:t>request</a:t>
            </a:r>
            <a:r>
              <a:rPr lang="fr-FR" sz="3000" i="1" dirty="0">
                <a:solidFill>
                  <a:schemeClr val="tx2"/>
                </a:solidFill>
                <a:latin typeface="Times New Roman" panose="02020603050405020304" pitchFamily="18" charset="0"/>
                <a:cs typeface="Times New Roman" panose="02020603050405020304" pitchFamily="18" charset="0"/>
              </a:rPr>
              <a:t>-&gt;id,</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‘nom’=&gt;$</a:t>
            </a:r>
            <a:r>
              <a:rPr lang="fr-FR" sz="3000" i="1" dirty="0" err="1">
                <a:solidFill>
                  <a:schemeClr val="tx2"/>
                </a:solidFill>
                <a:latin typeface="Times New Roman" panose="02020603050405020304" pitchFamily="18" charset="0"/>
                <a:cs typeface="Times New Roman" panose="02020603050405020304" pitchFamily="18" charset="0"/>
              </a:rPr>
              <a:t>request</a:t>
            </a:r>
            <a:r>
              <a:rPr lang="fr-FR" sz="3000" i="1" dirty="0">
                <a:solidFill>
                  <a:schemeClr val="tx2"/>
                </a:solidFill>
                <a:latin typeface="Times New Roman" panose="02020603050405020304" pitchFamily="18" charset="0"/>
                <a:cs typeface="Times New Roman" panose="02020603050405020304" pitchFamily="18" charset="0"/>
              </a:rPr>
              <a:t>-&gt;nom,</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prenom</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request</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prenom</a:t>
            </a:r>
            <a:endParaRPr lang="fr-FR" sz="3000" i="1" dirty="0">
              <a:solidFill>
                <a:schemeClr val="tx2"/>
              </a:solidFill>
              <a:latin typeface="Times New Roman" panose="02020603050405020304" pitchFamily="18" charset="0"/>
              <a:cs typeface="Times New Roman" panose="02020603050405020304" pitchFamily="18" charset="0"/>
            </a:endParaRP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return </a:t>
            </a:r>
            <a:r>
              <a:rPr lang="fr-FR" sz="3000" i="1" dirty="0" err="1">
                <a:solidFill>
                  <a:schemeClr val="tx2"/>
                </a:solidFill>
                <a:latin typeface="Times New Roman" panose="02020603050405020304" pitchFamily="18" charset="0"/>
                <a:cs typeface="Times New Roman" panose="02020603050405020304" pitchFamily="18" charset="0"/>
              </a:rPr>
              <a:t>redirect</a:t>
            </a:r>
            <a:r>
              <a:rPr lang="fr-FR" sz="3000" i="1" dirty="0">
                <a:solidFill>
                  <a:schemeClr val="tx2"/>
                </a:solidFill>
                <a:latin typeface="Times New Roman" panose="02020603050405020304" pitchFamily="18" charset="0"/>
                <a:cs typeface="Times New Roman" panose="02020603050405020304" pitchFamily="18" charset="0"/>
              </a:rPr>
              <a:t>()-&gt;route(‘</a:t>
            </a:r>
            <a:r>
              <a:rPr lang="fr-FR" sz="3000" i="1" dirty="0" err="1">
                <a:solidFill>
                  <a:schemeClr val="tx2"/>
                </a:solidFill>
                <a:latin typeface="Times New Roman" panose="02020603050405020304" pitchFamily="18" charset="0"/>
                <a:cs typeface="Times New Roman" panose="02020603050405020304" pitchFamily="18" charset="0"/>
              </a:rPr>
              <a:t>eleves.index</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withSuccess</a:t>
            </a:r>
            <a:r>
              <a:rPr lang="fr-FR" sz="3000" i="1" dirty="0">
                <a:solidFill>
                  <a:schemeClr val="tx2"/>
                </a:solidFill>
                <a:latin typeface="Times New Roman" panose="02020603050405020304" pitchFamily="18" charset="0"/>
                <a:cs typeface="Times New Roman" panose="02020603050405020304" pitchFamily="18" charset="0"/>
              </a:rPr>
              <a:t>(‘Elève ajouté avec succès!’);</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51822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 Mise à jour des données: insertion </a:t>
            </a:r>
          </a:p>
        </p:txBody>
      </p:sp>
      <p:sp>
        <p:nvSpPr>
          <p:cNvPr id="3" name="Espace réservé du contenu 2"/>
          <p:cNvSpPr>
            <a:spLocks noGrp="1"/>
          </p:cNvSpPr>
          <p:nvPr>
            <p:ph idx="1"/>
          </p:nvPr>
        </p:nvSpPr>
        <p:spPr>
          <a:xfrm>
            <a:off x="838200" y="1825625"/>
            <a:ext cx="11125200" cy="4667250"/>
          </a:xfrm>
        </p:spPr>
        <p:txBody>
          <a:bodyPr>
            <a:normAutofit fontScale="77500" lnSpcReduction="2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insertGetId</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permet en plus de l’insertion, la récupération de l’identifiant affecté à la ligne insérée:</a:t>
            </a:r>
          </a:p>
          <a:p>
            <a:pPr marL="0" indent="0" algn="just">
              <a:lnSpc>
                <a:spcPct val="110000"/>
              </a:lnSpc>
              <a:buNone/>
            </a:pPr>
            <a:r>
              <a:rPr lang="fr-FR" sz="3000" i="1" dirty="0">
                <a:solidFill>
                  <a:schemeClr val="tx2"/>
                </a:solidFill>
                <a:latin typeface="Times New Roman" panose="02020603050405020304" pitchFamily="18" charset="0"/>
                <a:cs typeface="Times New Roman" panose="02020603050405020304" pitchFamily="18" charset="0"/>
              </a:rPr>
              <a:t>public </a:t>
            </a:r>
            <a:r>
              <a:rPr lang="fr-FR" sz="3000" i="1" dirty="0" err="1">
                <a:solidFill>
                  <a:schemeClr val="tx2"/>
                </a:solidFill>
                <a:latin typeface="Times New Roman" panose="02020603050405020304" pitchFamily="18" charset="0"/>
                <a:cs typeface="Times New Roman" panose="02020603050405020304" pitchFamily="18" charset="0"/>
              </a:rPr>
              <a:t>function</a:t>
            </a:r>
            <a:r>
              <a:rPr lang="fr-FR" sz="3000" i="1" dirty="0">
                <a:solidFill>
                  <a:schemeClr val="tx2"/>
                </a:solidFill>
                <a:latin typeface="Times New Roman" panose="02020603050405020304" pitchFamily="18" charset="0"/>
                <a:cs typeface="Times New Roman" panose="02020603050405020304" pitchFamily="18" charset="0"/>
              </a:rPr>
              <a:t> store(</a:t>
            </a:r>
            <a:r>
              <a:rPr lang="fr-FR" sz="3000" i="1" dirty="0" err="1">
                <a:solidFill>
                  <a:schemeClr val="tx2"/>
                </a:solidFill>
                <a:latin typeface="Times New Roman" panose="02020603050405020304" pitchFamily="18" charset="0"/>
                <a:cs typeface="Times New Roman" panose="02020603050405020304" pitchFamily="18" charset="0"/>
              </a:rPr>
              <a:t>Request</a:t>
            </a: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request</a:t>
            </a:r>
            <a:r>
              <a:rPr lang="fr-FR" sz="3000" i="1" dirty="0">
                <a:solidFill>
                  <a:schemeClr val="tx2"/>
                </a:solidFill>
                <a:latin typeface="Times New Roman" panose="02020603050405020304" pitchFamily="18" charset="0"/>
                <a:cs typeface="Times New Roman" panose="02020603050405020304" pitchFamily="18" charset="0"/>
              </a:rPr>
              <a:t>)</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$id=DB::table(‘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insertGetId</a:t>
            </a:r>
            <a:r>
              <a:rPr lang="fr-FR" sz="3000" i="1" dirty="0">
                <a:solidFill>
                  <a:schemeClr val="tx2"/>
                </a:solidFill>
                <a:latin typeface="Times New Roman" panose="02020603050405020304" pitchFamily="18" charset="0"/>
                <a:cs typeface="Times New Roman" panose="02020603050405020304" pitchFamily="18" charset="0"/>
              </a:rPr>
              <a:t>([</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‘nom’=&gt;$</a:t>
            </a:r>
            <a:r>
              <a:rPr lang="fr-FR" sz="3000" i="1" dirty="0" err="1">
                <a:solidFill>
                  <a:schemeClr val="tx2"/>
                </a:solidFill>
                <a:latin typeface="Times New Roman" panose="02020603050405020304" pitchFamily="18" charset="0"/>
                <a:cs typeface="Times New Roman" panose="02020603050405020304" pitchFamily="18" charset="0"/>
              </a:rPr>
              <a:t>request</a:t>
            </a:r>
            <a:r>
              <a:rPr lang="fr-FR" sz="3000" i="1" dirty="0">
                <a:solidFill>
                  <a:schemeClr val="tx2"/>
                </a:solidFill>
                <a:latin typeface="Times New Roman" panose="02020603050405020304" pitchFamily="18" charset="0"/>
                <a:cs typeface="Times New Roman" panose="02020603050405020304" pitchFamily="18" charset="0"/>
              </a:rPr>
              <a:t>-&gt;nom,</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prenom</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request</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prenom</a:t>
            </a:r>
            <a:endParaRPr lang="fr-FR" sz="3000" i="1" dirty="0">
              <a:solidFill>
                <a:schemeClr val="tx2"/>
              </a:solidFill>
              <a:latin typeface="Times New Roman" panose="02020603050405020304" pitchFamily="18" charset="0"/>
              <a:cs typeface="Times New Roman" panose="02020603050405020304" pitchFamily="18" charset="0"/>
            </a:endParaRP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return </a:t>
            </a:r>
            <a:r>
              <a:rPr lang="fr-FR" sz="3000" i="1" dirty="0" err="1">
                <a:solidFill>
                  <a:schemeClr val="tx2"/>
                </a:solidFill>
                <a:latin typeface="Times New Roman" panose="02020603050405020304" pitchFamily="18" charset="0"/>
                <a:cs typeface="Times New Roman" panose="02020603050405020304" pitchFamily="18" charset="0"/>
              </a:rPr>
              <a:t>redirect</a:t>
            </a:r>
            <a:r>
              <a:rPr lang="fr-FR" sz="3000" i="1" dirty="0">
                <a:solidFill>
                  <a:schemeClr val="tx2"/>
                </a:solidFill>
                <a:latin typeface="Times New Roman" panose="02020603050405020304" pitchFamily="18" charset="0"/>
                <a:cs typeface="Times New Roman" panose="02020603050405020304" pitchFamily="18" charset="0"/>
              </a:rPr>
              <a:t>()-&gt;route(‘</a:t>
            </a:r>
            <a:r>
              <a:rPr lang="fr-FR" sz="3000" i="1" dirty="0" err="1">
                <a:solidFill>
                  <a:schemeClr val="tx2"/>
                </a:solidFill>
                <a:latin typeface="Times New Roman" panose="02020603050405020304" pitchFamily="18" charset="0"/>
                <a:cs typeface="Times New Roman" panose="02020603050405020304" pitchFamily="18" charset="0"/>
              </a:rPr>
              <a:t>eleves.index</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withSuccess</a:t>
            </a:r>
            <a:r>
              <a:rPr lang="fr-FR" sz="3000" i="1" dirty="0">
                <a:solidFill>
                  <a:schemeClr val="tx2"/>
                </a:solidFill>
                <a:latin typeface="Times New Roman" panose="02020603050405020304" pitchFamily="18" charset="0"/>
                <a:cs typeface="Times New Roman" panose="02020603050405020304" pitchFamily="18" charset="0"/>
              </a:rPr>
              <a:t>(‘Elève ‘ . $id . ‘ ajouté avec succès!’);</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0731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 Mise à jour des données: modification </a:t>
            </a:r>
          </a:p>
        </p:txBody>
      </p:sp>
      <p:sp>
        <p:nvSpPr>
          <p:cNvPr id="3" name="Espace réservé du contenu 2"/>
          <p:cNvSpPr>
            <a:spLocks noGrp="1"/>
          </p:cNvSpPr>
          <p:nvPr>
            <p:ph idx="1"/>
          </p:nvPr>
        </p:nvSpPr>
        <p:spPr>
          <a:xfrm>
            <a:off x="838200" y="1825625"/>
            <a:ext cx="11125200" cy="4667250"/>
          </a:xfrm>
        </p:spPr>
        <p:txBody>
          <a:bodyPr>
            <a:normAutofit fontScale="77500" lnSpcReduction="2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insertGetId</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permet en plus de l’insertion, la récupération de l’identifiant affecté à la ligne insérée:</a:t>
            </a:r>
          </a:p>
          <a:p>
            <a:pPr marL="0" indent="0" algn="just">
              <a:lnSpc>
                <a:spcPct val="110000"/>
              </a:lnSpc>
              <a:buNone/>
            </a:pPr>
            <a:r>
              <a:rPr lang="fr-FR" sz="3000" i="1" dirty="0">
                <a:solidFill>
                  <a:schemeClr val="tx2"/>
                </a:solidFill>
                <a:latin typeface="Times New Roman" panose="02020603050405020304" pitchFamily="18" charset="0"/>
                <a:cs typeface="Times New Roman" panose="02020603050405020304" pitchFamily="18" charset="0"/>
              </a:rPr>
              <a:t>public </a:t>
            </a:r>
            <a:r>
              <a:rPr lang="fr-FR" sz="3000" i="1" dirty="0" err="1">
                <a:solidFill>
                  <a:schemeClr val="tx2"/>
                </a:solidFill>
                <a:latin typeface="Times New Roman" panose="02020603050405020304" pitchFamily="18" charset="0"/>
                <a:cs typeface="Times New Roman" panose="02020603050405020304" pitchFamily="18" charset="0"/>
              </a:rPr>
              <a:t>function</a:t>
            </a:r>
            <a:r>
              <a:rPr lang="fr-FR" sz="3000" i="1" dirty="0">
                <a:solidFill>
                  <a:schemeClr val="tx2"/>
                </a:solidFill>
                <a:latin typeface="Times New Roman" panose="02020603050405020304" pitchFamily="18" charset="0"/>
                <a:cs typeface="Times New Roman" panose="02020603050405020304" pitchFamily="18" charset="0"/>
              </a:rPr>
              <a:t> update(</a:t>
            </a:r>
            <a:r>
              <a:rPr lang="fr-FR" sz="3000" i="1" dirty="0" err="1">
                <a:solidFill>
                  <a:schemeClr val="tx2"/>
                </a:solidFill>
                <a:latin typeface="Times New Roman" panose="02020603050405020304" pitchFamily="18" charset="0"/>
                <a:cs typeface="Times New Roman" panose="02020603050405020304" pitchFamily="18" charset="0"/>
              </a:rPr>
              <a:t>Request</a:t>
            </a: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request</a:t>
            </a:r>
            <a:r>
              <a:rPr lang="fr-FR" sz="3000" i="1" dirty="0">
                <a:solidFill>
                  <a:schemeClr val="tx2"/>
                </a:solidFill>
                <a:latin typeface="Times New Roman" panose="02020603050405020304" pitchFamily="18" charset="0"/>
                <a:cs typeface="Times New Roman" panose="02020603050405020304" pitchFamily="18" charset="0"/>
              </a:rPr>
              <a:t>,$id)</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where</a:t>
            </a:r>
            <a:r>
              <a:rPr lang="fr-FR" sz="3000" i="1" dirty="0">
                <a:solidFill>
                  <a:schemeClr val="tx2"/>
                </a:solidFill>
                <a:latin typeface="Times New Roman" panose="02020603050405020304" pitchFamily="18" charset="0"/>
                <a:cs typeface="Times New Roman" panose="02020603050405020304" pitchFamily="18" charset="0"/>
              </a:rPr>
              <a:t>(‘</a:t>
            </a:r>
            <a:r>
              <a:rPr lang="fr-FR" sz="3000" i="1" dirty="0" err="1">
                <a:solidFill>
                  <a:schemeClr val="tx2"/>
                </a:solidFill>
                <a:latin typeface="Times New Roman" panose="02020603050405020304" pitchFamily="18" charset="0"/>
                <a:cs typeface="Times New Roman" panose="02020603050405020304" pitchFamily="18" charset="0"/>
              </a:rPr>
              <a:t>id’,$id</a:t>
            </a:r>
            <a:r>
              <a:rPr lang="fr-FR" sz="3000" i="1" dirty="0">
                <a:solidFill>
                  <a:schemeClr val="tx2"/>
                </a:solidFill>
                <a:latin typeface="Times New Roman" panose="02020603050405020304" pitchFamily="18" charset="0"/>
                <a:cs typeface="Times New Roman" panose="02020603050405020304" pitchFamily="18" charset="0"/>
              </a:rPr>
              <a:t>)-&gt;update([</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‘nom’=&gt;$</a:t>
            </a:r>
            <a:r>
              <a:rPr lang="fr-FR" sz="3000" i="1" dirty="0" err="1">
                <a:solidFill>
                  <a:schemeClr val="tx2"/>
                </a:solidFill>
                <a:latin typeface="Times New Roman" panose="02020603050405020304" pitchFamily="18" charset="0"/>
                <a:cs typeface="Times New Roman" panose="02020603050405020304" pitchFamily="18" charset="0"/>
              </a:rPr>
              <a:t>request</a:t>
            </a:r>
            <a:r>
              <a:rPr lang="fr-FR" sz="3000" i="1" dirty="0">
                <a:solidFill>
                  <a:schemeClr val="tx2"/>
                </a:solidFill>
                <a:latin typeface="Times New Roman" panose="02020603050405020304" pitchFamily="18" charset="0"/>
                <a:cs typeface="Times New Roman" panose="02020603050405020304" pitchFamily="18" charset="0"/>
              </a:rPr>
              <a:t>-&gt;nom,</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prenom</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request</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prenom</a:t>
            </a:r>
            <a:endParaRPr lang="fr-FR" sz="3000" i="1" dirty="0">
              <a:solidFill>
                <a:schemeClr val="tx2"/>
              </a:solidFill>
              <a:latin typeface="Times New Roman" panose="02020603050405020304" pitchFamily="18" charset="0"/>
              <a:cs typeface="Times New Roman" panose="02020603050405020304" pitchFamily="18" charset="0"/>
            </a:endParaRP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return </a:t>
            </a:r>
            <a:r>
              <a:rPr lang="fr-FR" sz="3000" i="1" dirty="0" err="1">
                <a:solidFill>
                  <a:schemeClr val="tx2"/>
                </a:solidFill>
                <a:latin typeface="Times New Roman" panose="02020603050405020304" pitchFamily="18" charset="0"/>
                <a:cs typeface="Times New Roman" panose="02020603050405020304" pitchFamily="18" charset="0"/>
              </a:rPr>
              <a:t>redirect</a:t>
            </a:r>
            <a:r>
              <a:rPr lang="fr-FR" sz="3000" i="1" dirty="0">
                <a:solidFill>
                  <a:schemeClr val="tx2"/>
                </a:solidFill>
                <a:latin typeface="Times New Roman" panose="02020603050405020304" pitchFamily="18" charset="0"/>
                <a:cs typeface="Times New Roman" panose="02020603050405020304" pitchFamily="18" charset="0"/>
              </a:rPr>
              <a:t>()-&gt;route(‘</a:t>
            </a:r>
            <a:r>
              <a:rPr lang="fr-FR" sz="3000" i="1" dirty="0" err="1">
                <a:solidFill>
                  <a:schemeClr val="tx2"/>
                </a:solidFill>
                <a:latin typeface="Times New Roman" panose="02020603050405020304" pitchFamily="18" charset="0"/>
                <a:cs typeface="Times New Roman" panose="02020603050405020304" pitchFamily="18" charset="0"/>
              </a:rPr>
              <a:t>eleves.index</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withSuccess</a:t>
            </a:r>
            <a:r>
              <a:rPr lang="fr-FR" sz="3000" i="1" dirty="0">
                <a:solidFill>
                  <a:schemeClr val="tx2"/>
                </a:solidFill>
                <a:latin typeface="Times New Roman" panose="02020603050405020304" pitchFamily="18" charset="0"/>
                <a:cs typeface="Times New Roman" panose="02020603050405020304" pitchFamily="18" charset="0"/>
              </a:rPr>
              <a:t>(‘Elève modifié avec succès!’);</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91276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1">
                    <a:lumMod val="50000"/>
                  </a:schemeClr>
                </a:solidFill>
                <a:effectLst>
                  <a:outerShdw blurRad="38100" dist="38100" dir="2700000" algn="tl">
                    <a:srgbClr val="000000">
                      <a:alpha val="43137"/>
                    </a:srgbClr>
                  </a:outerShdw>
                </a:effectLst>
              </a:rPr>
              <a:t>II- Mise à jour des données: suppression </a:t>
            </a:r>
          </a:p>
        </p:txBody>
      </p:sp>
      <p:sp>
        <p:nvSpPr>
          <p:cNvPr id="3" name="Espace réservé du contenu 2"/>
          <p:cNvSpPr>
            <a:spLocks noGrp="1"/>
          </p:cNvSpPr>
          <p:nvPr>
            <p:ph idx="1"/>
          </p:nvPr>
        </p:nvSpPr>
        <p:spPr>
          <a:xfrm>
            <a:off x="838200" y="1825625"/>
            <a:ext cx="11125200" cy="4667250"/>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insertGetId</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permet en plus de l’insertion, la récupération de l’identifiant affecté à la ligne insérée:</a:t>
            </a:r>
          </a:p>
          <a:p>
            <a:pPr marL="0" indent="0" algn="just">
              <a:lnSpc>
                <a:spcPct val="110000"/>
              </a:lnSpc>
              <a:buNone/>
            </a:pPr>
            <a:r>
              <a:rPr lang="fr-FR" sz="3000" i="1" dirty="0">
                <a:solidFill>
                  <a:schemeClr val="tx2"/>
                </a:solidFill>
                <a:latin typeface="Times New Roman" panose="02020603050405020304" pitchFamily="18" charset="0"/>
                <a:cs typeface="Times New Roman" panose="02020603050405020304" pitchFamily="18" charset="0"/>
              </a:rPr>
              <a:t>public </a:t>
            </a:r>
            <a:r>
              <a:rPr lang="fr-FR" sz="3000" i="1" dirty="0" err="1">
                <a:solidFill>
                  <a:schemeClr val="tx2"/>
                </a:solidFill>
                <a:latin typeface="Times New Roman" panose="02020603050405020304" pitchFamily="18" charset="0"/>
                <a:cs typeface="Times New Roman" panose="02020603050405020304" pitchFamily="18" charset="0"/>
              </a:rPr>
              <a:t>function</a:t>
            </a:r>
            <a:r>
              <a:rPr lang="fr-FR" sz="3000" i="1" dirty="0">
                <a:solidFill>
                  <a:schemeClr val="tx2"/>
                </a:solidFill>
                <a:latin typeface="Times New Roman" panose="02020603050405020304" pitchFamily="18" charset="0"/>
                <a:cs typeface="Times New Roman" panose="02020603050405020304" pitchFamily="18" charset="0"/>
              </a:rPr>
              <a:t> destroy($id)</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where</a:t>
            </a:r>
            <a:r>
              <a:rPr lang="fr-FR" sz="3000" i="1" dirty="0">
                <a:solidFill>
                  <a:schemeClr val="tx2"/>
                </a:solidFill>
                <a:latin typeface="Times New Roman" panose="02020603050405020304" pitchFamily="18" charset="0"/>
                <a:cs typeface="Times New Roman" panose="02020603050405020304" pitchFamily="18" charset="0"/>
              </a:rPr>
              <a:t>(‘</a:t>
            </a:r>
            <a:r>
              <a:rPr lang="fr-FR" sz="3000" i="1" dirty="0" err="1">
                <a:solidFill>
                  <a:schemeClr val="tx2"/>
                </a:solidFill>
                <a:latin typeface="Times New Roman" panose="02020603050405020304" pitchFamily="18" charset="0"/>
                <a:cs typeface="Times New Roman" panose="02020603050405020304" pitchFamily="18" charset="0"/>
              </a:rPr>
              <a:t>id’,$id</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delete</a:t>
            </a:r>
            <a:r>
              <a:rPr lang="fr-FR" sz="3000" i="1" dirty="0">
                <a:solidFill>
                  <a:schemeClr val="tx2"/>
                </a:solidFill>
                <a:latin typeface="Times New Roman" panose="02020603050405020304" pitchFamily="18" charset="0"/>
                <a:cs typeface="Times New Roman" panose="02020603050405020304" pitchFamily="18" charset="0"/>
              </a:rPr>
              <a:t>();</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return </a:t>
            </a:r>
            <a:r>
              <a:rPr lang="fr-FR" sz="3000" i="1" dirty="0" err="1">
                <a:solidFill>
                  <a:schemeClr val="tx2"/>
                </a:solidFill>
                <a:latin typeface="Times New Roman" panose="02020603050405020304" pitchFamily="18" charset="0"/>
                <a:cs typeface="Times New Roman" panose="02020603050405020304" pitchFamily="18" charset="0"/>
              </a:rPr>
              <a:t>redirect</a:t>
            </a:r>
            <a:r>
              <a:rPr lang="fr-FR" sz="3000" i="1" dirty="0">
                <a:solidFill>
                  <a:schemeClr val="tx2"/>
                </a:solidFill>
                <a:latin typeface="Times New Roman" panose="02020603050405020304" pitchFamily="18" charset="0"/>
                <a:cs typeface="Times New Roman" panose="02020603050405020304" pitchFamily="18" charset="0"/>
              </a:rPr>
              <a:t>()-&gt;route(‘</a:t>
            </a:r>
            <a:r>
              <a:rPr lang="fr-FR" sz="3000" i="1" dirty="0" err="1">
                <a:solidFill>
                  <a:schemeClr val="tx2"/>
                </a:solidFill>
                <a:latin typeface="Times New Roman" panose="02020603050405020304" pitchFamily="18" charset="0"/>
                <a:cs typeface="Times New Roman" panose="02020603050405020304" pitchFamily="18" charset="0"/>
              </a:rPr>
              <a:t>eleves.index</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withSuccess</a:t>
            </a:r>
            <a:r>
              <a:rPr lang="fr-FR" sz="3000" i="1" dirty="0">
                <a:solidFill>
                  <a:schemeClr val="tx2"/>
                </a:solidFill>
                <a:latin typeface="Times New Roman" panose="02020603050405020304" pitchFamily="18" charset="0"/>
                <a:cs typeface="Times New Roman" panose="02020603050405020304" pitchFamily="18" charset="0"/>
              </a:rPr>
              <a:t>(‘Elève supprimé avec succès!’);</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94165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6571" y="365125"/>
            <a:ext cx="11636827" cy="1325563"/>
          </a:xfrm>
        </p:spPr>
        <p:txBody>
          <a:bodyPr/>
          <a:lstStyle/>
          <a:p>
            <a:r>
              <a:rPr lang="fr-FR" b="1" dirty="0">
                <a:solidFill>
                  <a:schemeClr val="accent1">
                    <a:lumMod val="50000"/>
                  </a:schemeClr>
                </a:solidFill>
                <a:effectLst>
                  <a:outerShdw blurRad="38100" dist="38100" dir="2700000" algn="tl">
                    <a:srgbClr val="000000">
                      <a:alpha val="43137"/>
                    </a:srgbClr>
                  </a:outerShdw>
                </a:effectLst>
              </a:rPr>
              <a:t>III- Sélection des enregistrements: </a:t>
            </a:r>
            <a:r>
              <a:rPr lang="fr-FR" b="1" dirty="0" err="1">
                <a:solidFill>
                  <a:schemeClr val="accent1">
                    <a:lumMod val="50000"/>
                  </a:schemeClr>
                </a:solidFill>
                <a:effectLst>
                  <a:outerShdw blurRad="38100" dist="38100" dir="2700000" algn="tl">
                    <a:srgbClr val="000000">
                      <a:alpha val="43137"/>
                    </a:srgbClr>
                  </a:outerShdw>
                </a:effectLst>
              </a:rPr>
              <a:t>where|first|find</a:t>
            </a:r>
            <a:endParaRPr lang="fr-FR" b="1" dirty="0">
              <a:solidFill>
                <a:schemeClr val="accent1">
                  <a:lumMod val="50000"/>
                </a:schemeClr>
              </a:solidFill>
              <a:effectLst>
                <a:outerShdw blurRad="38100" dist="38100" dir="2700000" algn="tl">
                  <a:srgbClr val="000000">
                    <a:alpha val="43137"/>
                  </a:srgbClr>
                </a:outerShdw>
              </a:effectLst>
            </a:endParaRPr>
          </a:p>
        </p:txBody>
      </p:sp>
      <p:sp>
        <p:nvSpPr>
          <p:cNvPr id="3" name="Espace réservé du contenu 2"/>
          <p:cNvSpPr>
            <a:spLocks noGrp="1"/>
          </p:cNvSpPr>
          <p:nvPr>
            <p:ph idx="1"/>
          </p:nvPr>
        </p:nvSpPr>
        <p:spPr>
          <a:xfrm>
            <a:off x="838200" y="1825625"/>
            <a:ext cx="11125200" cy="4667250"/>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where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permet d’imposer une condition sur les enregistrements sélectionnés:</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where</a:t>
            </a:r>
            <a:r>
              <a:rPr lang="fr-FR" sz="3000" i="1" dirty="0">
                <a:solidFill>
                  <a:schemeClr val="tx2"/>
                </a:solidFill>
                <a:latin typeface="Times New Roman" panose="02020603050405020304" pitchFamily="18" charset="0"/>
                <a:cs typeface="Times New Roman" panose="02020603050405020304" pitchFamily="18" charset="0"/>
              </a:rPr>
              <a:t>(‘</a:t>
            </a:r>
            <a:r>
              <a:rPr lang="fr-FR" sz="3000" i="1" dirty="0" err="1">
                <a:solidFill>
                  <a:schemeClr val="tx2"/>
                </a:solidFill>
                <a:latin typeface="Times New Roman" panose="02020603050405020304" pitchFamily="18" charset="0"/>
                <a:cs typeface="Times New Roman" panose="02020603050405020304" pitchFamily="18" charset="0"/>
              </a:rPr>
              <a:t>age</a:t>
            </a:r>
            <a:r>
              <a:rPr lang="fr-FR" sz="3000" i="1" dirty="0">
                <a:solidFill>
                  <a:schemeClr val="tx2"/>
                </a:solidFill>
                <a:latin typeface="Times New Roman" panose="02020603050405020304" pitchFamily="18" charset="0"/>
                <a:cs typeface="Times New Roman" panose="02020603050405020304" pitchFamily="18" charset="0"/>
              </a:rPr>
              <a:t>’,’&gt;’,17)-&gt;</a:t>
            </a:r>
            <a:r>
              <a:rPr lang="fr-FR" sz="3000" i="1" dirty="0" err="1">
                <a:solidFill>
                  <a:schemeClr val="tx2"/>
                </a:solidFill>
                <a:latin typeface="Times New Roman" panose="02020603050405020304" pitchFamily="18" charset="0"/>
                <a:cs typeface="Times New Roman" panose="02020603050405020304" pitchFamily="18" charset="0"/>
              </a:rPr>
              <a:t>get</a:t>
            </a:r>
            <a:r>
              <a:rPr lang="fr-FR" sz="3000" i="1" dirty="0">
                <a:solidFill>
                  <a:schemeClr val="tx2"/>
                </a:solidFill>
                <a:latin typeface="Times New Roman" panose="02020603050405020304" pitchFamily="18" charset="0"/>
                <a:cs typeface="Times New Roman" panose="02020603050405020304" pitchFamily="18" charset="0"/>
              </a:rPr>
              <a:t>();</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first permet de récupérer seulement la première ligne d’un jeu de résultat:</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’)-&gt;first();</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find</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permet de récupérer une ligne d’une table en utilisant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l’id</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find</a:t>
            </a:r>
            <a:r>
              <a:rPr lang="fr-FR" sz="3000" i="1" dirty="0">
                <a:solidFill>
                  <a:schemeClr val="tx2"/>
                </a:solidFill>
                <a:latin typeface="Times New Roman" panose="02020603050405020304" pitchFamily="18" charset="0"/>
                <a:cs typeface="Times New Roman" panose="02020603050405020304" pitchFamily="18" charset="0"/>
              </a:rPr>
              <a:t>($id);</a:t>
            </a:r>
          </a:p>
        </p:txBody>
      </p:sp>
    </p:spTree>
    <p:extLst>
      <p:ext uri="{BB962C8B-B14F-4D97-AF65-F5344CB8AC3E}">
        <p14:creationId xmlns:p14="http://schemas.microsoft.com/office/powerpoint/2010/main" val="1097772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6571" y="365125"/>
            <a:ext cx="11636827" cy="1325563"/>
          </a:xfrm>
        </p:spPr>
        <p:txBody>
          <a:bodyPr/>
          <a:lstStyle/>
          <a:p>
            <a:r>
              <a:rPr lang="fr-FR" b="1" dirty="0">
                <a:solidFill>
                  <a:schemeClr val="accent1">
                    <a:lumMod val="50000"/>
                  </a:schemeClr>
                </a:solidFill>
                <a:effectLst>
                  <a:outerShdw blurRad="38100" dist="38100" dir="2700000" algn="tl">
                    <a:srgbClr val="000000">
                      <a:alpha val="43137"/>
                    </a:srgbClr>
                  </a:outerShdw>
                </a:effectLst>
              </a:rPr>
              <a:t>III- Sélection des enregistrements: </a:t>
            </a:r>
            <a:r>
              <a:rPr lang="fr-FR" b="1" dirty="0" err="1">
                <a:solidFill>
                  <a:schemeClr val="accent1">
                    <a:lumMod val="50000"/>
                  </a:schemeClr>
                </a:solidFill>
                <a:effectLst>
                  <a:outerShdw blurRad="38100" dist="38100" dir="2700000" algn="tl">
                    <a:srgbClr val="000000">
                      <a:alpha val="43137"/>
                    </a:srgbClr>
                  </a:outerShdw>
                </a:effectLst>
              </a:rPr>
              <a:t>where|orWhere</a:t>
            </a:r>
            <a:endParaRPr lang="fr-FR" b="1" dirty="0">
              <a:solidFill>
                <a:schemeClr val="accent1">
                  <a:lumMod val="50000"/>
                </a:schemeClr>
              </a:solidFill>
              <a:effectLst>
                <a:outerShdw blurRad="38100" dist="38100" dir="2700000" algn="tl">
                  <a:srgbClr val="000000">
                    <a:alpha val="43137"/>
                  </a:srgbClr>
                </a:outerShdw>
              </a:effectLst>
            </a:endParaRPr>
          </a:p>
        </p:txBody>
      </p:sp>
      <p:sp>
        <p:nvSpPr>
          <p:cNvPr id="3" name="Espace réservé du contenu 2"/>
          <p:cNvSpPr>
            <a:spLocks noGrp="1"/>
          </p:cNvSpPr>
          <p:nvPr>
            <p:ph idx="1"/>
          </p:nvPr>
        </p:nvSpPr>
        <p:spPr>
          <a:xfrm>
            <a:off x="838200" y="1825625"/>
            <a:ext cx="11125200" cy="4667250"/>
          </a:xfrm>
        </p:spPr>
        <p:txBody>
          <a:bodyPr>
            <a:normAutofit lnSpcReduction="1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where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permet d’imposer une condition sur les enregistrements sélectionnés:</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where</a:t>
            </a:r>
            <a:r>
              <a:rPr lang="fr-FR" sz="3000" i="1" dirty="0">
                <a:solidFill>
                  <a:schemeClr val="tx2"/>
                </a:solidFill>
                <a:latin typeface="Times New Roman" panose="02020603050405020304" pitchFamily="18" charset="0"/>
                <a:cs typeface="Times New Roman" panose="02020603050405020304" pitchFamily="18" charset="0"/>
              </a:rPr>
              <a:t>(‘</a:t>
            </a:r>
            <a:r>
              <a:rPr lang="fr-FR" sz="3000" i="1" dirty="0" err="1">
                <a:solidFill>
                  <a:schemeClr val="tx2"/>
                </a:solidFill>
                <a:latin typeface="Times New Roman" panose="02020603050405020304" pitchFamily="18" charset="0"/>
                <a:cs typeface="Times New Roman" panose="02020603050405020304" pitchFamily="18" charset="0"/>
              </a:rPr>
              <a:t>age</a:t>
            </a:r>
            <a:r>
              <a:rPr lang="fr-FR" sz="3000" i="1" dirty="0">
                <a:solidFill>
                  <a:schemeClr val="tx2"/>
                </a:solidFill>
                <a:latin typeface="Times New Roman" panose="02020603050405020304" pitchFamily="18" charset="0"/>
                <a:cs typeface="Times New Roman" panose="02020603050405020304" pitchFamily="18" charset="0"/>
              </a:rPr>
              <a:t>’,’&gt;’,17)-&gt;</a:t>
            </a:r>
            <a:r>
              <a:rPr lang="fr-FR" sz="3000" i="1" dirty="0" err="1">
                <a:solidFill>
                  <a:schemeClr val="tx2"/>
                </a:solidFill>
                <a:latin typeface="Times New Roman" panose="02020603050405020304" pitchFamily="18" charset="0"/>
                <a:cs typeface="Times New Roman" panose="02020603050405020304" pitchFamily="18" charset="0"/>
              </a:rPr>
              <a:t>get</a:t>
            </a:r>
            <a:r>
              <a:rPr lang="fr-FR" sz="3000" i="1" dirty="0">
                <a:solidFill>
                  <a:schemeClr val="tx2"/>
                </a:solidFill>
                <a:latin typeface="Times New Roman" panose="02020603050405020304" pitchFamily="18" charset="0"/>
                <a:cs typeface="Times New Roman" panose="02020603050405020304" pitchFamily="18" charset="0"/>
              </a:rPr>
              <a:t>();</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where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avec chainage applique l’operateur and :</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where</a:t>
            </a:r>
            <a:r>
              <a:rPr lang="fr-FR" sz="3000" i="1" dirty="0">
                <a:solidFill>
                  <a:schemeClr val="tx2"/>
                </a:solidFill>
                <a:latin typeface="Times New Roman" panose="02020603050405020304" pitchFamily="18" charset="0"/>
                <a:cs typeface="Times New Roman" panose="02020603050405020304" pitchFamily="18" charset="0"/>
              </a:rPr>
              <a:t>(‘</a:t>
            </a:r>
            <a:r>
              <a:rPr lang="fr-FR" sz="3000" i="1" dirty="0" err="1">
                <a:solidFill>
                  <a:schemeClr val="tx2"/>
                </a:solidFill>
                <a:latin typeface="Times New Roman" panose="02020603050405020304" pitchFamily="18" charset="0"/>
                <a:cs typeface="Times New Roman" panose="02020603050405020304" pitchFamily="18" charset="0"/>
              </a:rPr>
              <a:t>age</a:t>
            </a:r>
            <a:r>
              <a:rPr lang="fr-FR" sz="3000" i="1" dirty="0">
                <a:solidFill>
                  <a:schemeClr val="tx2"/>
                </a:solidFill>
                <a:latin typeface="Times New Roman" panose="02020603050405020304" pitchFamily="18" charset="0"/>
                <a:cs typeface="Times New Roman" panose="02020603050405020304" pitchFamily="18" charset="0"/>
              </a:rPr>
              <a:t>’,’&gt;’,17)-&gt;</a:t>
            </a:r>
            <a:r>
              <a:rPr lang="fr-FR" sz="3000" i="1" dirty="0" err="1">
                <a:solidFill>
                  <a:schemeClr val="tx2"/>
                </a:solidFill>
                <a:latin typeface="Times New Roman" panose="02020603050405020304" pitchFamily="18" charset="0"/>
                <a:cs typeface="Times New Roman" panose="02020603050405020304" pitchFamily="18" charset="0"/>
              </a:rPr>
              <a:t>where</a:t>
            </a:r>
            <a:r>
              <a:rPr lang="fr-FR" sz="3000" i="1" dirty="0">
                <a:solidFill>
                  <a:schemeClr val="tx2"/>
                </a:solidFill>
                <a:latin typeface="Times New Roman" panose="02020603050405020304" pitchFamily="18" charset="0"/>
                <a:cs typeface="Times New Roman" panose="02020603050405020304" pitchFamily="18" charset="0"/>
              </a:rPr>
              <a:t>(‘groupe_id’,1)-&gt;</a:t>
            </a:r>
            <a:r>
              <a:rPr lang="fr-FR" sz="3000" i="1" dirty="0" err="1">
                <a:solidFill>
                  <a:schemeClr val="tx2"/>
                </a:solidFill>
                <a:latin typeface="Times New Roman" panose="02020603050405020304" pitchFamily="18" charset="0"/>
                <a:cs typeface="Times New Roman" panose="02020603050405020304" pitchFamily="18" charset="0"/>
              </a:rPr>
              <a:t>get</a:t>
            </a:r>
            <a:r>
              <a:rPr lang="fr-FR" sz="3000" i="1" dirty="0">
                <a:solidFill>
                  <a:schemeClr val="tx2"/>
                </a:solidFill>
                <a:latin typeface="Times New Roman" panose="02020603050405020304" pitchFamily="18" charset="0"/>
                <a:cs typeface="Times New Roman" panose="02020603050405020304" pitchFamily="18" charset="0"/>
              </a:rPr>
              <a:t>();</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 on veut avoir l’opérateur or on doit utiliser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orWhere</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where</a:t>
            </a:r>
            <a:r>
              <a:rPr lang="fr-FR" sz="3000" i="1" dirty="0">
                <a:solidFill>
                  <a:schemeClr val="tx2"/>
                </a:solidFill>
                <a:latin typeface="Times New Roman" panose="02020603050405020304" pitchFamily="18" charset="0"/>
                <a:cs typeface="Times New Roman" panose="02020603050405020304" pitchFamily="18" charset="0"/>
              </a:rPr>
              <a:t>(‘</a:t>
            </a:r>
            <a:r>
              <a:rPr lang="fr-FR" sz="3000" i="1" dirty="0" err="1">
                <a:solidFill>
                  <a:schemeClr val="tx2"/>
                </a:solidFill>
                <a:latin typeface="Times New Roman" panose="02020603050405020304" pitchFamily="18" charset="0"/>
                <a:cs typeface="Times New Roman" panose="02020603050405020304" pitchFamily="18" charset="0"/>
              </a:rPr>
              <a:t>age</a:t>
            </a:r>
            <a:r>
              <a:rPr lang="fr-FR" sz="3000" i="1" dirty="0">
                <a:solidFill>
                  <a:schemeClr val="tx2"/>
                </a:solidFill>
                <a:latin typeface="Times New Roman" panose="02020603050405020304" pitchFamily="18" charset="0"/>
                <a:cs typeface="Times New Roman" panose="02020603050405020304" pitchFamily="18" charset="0"/>
              </a:rPr>
              <a:t>’,’&gt;’,17)-&gt;</a:t>
            </a:r>
            <a:r>
              <a:rPr lang="fr-FR" sz="3000" i="1" dirty="0" err="1">
                <a:solidFill>
                  <a:schemeClr val="tx2"/>
                </a:solidFill>
                <a:latin typeface="Times New Roman" panose="02020603050405020304" pitchFamily="18" charset="0"/>
                <a:cs typeface="Times New Roman" panose="02020603050405020304" pitchFamily="18" charset="0"/>
              </a:rPr>
              <a:t>orWhere</a:t>
            </a:r>
            <a:r>
              <a:rPr lang="fr-FR" sz="3000" i="1" dirty="0">
                <a:solidFill>
                  <a:schemeClr val="tx2"/>
                </a:solidFill>
                <a:latin typeface="Times New Roman" panose="02020603050405020304" pitchFamily="18" charset="0"/>
                <a:cs typeface="Times New Roman" panose="02020603050405020304" pitchFamily="18" charset="0"/>
              </a:rPr>
              <a:t>(‘groupe_id’,1)-&gt;</a:t>
            </a:r>
            <a:r>
              <a:rPr lang="fr-FR" sz="3000" i="1" dirty="0" err="1">
                <a:solidFill>
                  <a:schemeClr val="tx2"/>
                </a:solidFill>
                <a:latin typeface="Times New Roman" panose="02020603050405020304" pitchFamily="18" charset="0"/>
                <a:cs typeface="Times New Roman" panose="02020603050405020304" pitchFamily="18" charset="0"/>
              </a:rPr>
              <a:t>get</a:t>
            </a:r>
            <a:r>
              <a:rPr lang="fr-FR" sz="3000" i="1" dirty="0">
                <a:solidFill>
                  <a:schemeClr val="tx2"/>
                </a:solidFill>
                <a:latin typeface="Times New Roman" panose="02020603050405020304" pitchFamily="18" charset="0"/>
                <a:cs typeface="Times New Roman" panose="02020603050405020304" pitchFamily="18" charset="0"/>
              </a:rPr>
              <a:t>();</a:t>
            </a:r>
          </a:p>
          <a:p>
            <a:pPr marL="0" lvl="2" indent="0" algn="just">
              <a:lnSpc>
                <a:spcPct val="110000"/>
              </a:lnSpc>
              <a:spcBef>
                <a:spcPts val="1000"/>
              </a:spcBef>
              <a:buNone/>
            </a:pPr>
            <a:endParaRPr lang="fr-FR" sz="3000" i="1" dirty="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7331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6571" y="365125"/>
            <a:ext cx="11636827" cy="1325563"/>
          </a:xfrm>
        </p:spPr>
        <p:txBody>
          <a:bodyPr/>
          <a:lstStyle/>
          <a:p>
            <a:r>
              <a:rPr lang="fr-FR" b="1" dirty="0">
                <a:solidFill>
                  <a:schemeClr val="accent1">
                    <a:lumMod val="50000"/>
                  </a:schemeClr>
                </a:solidFill>
                <a:effectLst>
                  <a:outerShdw blurRad="38100" dist="38100" dir="2700000" algn="tl">
                    <a:srgbClr val="000000">
                      <a:alpha val="43137"/>
                    </a:srgbClr>
                  </a:outerShdw>
                </a:effectLst>
              </a:rPr>
              <a:t>III- Sélection des enregistrements: </a:t>
            </a:r>
            <a:r>
              <a:rPr lang="fr-FR" b="1" dirty="0" err="1">
                <a:solidFill>
                  <a:schemeClr val="accent1">
                    <a:lumMod val="50000"/>
                  </a:schemeClr>
                </a:solidFill>
                <a:effectLst>
                  <a:outerShdw blurRad="38100" dist="38100" dir="2700000" algn="tl">
                    <a:srgbClr val="000000">
                      <a:alpha val="43137"/>
                    </a:srgbClr>
                  </a:outerShdw>
                </a:effectLst>
              </a:rPr>
              <a:t>whereNot|whereBetween|whereNotBetween</a:t>
            </a:r>
            <a:endParaRPr lang="fr-FR" b="1" dirty="0">
              <a:solidFill>
                <a:schemeClr val="accent1">
                  <a:lumMod val="50000"/>
                </a:schemeClr>
              </a:solidFill>
              <a:effectLst>
                <a:outerShdw blurRad="38100" dist="38100" dir="2700000" algn="tl">
                  <a:srgbClr val="000000">
                    <a:alpha val="43137"/>
                  </a:srgbClr>
                </a:outerShdw>
              </a:effectLst>
            </a:endParaRPr>
          </a:p>
        </p:txBody>
      </p:sp>
      <p:sp>
        <p:nvSpPr>
          <p:cNvPr id="3" name="Espace réservé du contenu 2"/>
          <p:cNvSpPr>
            <a:spLocks noGrp="1"/>
          </p:cNvSpPr>
          <p:nvPr>
            <p:ph idx="1"/>
          </p:nvPr>
        </p:nvSpPr>
        <p:spPr>
          <a:xfrm>
            <a:off x="838200" y="1825625"/>
            <a:ext cx="11125200" cy="4667250"/>
          </a:xfrm>
        </p:spPr>
        <p:txBody>
          <a:bodyPr>
            <a:normAutofit lnSpcReduction="10000"/>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whereNot</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permet d’appliquer la négation à une condition:</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whereNot</a:t>
            </a:r>
            <a:r>
              <a:rPr lang="fr-FR" sz="3000" i="1" dirty="0">
                <a:solidFill>
                  <a:schemeClr val="tx2"/>
                </a:solidFill>
                <a:latin typeface="Times New Roman" panose="02020603050405020304" pitchFamily="18" charset="0"/>
                <a:cs typeface="Times New Roman" panose="02020603050405020304" pitchFamily="18" charset="0"/>
              </a:rPr>
              <a:t>(‘</a:t>
            </a:r>
            <a:r>
              <a:rPr lang="fr-FR" sz="3000" i="1" dirty="0" err="1">
                <a:solidFill>
                  <a:schemeClr val="tx2"/>
                </a:solidFill>
                <a:latin typeface="Times New Roman" panose="02020603050405020304" pitchFamily="18" charset="0"/>
                <a:cs typeface="Times New Roman" panose="02020603050405020304" pitchFamily="18" charset="0"/>
              </a:rPr>
              <a:t>age</a:t>
            </a:r>
            <a:r>
              <a:rPr lang="fr-FR" sz="3000" i="1" dirty="0">
                <a:solidFill>
                  <a:schemeClr val="tx2"/>
                </a:solidFill>
                <a:latin typeface="Times New Roman" panose="02020603050405020304" pitchFamily="18" charset="0"/>
                <a:cs typeface="Times New Roman" panose="02020603050405020304" pitchFamily="18" charset="0"/>
              </a:rPr>
              <a:t>’,’&gt;’,17)-&gt;</a:t>
            </a:r>
            <a:r>
              <a:rPr lang="fr-FR" sz="3000" i="1" dirty="0" err="1">
                <a:solidFill>
                  <a:schemeClr val="tx2"/>
                </a:solidFill>
                <a:latin typeface="Times New Roman" panose="02020603050405020304" pitchFamily="18" charset="0"/>
                <a:cs typeface="Times New Roman" panose="02020603050405020304" pitchFamily="18" charset="0"/>
              </a:rPr>
              <a:t>get</a:t>
            </a:r>
            <a:r>
              <a:rPr lang="fr-FR" sz="3000" i="1" dirty="0">
                <a:solidFill>
                  <a:schemeClr val="tx2"/>
                </a:solidFill>
                <a:latin typeface="Times New Roman" panose="02020603050405020304" pitchFamily="18" charset="0"/>
                <a:cs typeface="Times New Roman" panose="02020603050405020304" pitchFamily="18" charset="0"/>
              </a:rPr>
              <a:t>();</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whereBetween</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teste si la valeur d’une colonne fait partie d’un intervalle:</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whereBetween</a:t>
            </a:r>
            <a:r>
              <a:rPr lang="fr-FR" sz="3000" i="1" dirty="0">
                <a:solidFill>
                  <a:schemeClr val="tx2"/>
                </a:solidFill>
                <a:latin typeface="Times New Roman" panose="02020603050405020304" pitchFamily="18" charset="0"/>
                <a:cs typeface="Times New Roman" panose="02020603050405020304" pitchFamily="18" charset="0"/>
              </a:rPr>
              <a:t>(‘</a:t>
            </a:r>
            <a:r>
              <a:rPr lang="fr-FR" sz="3000" i="1" dirty="0" err="1">
                <a:solidFill>
                  <a:schemeClr val="tx2"/>
                </a:solidFill>
                <a:latin typeface="Times New Roman" panose="02020603050405020304" pitchFamily="18" charset="0"/>
                <a:cs typeface="Times New Roman" panose="02020603050405020304" pitchFamily="18" charset="0"/>
              </a:rPr>
              <a:t>age</a:t>
            </a:r>
            <a:r>
              <a:rPr lang="fr-FR" sz="3000" i="1" dirty="0">
                <a:solidFill>
                  <a:schemeClr val="tx2"/>
                </a:solidFill>
                <a:latin typeface="Times New Roman" panose="02020603050405020304" pitchFamily="18" charset="0"/>
                <a:cs typeface="Times New Roman" panose="02020603050405020304" pitchFamily="18" charset="0"/>
              </a:rPr>
              <a:t>’,[17,21])-&gt;</a:t>
            </a:r>
            <a:r>
              <a:rPr lang="fr-FR" sz="3000" i="1" dirty="0" err="1">
                <a:solidFill>
                  <a:schemeClr val="tx2"/>
                </a:solidFill>
                <a:latin typeface="Times New Roman" panose="02020603050405020304" pitchFamily="18" charset="0"/>
                <a:cs typeface="Times New Roman" panose="02020603050405020304" pitchFamily="18" charset="0"/>
              </a:rPr>
              <a:t>get</a:t>
            </a:r>
            <a:r>
              <a:rPr lang="fr-FR" sz="3000" i="1" dirty="0">
                <a:solidFill>
                  <a:schemeClr val="tx2"/>
                </a:solidFill>
                <a:latin typeface="Times New Roman" panose="02020603050405020304" pitchFamily="18" charset="0"/>
                <a:cs typeface="Times New Roman" panose="02020603050405020304" pitchFamily="18" charset="0"/>
              </a:rPr>
              <a:t>();</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whereNotBetween</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est la négation 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whereBetween</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whereNotBetween</a:t>
            </a:r>
            <a:r>
              <a:rPr lang="fr-FR" sz="3000" i="1" dirty="0">
                <a:solidFill>
                  <a:schemeClr val="tx2"/>
                </a:solidFill>
                <a:latin typeface="Times New Roman" panose="02020603050405020304" pitchFamily="18" charset="0"/>
                <a:cs typeface="Times New Roman" panose="02020603050405020304" pitchFamily="18" charset="0"/>
              </a:rPr>
              <a:t>(‘</a:t>
            </a:r>
            <a:r>
              <a:rPr lang="fr-FR" sz="3000" i="1" dirty="0" err="1">
                <a:solidFill>
                  <a:schemeClr val="tx2"/>
                </a:solidFill>
                <a:latin typeface="Times New Roman" panose="02020603050405020304" pitchFamily="18" charset="0"/>
                <a:cs typeface="Times New Roman" panose="02020603050405020304" pitchFamily="18" charset="0"/>
              </a:rPr>
              <a:t>age</a:t>
            </a:r>
            <a:r>
              <a:rPr lang="fr-FR" sz="3000" i="1">
                <a:solidFill>
                  <a:schemeClr val="tx2"/>
                </a:solidFill>
                <a:latin typeface="Times New Roman" panose="02020603050405020304" pitchFamily="18" charset="0"/>
                <a:cs typeface="Times New Roman" panose="02020603050405020304" pitchFamily="18" charset="0"/>
              </a:rPr>
              <a:t>’,[</a:t>
            </a:r>
            <a:r>
              <a:rPr lang="fr-FR" sz="3000" i="1" dirty="0">
                <a:solidFill>
                  <a:schemeClr val="tx2"/>
                </a:solidFill>
                <a:latin typeface="Times New Roman" panose="02020603050405020304" pitchFamily="18" charset="0"/>
                <a:cs typeface="Times New Roman" panose="02020603050405020304" pitchFamily="18" charset="0"/>
              </a:rPr>
              <a:t>17,21])-&gt;</a:t>
            </a:r>
            <a:r>
              <a:rPr lang="fr-FR" sz="3000" i="1" dirty="0" err="1">
                <a:solidFill>
                  <a:schemeClr val="tx2"/>
                </a:solidFill>
                <a:latin typeface="Times New Roman" panose="02020603050405020304" pitchFamily="18" charset="0"/>
                <a:cs typeface="Times New Roman" panose="02020603050405020304" pitchFamily="18" charset="0"/>
              </a:rPr>
              <a:t>get</a:t>
            </a:r>
            <a:r>
              <a:rPr lang="fr-FR" sz="3000" i="1" dirty="0">
                <a:solidFill>
                  <a:schemeClr val="tx2"/>
                </a:solidFill>
                <a:latin typeface="Times New Roman" panose="02020603050405020304" pitchFamily="18" charset="0"/>
                <a:cs typeface="Times New Roman" panose="02020603050405020304" pitchFamily="18" charset="0"/>
              </a:rPr>
              <a:t>();</a:t>
            </a:r>
          </a:p>
          <a:p>
            <a:pPr marL="0" lvl="2" indent="0" algn="just">
              <a:lnSpc>
                <a:spcPct val="110000"/>
              </a:lnSpc>
              <a:spcBef>
                <a:spcPts val="1000"/>
              </a:spcBef>
              <a:buNone/>
            </a:pPr>
            <a:endParaRPr lang="fr-FR" sz="3000" i="1" dirty="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7701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6571" y="365125"/>
            <a:ext cx="11636827" cy="1325563"/>
          </a:xfrm>
        </p:spPr>
        <p:txBody>
          <a:bodyPr/>
          <a:lstStyle/>
          <a:p>
            <a:r>
              <a:rPr lang="fr-FR" b="1" dirty="0">
                <a:solidFill>
                  <a:schemeClr val="accent1">
                    <a:lumMod val="50000"/>
                  </a:schemeClr>
                </a:solidFill>
                <a:effectLst>
                  <a:outerShdw blurRad="38100" dist="38100" dir="2700000" algn="tl">
                    <a:srgbClr val="000000">
                      <a:alpha val="43137"/>
                    </a:srgbClr>
                  </a:outerShdw>
                </a:effectLst>
              </a:rPr>
              <a:t>III- Sélection des enregistrements: </a:t>
            </a:r>
            <a:r>
              <a:rPr lang="fr-FR" b="1" dirty="0" err="1">
                <a:solidFill>
                  <a:schemeClr val="accent1">
                    <a:lumMod val="50000"/>
                  </a:schemeClr>
                </a:solidFill>
                <a:effectLst>
                  <a:outerShdw blurRad="38100" dist="38100" dir="2700000" algn="tl">
                    <a:srgbClr val="000000">
                      <a:alpha val="43137"/>
                    </a:srgbClr>
                  </a:outerShdw>
                </a:effectLst>
              </a:rPr>
              <a:t>whereNull|whereNotNull</a:t>
            </a:r>
            <a:endParaRPr lang="fr-FR" b="1" dirty="0">
              <a:solidFill>
                <a:schemeClr val="accent1">
                  <a:lumMod val="50000"/>
                </a:schemeClr>
              </a:solidFill>
              <a:effectLst>
                <a:outerShdw blurRad="38100" dist="38100" dir="2700000" algn="tl">
                  <a:srgbClr val="000000">
                    <a:alpha val="43137"/>
                  </a:srgbClr>
                </a:outerShdw>
              </a:effectLst>
            </a:endParaRPr>
          </a:p>
        </p:txBody>
      </p:sp>
      <p:sp>
        <p:nvSpPr>
          <p:cNvPr id="3" name="Espace réservé du contenu 2"/>
          <p:cNvSpPr>
            <a:spLocks noGrp="1"/>
          </p:cNvSpPr>
          <p:nvPr>
            <p:ph idx="1"/>
          </p:nvPr>
        </p:nvSpPr>
        <p:spPr>
          <a:xfrm>
            <a:off x="838200" y="1825625"/>
            <a:ext cx="11125200" cy="4667250"/>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whereNull</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permet de tester la valeur d’une colonne si elle est nulle:</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whereNull</a:t>
            </a:r>
            <a:r>
              <a:rPr lang="fr-FR" sz="3000" i="1" dirty="0">
                <a:solidFill>
                  <a:schemeClr val="tx2"/>
                </a:solidFill>
                <a:latin typeface="Times New Roman" panose="02020603050405020304" pitchFamily="18" charset="0"/>
                <a:cs typeface="Times New Roman" panose="02020603050405020304" pitchFamily="18" charset="0"/>
              </a:rPr>
              <a:t>(‘</a:t>
            </a:r>
            <a:r>
              <a:rPr lang="fr-FR" sz="3000" i="1" dirty="0" err="1">
                <a:solidFill>
                  <a:schemeClr val="tx2"/>
                </a:solidFill>
                <a:latin typeface="Times New Roman" panose="02020603050405020304" pitchFamily="18" charset="0"/>
                <a:cs typeface="Times New Roman" panose="02020603050405020304" pitchFamily="18" charset="0"/>
              </a:rPr>
              <a:t>age</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get</a:t>
            </a:r>
            <a:r>
              <a:rPr lang="fr-FR" sz="3000" i="1" dirty="0">
                <a:solidFill>
                  <a:schemeClr val="tx2"/>
                </a:solidFill>
                <a:latin typeface="Times New Roman" panose="02020603050405020304" pitchFamily="18" charset="0"/>
                <a:cs typeface="Times New Roman" panose="02020603050405020304" pitchFamily="18" charset="0"/>
              </a:rPr>
              <a:t>();</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whereNotNull</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permet de tester la valeur d’une colonne si elle n’est pas nulle:</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whereNotNull</a:t>
            </a:r>
            <a:r>
              <a:rPr lang="fr-FR" sz="3000" i="1" dirty="0">
                <a:solidFill>
                  <a:schemeClr val="tx2"/>
                </a:solidFill>
                <a:latin typeface="Times New Roman" panose="02020603050405020304" pitchFamily="18" charset="0"/>
                <a:cs typeface="Times New Roman" panose="02020603050405020304" pitchFamily="18" charset="0"/>
              </a:rPr>
              <a:t>(‘</a:t>
            </a:r>
            <a:r>
              <a:rPr lang="fr-FR" sz="3000" i="1" dirty="0" err="1">
                <a:solidFill>
                  <a:schemeClr val="tx2"/>
                </a:solidFill>
                <a:latin typeface="Times New Roman" panose="02020603050405020304" pitchFamily="18" charset="0"/>
                <a:cs typeface="Times New Roman" panose="02020603050405020304" pitchFamily="18" charset="0"/>
              </a:rPr>
              <a:t>age</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get</a:t>
            </a:r>
            <a:r>
              <a:rPr lang="fr-FR" sz="3000" i="1" dirty="0">
                <a:solidFill>
                  <a:schemeClr val="tx2"/>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56470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6571" y="365125"/>
            <a:ext cx="11636827" cy="1325563"/>
          </a:xfrm>
        </p:spPr>
        <p:txBody>
          <a:bodyPr/>
          <a:lstStyle/>
          <a:p>
            <a:r>
              <a:rPr lang="fr-FR" b="1" dirty="0">
                <a:solidFill>
                  <a:schemeClr val="accent1">
                    <a:lumMod val="50000"/>
                  </a:schemeClr>
                </a:solidFill>
                <a:effectLst>
                  <a:outerShdw blurRad="38100" dist="38100" dir="2700000" algn="tl">
                    <a:srgbClr val="000000">
                      <a:alpha val="43137"/>
                    </a:srgbClr>
                  </a:outerShdw>
                </a:effectLst>
              </a:rPr>
              <a:t>III- Sélection des enregistrements: </a:t>
            </a:r>
            <a:r>
              <a:rPr lang="fr-FR" b="1" dirty="0" err="1">
                <a:solidFill>
                  <a:schemeClr val="accent1">
                    <a:lumMod val="50000"/>
                  </a:schemeClr>
                </a:solidFill>
                <a:effectLst>
                  <a:outerShdw blurRad="38100" dist="38100" dir="2700000" algn="tl">
                    <a:srgbClr val="000000">
                      <a:alpha val="43137"/>
                    </a:srgbClr>
                  </a:outerShdw>
                </a:effectLst>
              </a:rPr>
              <a:t>whereIn|first</a:t>
            </a:r>
            <a:endParaRPr lang="fr-FR" b="1" dirty="0">
              <a:solidFill>
                <a:schemeClr val="accent1">
                  <a:lumMod val="50000"/>
                </a:schemeClr>
              </a:solidFill>
              <a:effectLst>
                <a:outerShdw blurRad="38100" dist="38100" dir="2700000" algn="tl">
                  <a:srgbClr val="000000">
                    <a:alpha val="43137"/>
                  </a:srgbClr>
                </a:outerShdw>
              </a:effectLst>
            </a:endParaRPr>
          </a:p>
        </p:txBody>
      </p:sp>
      <p:sp>
        <p:nvSpPr>
          <p:cNvPr id="3" name="Espace réservé du contenu 2"/>
          <p:cNvSpPr>
            <a:spLocks noGrp="1"/>
          </p:cNvSpPr>
          <p:nvPr>
            <p:ph idx="1"/>
          </p:nvPr>
        </p:nvSpPr>
        <p:spPr>
          <a:xfrm>
            <a:off x="838200" y="1825625"/>
            <a:ext cx="11125200" cy="4667250"/>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whereIn</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permet de tester si la valeur d’une colonne appartient à un ensemble:</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whereIn</a:t>
            </a:r>
            <a:r>
              <a:rPr lang="fr-FR" sz="3000" i="1" dirty="0">
                <a:solidFill>
                  <a:schemeClr val="tx2"/>
                </a:solidFill>
                <a:latin typeface="Times New Roman" panose="02020603050405020304" pitchFamily="18" charset="0"/>
                <a:cs typeface="Times New Roman" panose="02020603050405020304" pitchFamily="18" charset="0"/>
              </a:rPr>
              <a:t>(‘</a:t>
            </a:r>
            <a:r>
              <a:rPr lang="fr-FR" sz="3000" i="1" dirty="0" err="1">
                <a:solidFill>
                  <a:schemeClr val="tx2"/>
                </a:solidFill>
                <a:latin typeface="Times New Roman" panose="02020603050405020304" pitchFamily="18" charset="0"/>
                <a:cs typeface="Times New Roman" panose="02020603050405020304" pitchFamily="18" charset="0"/>
              </a:rPr>
              <a:t>groupe_id</a:t>
            </a:r>
            <a:r>
              <a:rPr lang="fr-FR" sz="3000" i="1" dirty="0">
                <a:solidFill>
                  <a:schemeClr val="tx2"/>
                </a:solidFill>
                <a:latin typeface="Times New Roman" panose="02020603050405020304" pitchFamily="18" charset="0"/>
                <a:cs typeface="Times New Roman" panose="02020603050405020304" pitchFamily="18" charset="0"/>
              </a:rPr>
              <a:t>’,[1,3,5])-&gt;</a:t>
            </a:r>
            <a:r>
              <a:rPr lang="fr-FR" sz="3000" i="1" dirty="0" err="1">
                <a:solidFill>
                  <a:schemeClr val="tx2"/>
                </a:solidFill>
                <a:latin typeface="Times New Roman" panose="02020603050405020304" pitchFamily="18" charset="0"/>
                <a:cs typeface="Times New Roman" panose="02020603050405020304" pitchFamily="18" charset="0"/>
              </a:rPr>
              <a:t>get</a:t>
            </a:r>
            <a:r>
              <a:rPr lang="fr-FR" sz="3000" i="1" dirty="0">
                <a:solidFill>
                  <a:schemeClr val="tx2"/>
                </a:solidFill>
                <a:latin typeface="Times New Roman" panose="02020603050405020304" pitchFamily="18" charset="0"/>
                <a:cs typeface="Times New Roman" panose="02020603050405020304" pitchFamily="18" charset="0"/>
              </a:rPr>
              <a:t>();</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first permet d’obtenir le premier enregistrement d’un jeu de données:</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get</a:t>
            </a:r>
            <a:r>
              <a:rPr lang="fr-FR" sz="3000" i="1" dirty="0">
                <a:solidFill>
                  <a:schemeClr val="tx2"/>
                </a:solidFill>
                <a:latin typeface="Times New Roman" panose="02020603050405020304" pitchFamily="18" charset="0"/>
                <a:cs typeface="Times New Roman" panose="02020603050405020304" pitchFamily="18" charset="0"/>
              </a:rPr>
              <a:t>()-&gt;first();</a:t>
            </a:r>
          </a:p>
        </p:txBody>
      </p:sp>
    </p:spTree>
    <p:extLst>
      <p:ext uri="{BB962C8B-B14F-4D97-AF65-F5344CB8AC3E}">
        <p14:creationId xmlns:p14="http://schemas.microsoft.com/office/powerpoint/2010/main" val="1972875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42257" y="365125"/>
            <a:ext cx="11321141" cy="1325563"/>
          </a:xfrm>
        </p:spPr>
        <p:txBody>
          <a:bodyPr/>
          <a:lstStyle/>
          <a:p>
            <a:r>
              <a:rPr lang="fr-FR" b="1" dirty="0">
                <a:solidFill>
                  <a:schemeClr val="accent1">
                    <a:lumMod val="50000"/>
                  </a:schemeClr>
                </a:solidFill>
                <a:effectLst>
                  <a:outerShdw blurRad="38100" dist="38100" dir="2700000" algn="tl">
                    <a:srgbClr val="000000">
                      <a:alpha val="43137"/>
                    </a:srgbClr>
                  </a:outerShdw>
                </a:effectLst>
              </a:rPr>
              <a:t>III- Sélection des enregistrements: </a:t>
            </a:r>
            <a:r>
              <a:rPr lang="fr-FR" b="1" dirty="0" err="1">
                <a:solidFill>
                  <a:schemeClr val="accent1">
                    <a:lumMod val="50000"/>
                  </a:schemeClr>
                </a:solidFill>
                <a:effectLst>
                  <a:outerShdw blurRad="38100" dist="38100" dir="2700000" algn="tl">
                    <a:srgbClr val="000000">
                      <a:alpha val="43137"/>
                    </a:srgbClr>
                  </a:outerShdw>
                </a:effectLst>
              </a:rPr>
              <a:t>orderBy</a:t>
            </a:r>
            <a:r>
              <a:rPr lang="fr-FR" b="1" dirty="0">
                <a:solidFill>
                  <a:schemeClr val="accent1">
                    <a:lumMod val="50000"/>
                  </a:schemeClr>
                </a:solidFill>
                <a:effectLst>
                  <a:outerShdw blurRad="38100" dist="38100" dir="2700000" algn="tl">
                    <a:srgbClr val="000000">
                      <a:alpha val="43137"/>
                    </a:srgbClr>
                  </a:outerShdw>
                </a:effectLst>
              </a:rPr>
              <a:t> </a:t>
            </a:r>
          </a:p>
        </p:txBody>
      </p:sp>
      <p:sp>
        <p:nvSpPr>
          <p:cNvPr id="3" name="Espace réservé du contenu 2"/>
          <p:cNvSpPr>
            <a:spLocks noGrp="1"/>
          </p:cNvSpPr>
          <p:nvPr>
            <p:ph idx="1"/>
          </p:nvPr>
        </p:nvSpPr>
        <p:spPr>
          <a:xfrm>
            <a:off x="838200" y="1825625"/>
            <a:ext cx="11125200" cy="4667250"/>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orderBy</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permet de trier les données sélectionnées:</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orderBy</a:t>
            </a:r>
            <a:r>
              <a:rPr lang="fr-FR" sz="3000" i="1" dirty="0">
                <a:solidFill>
                  <a:schemeClr val="tx2"/>
                </a:solidFill>
                <a:latin typeface="Times New Roman" panose="02020603050405020304" pitchFamily="18" charset="0"/>
                <a:cs typeface="Times New Roman" panose="02020603050405020304" pitchFamily="18" charset="0"/>
              </a:rPr>
              <a:t>(‘nom’)-&gt;</a:t>
            </a:r>
            <a:r>
              <a:rPr lang="fr-FR" sz="3000" i="1" dirty="0" err="1">
                <a:solidFill>
                  <a:schemeClr val="tx2"/>
                </a:solidFill>
                <a:latin typeface="Times New Roman" panose="02020603050405020304" pitchFamily="18" charset="0"/>
                <a:cs typeface="Times New Roman" panose="02020603050405020304" pitchFamily="18" charset="0"/>
              </a:rPr>
              <a:t>get</a:t>
            </a:r>
            <a:r>
              <a:rPr lang="fr-FR" sz="3000" i="1" dirty="0">
                <a:solidFill>
                  <a:schemeClr val="tx2"/>
                </a:solidFill>
                <a:latin typeface="Times New Roman" panose="02020603050405020304" pitchFamily="18" charset="0"/>
                <a:cs typeface="Times New Roman" panose="02020603050405020304" pitchFamily="18" charset="0"/>
              </a:rPr>
              <a:t>();</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Par défaut, 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orderBy</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trie les éléments dans un ordre ascendant, en peut inverser l’ordre en précisant le deuxième paramètre à ‘DESC’ :</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orderBy</a:t>
            </a:r>
            <a:r>
              <a:rPr lang="fr-FR" sz="3000" i="1" dirty="0">
                <a:solidFill>
                  <a:schemeClr val="tx2"/>
                </a:solidFill>
                <a:latin typeface="Times New Roman" panose="02020603050405020304" pitchFamily="18" charset="0"/>
                <a:cs typeface="Times New Roman" panose="02020603050405020304" pitchFamily="18" charset="0"/>
              </a:rPr>
              <a:t>(‘</a:t>
            </a:r>
            <a:r>
              <a:rPr lang="fr-FR" sz="3000" i="1" dirty="0" err="1">
                <a:solidFill>
                  <a:schemeClr val="tx2"/>
                </a:solidFill>
                <a:latin typeface="Times New Roman" panose="02020603050405020304" pitchFamily="18" charset="0"/>
                <a:cs typeface="Times New Roman" panose="02020603050405020304" pitchFamily="18" charset="0"/>
              </a:rPr>
              <a:t>nom’,’DESC</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get</a:t>
            </a:r>
            <a:r>
              <a:rPr lang="fr-FR" sz="3000" i="1" dirty="0">
                <a:solidFill>
                  <a:schemeClr val="tx2"/>
                </a:solidFill>
                <a:latin typeface="Times New Roman" panose="02020603050405020304" pitchFamily="18" charset="0"/>
                <a:cs typeface="Times New Roman" panose="02020603050405020304" pitchFamily="18" charset="0"/>
              </a:rPr>
              <a:t>();</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 méthode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find</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permet de récupérer une ligne d’une table en utilisant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l’id</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find</a:t>
            </a:r>
            <a:r>
              <a:rPr lang="fr-FR" sz="3000" i="1" dirty="0">
                <a:solidFill>
                  <a:schemeClr val="tx2"/>
                </a:solidFill>
                <a:latin typeface="Times New Roman" panose="02020603050405020304" pitchFamily="18" charset="0"/>
                <a:cs typeface="Times New Roman" panose="02020603050405020304" pitchFamily="18" charset="0"/>
              </a:rPr>
              <a:t>($id);</a:t>
            </a:r>
          </a:p>
          <a:p>
            <a:pPr marL="0" lvl="2" indent="0" algn="just">
              <a:lnSpc>
                <a:spcPct val="110000"/>
              </a:lnSpc>
              <a:spcBef>
                <a:spcPts val="1000"/>
              </a:spcBef>
              <a:buNone/>
            </a:pPr>
            <a:endParaRPr lang="fr-FR" sz="3000" i="1" dirty="0">
              <a:solidFill>
                <a:schemeClr val="tx2"/>
              </a:solidFill>
              <a:latin typeface="Times New Roman" panose="02020603050405020304" pitchFamily="18" charset="0"/>
              <a:cs typeface="Times New Roman" panose="02020603050405020304" pitchFamily="18" charset="0"/>
            </a:endParaRPr>
          </a:p>
          <a:p>
            <a:pPr marL="0" lvl="2" indent="0" algn="just">
              <a:lnSpc>
                <a:spcPct val="110000"/>
              </a:lnSpc>
              <a:spcBef>
                <a:spcPts val="1000"/>
              </a:spcBef>
              <a:buNone/>
            </a:pPr>
            <a:endParaRPr lang="fr-FR" sz="3000" i="1" dirty="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8200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42257" y="365125"/>
            <a:ext cx="11321141" cy="1325563"/>
          </a:xfrm>
        </p:spPr>
        <p:txBody>
          <a:bodyPr/>
          <a:lstStyle/>
          <a:p>
            <a:r>
              <a:rPr lang="fr-FR" b="1" dirty="0">
                <a:solidFill>
                  <a:schemeClr val="accent1">
                    <a:lumMod val="50000"/>
                  </a:schemeClr>
                </a:solidFill>
                <a:effectLst>
                  <a:outerShdw blurRad="38100" dist="38100" dir="2700000" algn="tl">
                    <a:srgbClr val="000000">
                      <a:alpha val="43137"/>
                    </a:srgbClr>
                  </a:outerShdw>
                </a:effectLst>
              </a:rPr>
              <a:t>III- Sélection des enregistrements: agrégation </a:t>
            </a:r>
          </a:p>
        </p:txBody>
      </p:sp>
      <p:sp>
        <p:nvSpPr>
          <p:cNvPr id="3" name="Espace réservé du contenu 2"/>
          <p:cNvSpPr>
            <a:spLocks noGrp="1"/>
          </p:cNvSpPr>
          <p:nvPr>
            <p:ph idx="1"/>
          </p:nvPr>
        </p:nvSpPr>
        <p:spPr>
          <a:xfrm>
            <a:off x="838200" y="1825625"/>
            <a:ext cx="11125200" cy="4667250"/>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Les fonctions d’agrégation sont disponibles aussi dans la façade DB de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query</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builder</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min_age</a:t>
            </a:r>
            <a:r>
              <a:rPr lang="fr-FR" sz="3000" i="1" dirty="0">
                <a:solidFill>
                  <a:schemeClr val="tx2"/>
                </a:solidFill>
                <a:latin typeface="Times New Roman" panose="02020603050405020304" pitchFamily="18" charset="0"/>
                <a:cs typeface="Times New Roman" panose="02020603050405020304" pitchFamily="18" charset="0"/>
              </a:rPr>
              <a:t>=DB::table(‘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’)-&gt;min(‘</a:t>
            </a:r>
            <a:r>
              <a:rPr lang="fr-FR" sz="3000" i="1" dirty="0" err="1">
                <a:solidFill>
                  <a:schemeClr val="tx2"/>
                </a:solidFill>
                <a:latin typeface="Times New Roman" panose="02020603050405020304" pitchFamily="18" charset="0"/>
                <a:cs typeface="Times New Roman" panose="02020603050405020304" pitchFamily="18" charset="0"/>
              </a:rPr>
              <a:t>age</a:t>
            </a:r>
            <a:r>
              <a:rPr lang="fr-FR" sz="3000" i="1" dirty="0">
                <a:solidFill>
                  <a:schemeClr val="tx2"/>
                </a:solidFill>
                <a:latin typeface="Times New Roman" panose="02020603050405020304" pitchFamily="18" charset="0"/>
                <a:cs typeface="Times New Roman" panose="02020603050405020304" pitchFamily="18" charset="0"/>
              </a:rPr>
              <a:t>’);</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max_age</a:t>
            </a:r>
            <a:r>
              <a:rPr lang="fr-FR" sz="3000" i="1" dirty="0">
                <a:solidFill>
                  <a:schemeClr val="tx2"/>
                </a:solidFill>
                <a:latin typeface="Times New Roman" panose="02020603050405020304" pitchFamily="18" charset="0"/>
                <a:cs typeface="Times New Roman" panose="02020603050405020304" pitchFamily="18" charset="0"/>
              </a:rPr>
              <a:t>=DB::table(‘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’)-&gt;max(‘</a:t>
            </a:r>
            <a:r>
              <a:rPr lang="fr-FR" sz="3000" i="1" dirty="0" err="1">
                <a:solidFill>
                  <a:schemeClr val="tx2"/>
                </a:solidFill>
                <a:latin typeface="Times New Roman" panose="02020603050405020304" pitchFamily="18" charset="0"/>
                <a:cs typeface="Times New Roman" panose="02020603050405020304" pitchFamily="18" charset="0"/>
              </a:rPr>
              <a:t>age</a:t>
            </a:r>
            <a:r>
              <a:rPr lang="fr-FR" sz="3000" i="1" dirty="0">
                <a:solidFill>
                  <a:schemeClr val="tx2"/>
                </a:solidFill>
                <a:latin typeface="Times New Roman" panose="02020603050405020304" pitchFamily="18" charset="0"/>
                <a:cs typeface="Times New Roman" panose="02020603050405020304" pitchFamily="18" charset="0"/>
              </a:rPr>
              <a:t>’);</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moy_age</a:t>
            </a:r>
            <a:r>
              <a:rPr lang="fr-FR" sz="3000" i="1" dirty="0">
                <a:solidFill>
                  <a:schemeClr val="tx2"/>
                </a:solidFill>
                <a:latin typeface="Times New Roman" panose="02020603050405020304" pitchFamily="18" charset="0"/>
                <a:cs typeface="Times New Roman" panose="02020603050405020304" pitchFamily="18" charset="0"/>
              </a:rPr>
              <a:t>=DB::table(‘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avg</a:t>
            </a:r>
            <a:r>
              <a:rPr lang="fr-FR" sz="3000" i="1" dirty="0">
                <a:solidFill>
                  <a:schemeClr val="tx2"/>
                </a:solidFill>
                <a:latin typeface="Times New Roman" panose="02020603050405020304" pitchFamily="18" charset="0"/>
                <a:cs typeface="Times New Roman" panose="02020603050405020304" pitchFamily="18" charset="0"/>
              </a:rPr>
              <a:t>(‘</a:t>
            </a:r>
            <a:r>
              <a:rPr lang="fr-FR" sz="3000" i="1" dirty="0" err="1">
                <a:solidFill>
                  <a:schemeClr val="tx2"/>
                </a:solidFill>
                <a:latin typeface="Times New Roman" panose="02020603050405020304" pitchFamily="18" charset="0"/>
                <a:cs typeface="Times New Roman" panose="02020603050405020304" pitchFamily="18" charset="0"/>
              </a:rPr>
              <a:t>age</a:t>
            </a:r>
            <a:r>
              <a:rPr lang="fr-FR" sz="3000" i="1" dirty="0">
                <a:solidFill>
                  <a:schemeClr val="tx2"/>
                </a:solidFill>
                <a:latin typeface="Times New Roman" panose="02020603050405020304" pitchFamily="18" charset="0"/>
                <a:cs typeface="Times New Roman" panose="02020603050405020304" pitchFamily="18" charset="0"/>
              </a:rPr>
              <a:t>’);</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sum_age</a:t>
            </a:r>
            <a:r>
              <a:rPr lang="fr-FR" sz="3000" i="1" dirty="0">
                <a:solidFill>
                  <a:schemeClr val="tx2"/>
                </a:solidFill>
                <a:latin typeface="Times New Roman" panose="02020603050405020304" pitchFamily="18" charset="0"/>
                <a:cs typeface="Times New Roman" panose="02020603050405020304" pitchFamily="18" charset="0"/>
              </a:rPr>
              <a:t>=DB::table(‘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sum</a:t>
            </a:r>
            <a:r>
              <a:rPr lang="fr-FR" sz="3000" i="1" dirty="0">
                <a:solidFill>
                  <a:schemeClr val="tx2"/>
                </a:solidFill>
                <a:latin typeface="Times New Roman" panose="02020603050405020304" pitchFamily="18" charset="0"/>
                <a:cs typeface="Times New Roman" panose="02020603050405020304" pitchFamily="18" charset="0"/>
              </a:rPr>
              <a:t>(‘</a:t>
            </a:r>
            <a:r>
              <a:rPr lang="fr-FR" sz="3000" i="1" dirty="0" err="1">
                <a:solidFill>
                  <a:schemeClr val="tx2"/>
                </a:solidFill>
                <a:latin typeface="Times New Roman" panose="02020603050405020304" pitchFamily="18" charset="0"/>
                <a:cs typeface="Times New Roman" panose="02020603050405020304" pitchFamily="18" charset="0"/>
              </a:rPr>
              <a:t>age</a:t>
            </a:r>
            <a:r>
              <a:rPr lang="fr-FR" sz="3000" i="1" dirty="0">
                <a:solidFill>
                  <a:schemeClr val="tx2"/>
                </a:solidFill>
                <a:latin typeface="Times New Roman" panose="02020603050405020304" pitchFamily="18" charset="0"/>
                <a:cs typeface="Times New Roman" panose="02020603050405020304" pitchFamily="18" charset="0"/>
              </a:rPr>
              <a:t>’);</a:t>
            </a:r>
          </a:p>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NB: que les méthodes que nous avons vues sont disponibles aussi à travers les modèles Eloquent.</a:t>
            </a:r>
            <a:endParaRPr lang="fr-FR" sz="3000" i="1" dirty="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3085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42257" y="365125"/>
            <a:ext cx="11321141" cy="1325563"/>
          </a:xfrm>
        </p:spPr>
        <p:txBody>
          <a:bodyPr/>
          <a:lstStyle/>
          <a:p>
            <a:r>
              <a:rPr lang="fr-FR" b="1" dirty="0">
                <a:solidFill>
                  <a:schemeClr val="accent1">
                    <a:lumMod val="50000"/>
                  </a:schemeClr>
                </a:solidFill>
                <a:effectLst>
                  <a:outerShdw blurRad="38100" dist="38100" dir="2700000" algn="tl">
                    <a:srgbClr val="000000">
                      <a:alpha val="43137"/>
                    </a:srgbClr>
                  </a:outerShdw>
                </a:effectLst>
              </a:rPr>
              <a:t>IV- Sélection des colonnes</a:t>
            </a:r>
          </a:p>
        </p:txBody>
      </p:sp>
      <p:sp>
        <p:nvSpPr>
          <p:cNvPr id="3" name="Espace réservé du contenu 2"/>
          <p:cNvSpPr>
            <a:spLocks noGrp="1"/>
          </p:cNvSpPr>
          <p:nvPr>
            <p:ph idx="1"/>
          </p:nvPr>
        </p:nvSpPr>
        <p:spPr>
          <a:xfrm>
            <a:off x="838200" y="1825625"/>
            <a:ext cx="11125200" cy="4667250"/>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Pour sélectionner des colonnes spécifiques on utilise "select":</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')-&gt;select('nom','</a:t>
            </a:r>
            <a:r>
              <a:rPr lang="fr-FR" sz="3000" i="1" dirty="0" err="1">
                <a:solidFill>
                  <a:schemeClr val="tx2"/>
                </a:solidFill>
                <a:latin typeface="Times New Roman" panose="02020603050405020304" pitchFamily="18" charset="0"/>
                <a:cs typeface="Times New Roman" panose="02020603050405020304" pitchFamily="18" charset="0"/>
              </a:rPr>
              <a:t>prenom</a:t>
            </a:r>
            <a:r>
              <a:rPr lang="fr-FR" sz="3000" i="1" dirty="0">
                <a:solidFill>
                  <a:schemeClr val="tx2"/>
                </a:solidFill>
                <a:latin typeface="Times New Roman" panose="02020603050405020304" pitchFamily="18" charset="0"/>
                <a:cs typeface="Times New Roman" panose="02020603050405020304" pitchFamily="18" charset="0"/>
              </a:rPr>
              <a:t>')-&gt;</a:t>
            </a:r>
            <a:r>
              <a:rPr lang="fr-FR" sz="3000" i="1" dirty="0" err="1">
                <a:solidFill>
                  <a:schemeClr val="tx2"/>
                </a:solidFill>
                <a:latin typeface="Times New Roman" panose="02020603050405020304" pitchFamily="18" charset="0"/>
                <a:cs typeface="Times New Roman" panose="02020603050405020304" pitchFamily="18" charset="0"/>
              </a:rPr>
              <a:t>get</a:t>
            </a:r>
            <a:r>
              <a:rPr lang="fr-FR" sz="3000" i="1" dirty="0">
                <a:solidFill>
                  <a:schemeClr val="tx2"/>
                </a:solidFill>
                <a:latin typeface="Times New Roman" panose="02020603050405020304" pitchFamily="18" charset="0"/>
                <a:cs typeface="Times New Roman" panose="02020603050405020304" pitchFamily="18" charset="0"/>
              </a:rPr>
              <a:t>();</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559727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42257" y="365125"/>
            <a:ext cx="11321141" cy="1325563"/>
          </a:xfrm>
        </p:spPr>
        <p:txBody>
          <a:bodyPr/>
          <a:lstStyle/>
          <a:p>
            <a:r>
              <a:rPr lang="fr-FR" b="1" dirty="0">
                <a:solidFill>
                  <a:schemeClr val="accent1">
                    <a:lumMod val="50000"/>
                  </a:schemeClr>
                </a:solidFill>
                <a:effectLst>
                  <a:outerShdw blurRad="38100" dist="38100" dir="2700000" algn="tl">
                    <a:srgbClr val="000000">
                      <a:alpha val="43137"/>
                    </a:srgbClr>
                  </a:outerShdw>
                </a:effectLst>
              </a:rPr>
              <a:t> V- Jointure</a:t>
            </a:r>
          </a:p>
        </p:txBody>
      </p:sp>
      <p:sp>
        <p:nvSpPr>
          <p:cNvPr id="3" name="Espace réservé du contenu 2"/>
          <p:cNvSpPr>
            <a:spLocks noGrp="1"/>
          </p:cNvSpPr>
          <p:nvPr>
            <p:ph idx="1"/>
          </p:nvPr>
        </p:nvSpPr>
        <p:spPr>
          <a:xfrm>
            <a:off x="838200" y="1825625"/>
            <a:ext cx="11125200" cy="4667250"/>
          </a:xfrm>
        </p:spPr>
        <p:txBody>
          <a:bodyPr>
            <a:normAutofit/>
          </a:bodyPr>
          <a:lstStyle/>
          <a:p>
            <a:pPr algn="just"/>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 mot clé "</a:t>
            </a:r>
            <a:r>
              <a:rPr lang="fr-FR"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join</a:t>
            </a:r>
            <a:r>
              <a:rPr lang="fr-F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permet d'appliquer la jointure de deux tables:</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r>
              <a:rPr lang="fr-FR" sz="3000" i="1" dirty="0" err="1">
                <a:solidFill>
                  <a:schemeClr val="tx2"/>
                </a:solidFill>
                <a:latin typeface="Times New Roman" panose="02020603050405020304" pitchFamily="18" charset="0"/>
                <a:cs typeface="Times New Roman" panose="02020603050405020304" pitchFamily="18" charset="0"/>
              </a:rPr>
              <a:t>resultats</a:t>
            </a:r>
            <a:r>
              <a:rPr lang="fr-FR" sz="3000" i="1" dirty="0">
                <a:solidFill>
                  <a:schemeClr val="tx2"/>
                </a:solidFill>
                <a:latin typeface="Times New Roman" panose="02020603050405020304" pitchFamily="18" charset="0"/>
                <a:cs typeface="Times New Roman" panose="02020603050405020304" pitchFamily="18" charset="0"/>
              </a:rPr>
              <a:t>=DB::table('</a:t>
            </a:r>
            <a:r>
              <a:rPr lang="fr-FR" sz="3000" i="1" dirty="0" err="1">
                <a:solidFill>
                  <a:schemeClr val="tx2"/>
                </a:solidFill>
                <a:latin typeface="Times New Roman" panose="02020603050405020304" pitchFamily="18" charset="0"/>
                <a:cs typeface="Times New Roman" panose="02020603050405020304" pitchFamily="18" charset="0"/>
              </a:rPr>
              <a:t>eleves</a:t>
            </a:r>
            <a:r>
              <a:rPr lang="fr-FR" sz="3000" i="1" dirty="0">
                <a:solidFill>
                  <a:schemeClr val="tx2"/>
                </a:solidFill>
                <a:latin typeface="Times New Roman" panose="02020603050405020304" pitchFamily="18" charset="0"/>
                <a:cs typeface="Times New Roman" panose="02020603050405020304" pitchFamily="18" charset="0"/>
              </a:rPr>
              <a:t>')</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-&gt;</a:t>
            </a:r>
            <a:r>
              <a:rPr lang="fr-FR" sz="3000" i="1" dirty="0" err="1">
                <a:solidFill>
                  <a:schemeClr val="tx2"/>
                </a:solidFill>
                <a:latin typeface="Times New Roman" panose="02020603050405020304" pitchFamily="18" charset="0"/>
                <a:cs typeface="Times New Roman" panose="02020603050405020304" pitchFamily="18" charset="0"/>
              </a:rPr>
              <a:t>join</a:t>
            </a:r>
            <a:r>
              <a:rPr lang="fr-FR" sz="3000" i="1" dirty="0">
                <a:solidFill>
                  <a:schemeClr val="tx2"/>
                </a:solidFill>
                <a:latin typeface="Times New Roman" panose="02020603050405020304" pitchFamily="18" charset="0"/>
                <a:cs typeface="Times New Roman" panose="02020603050405020304" pitchFamily="18" charset="0"/>
              </a:rPr>
              <a:t>('groupes','</a:t>
            </a:r>
            <a:r>
              <a:rPr lang="fr-FR" sz="3000" i="1" dirty="0" err="1">
                <a:solidFill>
                  <a:schemeClr val="tx2"/>
                </a:solidFill>
                <a:latin typeface="Times New Roman" panose="02020603050405020304" pitchFamily="18" charset="0"/>
                <a:cs typeface="Times New Roman" panose="02020603050405020304" pitchFamily="18" charset="0"/>
              </a:rPr>
              <a:t>eleves.groupe_id</a:t>
            </a:r>
            <a:r>
              <a:rPr lang="fr-FR" sz="3000" i="1" dirty="0">
                <a:solidFill>
                  <a:schemeClr val="tx2"/>
                </a:solidFill>
                <a:latin typeface="Times New Roman" panose="02020603050405020304" pitchFamily="18" charset="0"/>
                <a:cs typeface="Times New Roman" panose="02020603050405020304" pitchFamily="18" charset="0"/>
              </a:rPr>
              <a:t>','=','groupes.id')</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-&gt;select('eleves.nom','eleves.</a:t>
            </a:r>
            <a:r>
              <a:rPr lang="fr-FR" sz="3000" i="1" dirty="0" err="1">
                <a:solidFill>
                  <a:schemeClr val="tx2"/>
                </a:solidFill>
                <a:latin typeface="Times New Roman" panose="02020603050405020304" pitchFamily="18" charset="0"/>
                <a:cs typeface="Times New Roman" panose="02020603050405020304" pitchFamily="18" charset="0"/>
              </a:rPr>
              <a:t>prenom</a:t>
            </a:r>
            <a:r>
              <a:rPr lang="fr-FR" sz="3000" i="1" dirty="0">
                <a:solidFill>
                  <a:schemeClr val="tx2"/>
                </a:solidFill>
                <a:latin typeface="Times New Roman" panose="02020603050405020304" pitchFamily="18" charset="0"/>
                <a:cs typeface="Times New Roman" panose="02020603050405020304" pitchFamily="18" charset="0"/>
              </a:rPr>
              <a:t>','groupes.id', 			'</a:t>
            </a:r>
            <a:r>
              <a:rPr lang="fr-FR" sz="3000" i="1" dirty="0" err="1">
                <a:solidFill>
                  <a:schemeClr val="tx2"/>
                </a:solidFill>
                <a:latin typeface="Times New Roman" panose="02020603050405020304" pitchFamily="18" charset="0"/>
                <a:cs typeface="Times New Roman" panose="02020603050405020304" pitchFamily="18" charset="0"/>
              </a:rPr>
              <a:t>groupes.niveau</a:t>
            </a:r>
            <a:r>
              <a:rPr lang="fr-FR" sz="3000" i="1" dirty="0">
                <a:solidFill>
                  <a:schemeClr val="tx2"/>
                </a:solidFill>
                <a:latin typeface="Times New Roman" panose="02020603050405020304" pitchFamily="18" charset="0"/>
                <a:cs typeface="Times New Roman" panose="02020603050405020304" pitchFamily="18" charset="0"/>
              </a:rPr>
              <a:t>')</a:t>
            </a: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-&gt;</a:t>
            </a:r>
            <a:r>
              <a:rPr lang="fr-FR" sz="3000" i="1" dirty="0" err="1">
                <a:solidFill>
                  <a:schemeClr val="tx2"/>
                </a:solidFill>
                <a:latin typeface="Times New Roman" panose="02020603050405020304" pitchFamily="18" charset="0"/>
                <a:cs typeface="Times New Roman" panose="02020603050405020304" pitchFamily="18" charset="0"/>
              </a:rPr>
              <a:t>get</a:t>
            </a:r>
            <a:r>
              <a:rPr lang="fr-FR" sz="3000" i="1">
                <a:solidFill>
                  <a:schemeClr val="tx2"/>
                </a:solidFill>
                <a:latin typeface="Times New Roman" panose="02020603050405020304" pitchFamily="18" charset="0"/>
                <a:cs typeface="Times New Roman" panose="02020603050405020304" pitchFamily="18" charset="0"/>
              </a:rPr>
              <a:t>();</a:t>
            </a:r>
            <a:endParaRPr lang="fr-FR" sz="3000" i="1" dirty="0">
              <a:solidFill>
                <a:schemeClr val="tx2"/>
              </a:solidFill>
              <a:latin typeface="Times New Roman" panose="02020603050405020304" pitchFamily="18" charset="0"/>
              <a:cs typeface="Times New Roman" panose="02020603050405020304" pitchFamily="18" charset="0"/>
            </a:endParaRPr>
          </a:p>
          <a:p>
            <a:pPr marL="0" lvl="2" indent="0" algn="just">
              <a:lnSpc>
                <a:spcPct val="110000"/>
              </a:lnSpc>
              <a:spcBef>
                <a:spcPts val="1000"/>
              </a:spcBef>
              <a:buNone/>
            </a:pPr>
            <a:r>
              <a:rPr lang="fr-FR" sz="3000" i="1" dirty="0">
                <a:solidFill>
                  <a:schemeClr val="tx2"/>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78764019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65387</TotalTime>
  <Words>1194</Words>
  <Application>Microsoft Office PowerPoint</Application>
  <PresentationFormat>Grand écran</PresentationFormat>
  <Paragraphs>101</Paragraphs>
  <Slides>15</Slides>
  <Notes>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vt:i4>
      </vt:variant>
    </vt:vector>
  </HeadingPairs>
  <TitlesOfParts>
    <vt:vector size="20" baseType="lpstr">
      <vt:lpstr>Arial</vt:lpstr>
      <vt:lpstr>Calibri</vt:lpstr>
      <vt:lpstr>Calibri Light</vt:lpstr>
      <vt:lpstr>Times New Roman</vt:lpstr>
      <vt:lpstr>Thème Office</vt:lpstr>
      <vt:lpstr>CH9-Query builder</vt:lpstr>
      <vt:lpstr>I- Introduction</vt:lpstr>
      <vt:lpstr>II- Mise à jour des données: insertion</vt:lpstr>
      <vt:lpstr>II- Mise à jour des données: insertion </vt:lpstr>
      <vt:lpstr>II- Mise à jour des données: modification </vt:lpstr>
      <vt:lpstr>II- Mise à jour des données: suppression </vt:lpstr>
      <vt:lpstr>III- Sélection des enregistrements: where|first|find</vt:lpstr>
      <vt:lpstr>III- Sélection des enregistrements: where|orWhere</vt:lpstr>
      <vt:lpstr>III- Sélection des enregistrements: whereNot|whereBetween|whereNotBetween</vt:lpstr>
      <vt:lpstr>III- Sélection des enregistrements: whereNull|whereNotNull</vt:lpstr>
      <vt:lpstr>III- Sélection des enregistrements: whereIn|first</vt:lpstr>
      <vt:lpstr>III- Sélection des enregistrements: orderBy </vt:lpstr>
      <vt:lpstr>III- Sélection des enregistrements: agrégation </vt:lpstr>
      <vt:lpstr>IV- Sélection des colonnes</vt:lpstr>
      <vt:lpstr> V- Jointure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CH1-Framework Back-end</dc:title>
  <dc:creator>NAJ LAM</dc:creator>
  <cp:lastModifiedBy>NAJ LAM</cp:lastModifiedBy>
  <cp:revision>247</cp:revision>
  <dcterms:created xsi:type="dcterms:W3CDTF">2023-02-19T17:43:52Z</dcterms:created>
  <dcterms:modified xsi:type="dcterms:W3CDTF">2024-05-24T14:44:22Z</dcterms:modified>
</cp:coreProperties>
</file>