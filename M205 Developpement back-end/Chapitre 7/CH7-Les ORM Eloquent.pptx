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4"/>
  </p:notes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910580-2A5A-4E45-925B-CACCF8C0B85F}" type="datetimeFigureOut">
              <a:rPr lang="fr-FR" smtClean="0"/>
              <a:t>11/04/2026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ED4D56-1D12-4C59-BE0B-E4F26EDE9652}" type="slidenum">
              <a:rPr lang="fr-FR" smtClean="0"/>
              <a:t>‹N°›</a:t>
            </a:fld>
            <a:endParaRPr lang="fr-FR"/>
          </a:p>
        </p:txBody>
      </p:sp>
    </p:spTree>
    <p:extLst>
      <p:ext uri="{BB962C8B-B14F-4D97-AF65-F5344CB8AC3E}">
        <p14:creationId xmlns:p14="http://schemas.microsoft.com/office/powerpoint/2010/main" val="428751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11/04/2026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975904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11/04/2026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597861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11/04/2026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32520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7BF7099-A69C-40A7-961E-56EC432041D2}" type="datetimeFigureOut">
              <a:rPr lang="fr-FR" smtClean="0"/>
              <a:t>11/04/2026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79222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7BF7099-A69C-40A7-961E-56EC432041D2}" type="datetimeFigureOut">
              <a:rPr lang="fr-FR" smtClean="0"/>
              <a:t>11/04/2026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4645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7BF7099-A69C-40A7-961E-56EC432041D2}" type="datetimeFigureOut">
              <a:rPr lang="fr-FR" smtClean="0"/>
              <a:t>11/04/2026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230939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7BF7099-A69C-40A7-961E-56EC432041D2}" type="datetimeFigureOut">
              <a:rPr lang="fr-FR" smtClean="0"/>
              <a:t>11/04/2026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15872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11/04/2026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25709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11/04/2026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65336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11/04/2026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16703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11/04/2026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77822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BF7099-A69C-40A7-961E-56EC432041D2}" type="datetimeFigureOut">
              <a:rPr lang="fr-FR" smtClean="0"/>
              <a:t>11/04/2026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0E51CD-4CEC-42A2-944E-03DCAE8EDECC}" type="slidenum">
              <a:rPr lang="fr-FR" smtClean="0"/>
              <a:t>‹N°›</a:t>
            </a:fld>
            <a:endParaRPr lang="fr-FR"/>
          </a:p>
        </p:txBody>
      </p:sp>
    </p:spTree>
    <p:extLst>
      <p:ext uri="{BB962C8B-B14F-4D97-AF65-F5344CB8AC3E}">
        <p14:creationId xmlns:p14="http://schemas.microsoft.com/office/powerpoint/2010/main" val="110272686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dirty="0">
                <a:effectLst>
                  <a:outerShdw blurRad="38100" dist="38100" dir="2700000" algn="tl">
                    <a:srgbClr val="000000">
                      <a:alpha val="43137"/>
                    </a:srgbClr>
                  </a:outerShdw>
                </a:effectLst>
              </a:rPr>
              <a:t>CH7-Les ORM Eloquent</a:t>
            </a:r>
          </a:p>
        </p:txBody>
      </p:sp>
      <p:sp>
        <p:nvSpPr>
          <p:cNvPr id="3" name="Sous-titre 2"/>
          <p:cNvSpPr>
            <a:spLocks noGrp="1"/>
          </p:cNvSpPr>
          <p:nvPr>
            <p:ph type="subTitle" idx="1"/>
          </p:nvPr>
        </p:nvSpPr>
        <p:spPr/>
        <p:txBody>
          <a:bodyPr/>
          <a:lstStyle/>
          <a:p>
            <a:r>
              <a:rPr lang="fr-FR" dirty="0">
                <a:effectLst>
                  <a:outerShdw blurRad="38100" dist="38100" dir="2700000" algn="tl">
                    <a:srgbClr val="000000">
                      <a:alpha val="43137"/>
                    </a:srgbClr>
                  </a:outerShdw>
                </a:effectLst>
              </a:rPr>
              <a:t>Développement back-end</a:t>
            </a:r>
          </a:p>
        </p:txBody>
      </p:sp>
    </p:spTree>
    <p:extLst>
      <p:ext uri="{BB962C8B-B14F-4D97-AF65-F5344CB8AC3E}">
        <p14:creationId xmlns:p14="http://schemas.microsoft.com/office/powerpoint/2010/main" val="3258402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Introduction</a:t>
            </a:r>
          </a:p>
        </p:txBody>
      </p:sp>
      <p:sp>
        <p:nvSpPr>
          <p:cNvPr id="3" name="Espace réservé du contenu 2"/>
          <p:cNvSpPr>
            <a:spLocks noGrp="1"/>
          </p:cNvSpPr>
          <p:nvPr>
            <p:ph idx="1"/>
          </p:nvPr>
        </p:nvSpPr>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L’ORM (Object-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relationnal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mapping) est une couche qui permet à une application de communiquer avec des tables d’une base de données. Une telle couche sous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s’appelle Eloquent qui permet de faciliter la manipulation des modèles avec un langage simple et intuitif (le code lui-même explique qu’est ce qu’il fait).</a:t>
            </a:r>
          </a:p>
        </p:txBody>
      </p:sp>
    </p:spTree>
    <p:extLst>
      <p:ext uri="{BB962C8B-B14F-4D97-AF65-F5344CB8AC3E}">
        <p14:creationId xmlns:p14="http://schemas.microsoft.com/office/powerpoint/2010/main" val="2300802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Mise à jour à l’aide de Eloquent</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fontScale="77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Comme nous l’avons déjà vu dans les chapitres précédents, l’insertion d’un enregistrement dans une table à travers un modèle Eloquent se fait à l’aide de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sz="2800" i="1" dirty="0" err="1">
                <a:solidFill>
                  <a:schemeClr val="accent1">
                    <a:lumMod val="50000"/>
                  </a:schemeClr>
                </a:solidFill>
                <a:latin typeface="Times New Roman" panose="02020603050405020304" pitchFamily="18" charset="0"/>
                <a:cs typeface="Times New Roman" panose="02020603050405020304" pitchFamily="18" charset="0"/>
              </a:rPr>
              <a:t>NomModele</a:t>
            </a: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create</a:t>
            </a:r>
            <a:r>
              <a:rPr lang="fr-FR" sz="2800" i="1" dirty="0">
                <a:solidFill>
                  <a:schemeClr val="accent1">
                    <a:lumMod val="50000"/>
                  </a:schemeClr>
                </a:solidFill>
                <a:latin typeface="Times New Roman" panose="02020603050405020304" pitchFamily="18" charset="0"/>
                <a:cs typeface="Times New Roman" panose="02020603050405020304" pitchFamily="18" charset="0"/>
              </a:rPr>
              <a:t>([‘colonne1’=&gt;’valeur1’, ‘colonne2’=&gt;’valeur2’,</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pour la table «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eleves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lgn="just">
              <a:buNone/>
            </a:pP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create</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‘nom’=&gt;’ALAMI’,</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prenom</a:t>
            </a:r>
            <a:r>
              <a:rPr lang="fr-FR" i="1" dirty="0">
                <a:solidFill>
                  <a:schemeClr val="accent1">
                    <a:lumMod val="50000"/>
                  </a:schemeClr>
                </a:solidFill>
                <a:latin typeface="Times New Roman" panose="02020603050405020304" pitchFamily="18" charset="0"/>
                <a:cs typeface="Times New Roman" panose="02020603050405020304" pitchFamily="18" charset="0"/>
              </a:rPr>
              <a:t>’=&gt;’Said’, </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age</a:t>
            </a:r>
            <a:r>
              <a:rPr lang="fr-FR" i="1" dirty="0">
                <a:solidFill>
                  <a:schemeClr val="accent1">
                    <a:lumMod val="50000"/>
                  </a:schemeClr>
                </a:solidFill>
                <a:latin typeface="Times New Roman" panose="02020603050405020304" pitchFamily="18" charset="0"/>
                <a:cs typeface="Times New Roman" panose="02020603050405020304" pitchFamily="18" charset="0"/>
              </a:rPr>
              <a:t>’=&gt;15</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NB: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s’incrémente automatiquement, sauf si nous voulons forcer la valeur dans ce cas il peut être mentionné.</a:t>
            </a:r>
          </a:p>
        </p:txBody>
      </p:sp>
    </p:spTree>
    <p:extLst>
      <p:ext uri="{BB962C8B-B14F-4D97-AF65-F5344CB8AC3E}">
        <p14:creationId xmlns:p14="http://schemas.microsoft.com/office/powerpoint/2010/main" val="3274374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Mise à jour à l’aide de Eloquent</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modification peut se faire à l’aide de la méthode update appliquée à un objet comme le montre la syntaxe suivante:</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$objet-&gt;update([‘colonne1’=&gt;’valeur1’, ‘colonne2’=&gt;’valeur2’,</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pour la table «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eleves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find</a:t>
            </a:r>
            <a:r>
              <a:rPr lang="fr-FR" i="1" dirty="0">
                <a:solidFill>
                  <a:schemeClr val="accent1">
                    <a:lumMod val="50000"/>
                  </a:schemeClr>
                </a:solidFill>
                <a:latin typeface="Times New Roman" panose="02020603050405020304" pitchFamily="18" charset="0"/>
                <a:cs typeface="Times New Roman" panose="02020603050405020304" pitchFamily="18" charset="0"/>
              </a:rPr>
              <a:t>(5);//Rechercher </a:t>
            </a:r>
            <a:r>
              <a:rPr lang="fr-FR" i="1" dirty="0" err="1">
                <a:solidFill>
                  <a:schemeClr val="accent1">
                    <a:lumMod val="50000"/>
                  </a:schemeClr>
                </a:solidFill>
                <a:latin typeface="Times New Roman" panose="02020603050405020304" pitchFamily="18" charset="0"/>
                <a:cs typeface="Times New Roman" panose="02020603050405020304" pitchFamily="18" charset="0"/>
              </a:rPr>
              <a:t>l’id</a:t>
            </a:r>
            <a:r>
              <a:rPr lang="fr-FR" i="1" dirty="0">
                <a:solidFill>
                  <a:schemeClr val="accent1">
                    <a:lumMod val="50000"/>
                  </a:schemeClr>
                </a:solidFill>
                <a:latin typeface="Times New Roman" panose="02020603050405020304" pitchFamily="18" charset="0"/>
                <a:cs typeface="Times New Roman" panose="02020603050405020304" pitchFamily="18" charset="0"/>
              </a:rPr>
              <a:t> 5</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-&gt;update([</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age</a:t>
            </a:r>
            <a:r>
              <a:rPr lang="fr-FR" i="1" dirty="0">
                <a:solidFill>
                  <a:schemeClr val="accent1">
                    <a:lumMod val="50000"/>
                  </a:schemeClr>
                </a:solidFill>
                <a:latin typeface="Times New Roman" panose="02020603050405020304" pitchFamily="18" charset="0"/>
                <a:cs typeface="Times New Roman" panose="02020603050405020304" pitchFamily="18" charset="0"/>
              </a:rPr>
              <a:t>’=&gt;22</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41192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Mise à jour à l’aide de Eloquent</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suppression peut se faire à l’aide de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delete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appliquée à un objet comme le montre la syntaxe suivante:</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$objet-&gt;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delete</a:t>
            </a: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a:solidFill>
                  <a:schemeClr val="accent1">
                    <a:lumMod val="50000"/>
                  </a:schemeClr>
                </a:solidFill>
                <a:latin typeface="Times New Roman" panose="02020603050405020304" pitchFamily="18" charset="0"/>
                <a:cs typeface="Times New Roman" panose="02020603050405020304" pitchFamily="18" charset="0"/>
              </a:rPr>
              <a:t>);</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pour la table «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eleves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find</a:t>
            </a:r>
            <a:r>
              <a:rPr lang="fr-FR" i="1" dirty="0">
                <a:solidFill>
                  <a:schemeClr val="accent1">
                    <a:lumMod val="50000"/>
                  </a:schemeClr>
                </a:solidFill>
                <a:latin typeface="Times New Roman" panose="02020603050405020304" pitchFamily="18" charset="0"/>
                <a:cs typeface="Times New Roman" panose="02020603050405020304" pitchFamily="18" charset="0"/>
              </a:rPr>
              <a:t>(5);//Rechercher </a:t>
            </a:r>
            <a:r>
              <a:rPr lang="fr-FR" i="1" dirty="0" err="1">
                <a:solidFill>
                  <a:schemeClr val="accent1">
                    <a:lumMod val="50000"/>
                  </a:schemeClr>
                </a:solidFill>
                <a:latin typeface="Times New Roman" panose="02020603050405020304" pitchFamily="18" charset="0"/>
                <a:cs typeface="Times New Roman" panose="02020603050405020304" pitchFamily="18" charset="0"/>
              </a:rPr>
              <a:t>l’id</a:t>
            </a:r>
            <a:r>
              <a:rPr lang="fr-FR" i="1" dirty="0">
                <a:solidFill>
                  <a:schemeClr val="accent1">
                    <a:lumMod val="50000"/>
                  </a:schemeClr>
                </a:solidFill>
                <a:latin typeface="Times New Roman" panose="02020603050405020304" pitchFamily="18" charset="0"/>
                <a:cs typeface="Times New Roman" panose="02020603050405020304" pitchFamily="18" charset="0"/>
              </a:rPr>
              <a:t> 5</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-&gt;</a:t>
            </a:r>
            <a:r>
              <a:rPr lang="fr-FR" i="1" dirty="0" err="1">
                <a:solidFill>
                  <a:schemeClr val="accent1">
                    <a:lumMod val="50000"/>
                  </a:schemeClr>
                </a:solidFill>
                <a:latin typeface="Times New Roman" panose="02020603050405020304" pitchFamily="18" charset="0"/>
                <a:cs typeface="Times New Roman" panose="02020603050405020304" pitchFamily="18" charset="0"/>
              </a:rPr>
              <a:t>delete</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93446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III- Recherche et filtrage à l’aide de Eloquent</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Il est possible d’appliquer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qui prend en paramètre la clé étrangère de l’entité du model :</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$objet=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NomModel</a:t>
            </a: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find</a:t>
            </a:r>
            <a:r>
              <a:rPr lang="fr-FR" sz="2800" i="1" dirty="0">
                <a:solidFill>
                  <a:schemeClr val="accent1">
                    <a:lumMod val="50000"/>
                  </a:schemeClr>
                </a:solidFill>
                <a:latin typeface="Times New Roman" panose="02020603050405020304" pitchFamily="18" charset="0"/>
                <a:cs typeface="Times New Roman" panose="02020603050405020304" pitchFamily="18" charset="0"/>
              </a:rPr>
              <a:t>($id</a:t>
            </a:r>
            <a:r>
              <a:rPr lang="fr-FR" i="1" dirty="0">
                <a:solidFill>
                  <a:schemeClr val="accent1">
                    <a:lumMod val="50000"/>
                  </a:schemeClr>
                </a:solidFill>
                <a:latin typeface="Times New Roman" panose="02020603050405020304" pitchFamily="18" charset="0"/>
                <a:cs typeface="Times New Roman" panose="02020603050405020304" pitchFamily="18" charset="0"/>
              </a:rPr>
              <a:t>);</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Il est possible aussi d’utiliser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qui prend 3 paramètres, le premier c’est la colonne sur laquelle on applique la condition, le deuxième c’est l’opérateur de comparaison (par défaut =) le troisième c’est la valeur possible:</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where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age</a:t>
            </a:r>
            <a:r>
              <a:rPr lang="fr-FR" i="1" dirty="0">
                <a:solidFill>
                  <a:schemeClr val="accent1">
                    <a:lumMod val="50000"/>
                  </a:schemeClr>
                </a:solidFill>
                <a:latin typeface="Times New Roman" panose="02020603050405020304" pitchFamily="18" charset="0"/>
                <a:cs typeface="Times New Roman" panose="02020603050405020304" pitchFamily="18" charset="0"/>
              </a:rPr>
              <a:t>’,’&gt;’,5)-&gt;</a:t>
            </a:r>
            <a:r>
              <a:rPr lang="fr-FR"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i="1" dirty="0">
                <a:solidFill>
                  <a:schemeClr val="accent1">
                    <a:lumMod val="50000"/>
                  </a:schemeClr>
                </a:solidFill>
                <a:latin typeface="Times New Roman" panose="02020603050405020304" pitchFamily="18" charset="0"/>
                <a:cs typeface="Times New Roman" panose="02020603050405020304" pitchFamily="18" charset="0"/>
              </a:rPr>
              <a:t>();//filtrer la liste des élèves âgés de plus de 5;</a:t>
            </a:r>
          </a:p>
        </p:txBody>
      </p:sp>
    </p:spTree>
    <p:extLst>
      <p:ext uri="{BB962C8B-B14F-4D97-AF65-F5344CB8AC3E}">
        <p14:creationId xmlns:p14="http://schemas.microsoft.com/office/powerpoint/2010/main" val="1672118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6199" y="365125"/>
            <a:ext cx="11996057"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IV- Les relations (relation un à plusieurs One to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fontScale="92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Considérons le cas d’élèves qui appartient à un seul groupe, dans ce cas on peut matérialiser cette relation en utilisant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belongsTo</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qui permet de retourner l’objet Groupe auquel appartient l’élève :</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public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sz="2800" i="1" dirty="0">
                <a:solidFill>
                  <a:schemeClr val="accent1">
                    <a:lumMod val="50000"/>
                  </a:schemeClr>
                </a:solidFill>
                <a:latin typeface="Times New Roman" panose="02020603050405020304" pitchFamily="18" charset="0"/>
                <a:cs typeface="Times New Roman" panose="02020603050405020304" pitchFamily="18" charset="0"/>
              </a:rPr>
              <a:t> groupe():</a:t>
            </a:r>
            <a:r>
              <a:rPr lang="fr-FR" i="1" dirty="0" err="1">
                <a:solidFill>
                  <a:schemeClr val="accent1">
                    <a:lumMod val="50000"/>
                  </a:schemeClr>
                </a:solidFill>
                <a:latin typeface="Times New Roman" panose="02020603050405020304" pitchFamily="18" charset="0"/>
                <a:cs typeface="Times New Roman" panose="02020603050405020304" pitchFamily="18" charset="0"/>
              </a:rPr>
              <a:t>B</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elongsTo</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a:t>
            </a:r>
            <a:r>
              <a:rPr lang="fr-FR" i="1" dirty="0" err="1">
                <a:solidFill>
                  <a:schemeClr val="accent1">
                    <a:lumMod val="50000"/>
                  </a:schemeClr>
                </a:solidFill>
                <a:latin typeface="Times New Roman" panose="02020603050405020304" pitchFamily="18" charset="0"/>
                <a:cs typeface="Times New Roman" panose="02020603050405020304" pitchFamily="18" charset="0"/>
              </a:rPr>
              <a:t>this</a:t>
            </a:r>
            <a:r>
              <a:rPr lang="fr-FR" i="1" dirty="0">
                <a:solidFill>
                  <a:schemeClr val="accent1">
                    <a:lumMod val="50000"/>
                  </a:schemeClr>
                </a:solidFill>
                <a:latin typeface="Times New Roman" panose="02020603050405020304" pitchFamily="18" charset="0"/>
                <a:cs typeface="Times New Roman" panose="02020603050405020304" pitchFamily="18" charset="0"/>
              </a:rPr>
              <a:t>-&gt;</a:t>
            </a:r>
            <a:r>
              <a:rPr lang="fr-FR" i="1" dirty="0" err="1">
                <a:solidFill>
                  <a:schemeClr val="accent1">
                    <a:lumMod val="50000"/>
                  </a:schemeClr>
                </a:solidFill>
                <a:latin typeface="Times New Roman" panose="02020603050405020304" pitchFamily="18" charset="0"/>
                <a:cs typeface="Times New Roman" panose="02020603050405020304" pitchFamily="18" charset="0"/>
              </a:rPr>
              <a:t>belongsTo</a:t>
            </a:r>
            <a:r>
              <a:rPr lang="fr-FR" i="1" dirty="0">
                <a:solidFill>
                  <a:schemeClr val="accent1">
                    <a:lumMod val="50000"/>
                  </a:schemeClr>
                </a:solidFill>
                <a:latin typeface="Times New Roman" panose="02020603050405020304" pitchFamily="18" charset="0"/>
                <a:cs typeface="Times New Roman" panose="02020603050405020304" pitchFamily="18" charset="0"/>
              </a:rPr>
              <a:t>(Groupe::class);</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 peut matérialiser la relation un groupe a plusieurs élèves  à l’aide de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hasMany</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public </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eleves</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HasMany</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a:t>
            </a:r>
            <a:r>
              <a:rPr lang="fr-FR" i="1" dirty="0" err="1">
                <a:solidFill>
                  <a:schemeClr val="accent1">
                    <a:lumMod val="50000"/>
                  </a:schemeClr>
                </a:solidFill>
                <a:latin typeface="Times New Roman" panose="02020603050405020304" pitchFamily="18" charset="0"/>
                <a:cs typeface="Times New Roman" panose="02020603050405020304" pitchFamily="18" charset="0"/>
              </a:rPr>
              <a:t>this</a:t>
            </a:r>
            <a:r>
              <a:rPr lang="fr-FR" i="1" dirty="0">
                <a:solidFill>
                  <a:schemeClr val="accent1">
                    <a:lumMod val="50000"/>
                  </a:schemeClr>
                </a:solidFill>
                <a:latin typeface="Times New Roman" panose="02020603050405020304" pitchFamily="18" charset="0"/>
                <a:cs typeface="Times New Roman" panose="02020603050405020304" pitchFamily="18" charset="0"/>
              </a:rPr>
              <a:t>-&gt;</a:t>
            </a:r>
            <a:r>
              <a:rPr lang="fr-FR" i="1" dirty="0" err="1">
                <a:solidFill>
                  <a:schemeClr val="accent1">
                    <a:lumMod val="50000"/>
                  </a:schemeClr>
                </a:solidFill>
                <a:latin typeface="Times New Roman" panose="02020603050405020304" pitchFamily="18" charset="0"/>
                <a:cs typeface="Times New Roman" panose="02020603050405020304" pitchFamily="18" charset="0"/>
              </a:rPr>
              <a:t>hasMany</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Eleve</a:t>
            </a:r>
            <a:r>
              <a:rPr lang="fr-FR" i="1" dirty="0">
                <a:solidFill>
                  <a:schemeClr val="accent1">
                    <a:lumMod val="50000"/>
                  </a:schemeClr>
                </a:solidFill>
                <a:latin typeface="Times New Roman" panose="02020603050405020304" pitchFamily="18" charset="0"/>
                <a:cs typeface="Times New Roman" panose="02020603050405020304" pitchFamily="18" charset="0"/>
              </a:rPr>
              <a:t>::class);</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549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6199" y="365125"/>
            <a:ext cx="11952515"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IV- Les relations (relation plusieurs à plusieurs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 to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Considérons le cas de groupe qui peut avoir plusieurs examens, en même temps un examen peut être passé par plusieurs groupes. Cette relation peut être matérialisée en ajoutant une table pivot:</a:t>
            </a:r>
          </a:p>
          <a:p>
            <a:pPr marL="0" indent="0" algn="just">
              <a:buNone/>
            </a:pPr>
            <a:r>
              <a:rPr lang="fr-FR" sz="2800"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sz="2800" i="1" dirty="0">
                <a:solidFill>
                  <a:schemeClr val="accent1">
                    <a:lumMod val="50000"/>
                  </a:schemeClr>
                </a:solidFill>
                <a:latin typeface="Times New Roman" panose="02020603050405020304" pitchFamily="18" charset="0"/>
                <a:cs typeface="Times New Roman" panose="02020603050405020304" pitchFamily="18" charset="0"/>
              </a:rPr>
              <a:t> artisan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make:migration</a:t>
            </a:r>
            <a:r>
              <a:rPr lang="fr-FR" sz="2800" i="1" dirty="0">
                <a:solidFill>
                  <a:schemeClr val="accent1">
                    <a:lumMod val="50000"/>
                  </a:schemeClr>
                </a:solidFill>
                <a:latin typeface="Times New Roman" panose="02020603050405020304" pitchFamily="18" charset="0"/>
                <a:cs typeface="Times New Roman" panose="02020603050405020304" pitchFamily="18" charset="0"/>
              </a:rPr>
              <a:t>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create_table_pivot_examen_groupe</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Spécifier les clés étrangères dans la table pivot:</a:t>
            </a:r>
          </a:p>
          <a:p>
            <a:pPr marL="0" indent="0" algn="just">
              <a:buNone/>
            </a:pPr>
            <a:r>
              <a:rPr lang="fr-FR" i="1" dirty="0" err="1">
                <a:solidFill>
                  <a:schemeClr val="accent1">
                    <a:lumMod val="50000"/>
                  </a:schemeClr>
                </a:solidFill>
                <a:latin typeface="Times New Roman" panose="02020603050405020304" pitchFamily="18" charset="0"/>
                <a:cs typeface="Times New Roman" panose="02020603050405020304" pitchFamily="18" charset="0"/>
              </a:rPr>
              <a:t>Schema</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create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examen_groupe</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Blueprint</a:t>
            </a:r>
            <a:r>
              <a:rPr lang="fr-FR" i="1" dirty="0">
                <a:solidFill>
                  <a:schemeClr val="accent1">
                    <a:lumMod val="50000"/>
                  </a:schemeClr>
                </a:solidFill>
                <a:latin typeface="Times New Roman" panose="02020603050405020304" pitchFamily="18" charset="0"/>
                <a:cs typeface="Times New Roman" panose="02020603050405020304" pitchFamily="18" charset="0"/>
              </a:rPr>
              <a:t> $table) {</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$table-&gt;id();</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$table-&gt;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foreignId</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groupe_id</a:t>
            </a:r>
            <a:r>
              <a:rPr lang="fr-FR" i="1" dirty="0">
                <a:solidFill>
                  <a:schemeClr val="accent1">
                    <a:lumMod val="50000"/>
                  </a:schemeClr>
                </a:solidFill>
                <a:latin typeface="Times New Roman" panose="02020603050405020304" pitchFamily="18" charset="0"/>
                <a:cs typeface="Times New Roman" panose="02020603050405020304" pitchFamily="18" charset="0"/>
              </a:rPr>
              <a:t>')-&gt;</a:t>
            </a:r>
            <a:r>
              <a:rPr lang="fr-FR" i="1" dirty="0" err="1">
                <a:solidFill>
                  <a:schemeClr val="accent1">
                    <a:lumMod val="50000"/>
                  </a:schemeClr>
                </a:solidFill>
                <a:latin typeface="Times New Roman" panose="02020603050405020304" pitchFamily="18" charset="0"/>
                <a:cs typeface="Times New Roman" panose="02020603050405020304" pitchFamily="18" charset="0"/>
              </a:rPr>
              <a:t>constained</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$table-&gt;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foreignId</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examen_id</a:t>
            </a:r>
            <a:r>
              <a:rPr lang="fr-FR" i="1" dirty="0">
                <a:solidFill>
                  <a:schemeClr val="accent1">
                    <a:lumMod val="50000"/>
                  </a:schemeClr>
                </a:solidFill>
                <a:latin typeface="Times New Roman" panose="02020603050405020304" pitchFamily="18" charset="0"/>
                <a:cs typeface="Times New Roman" panose="02020603050405020304" pitchFamily="18" charset="0"/>
              </a:rPr>
              <a:t>')-&gt;</a:t>
            </a:r>
            <a:r>
              <a:rPr lang="fr-FR" i="1" dirty="0" err="1">
                <a:solidFill>
                  <a:schemeClr val="accent1">
                    <a:lumMod val="50000"/>
                  </a:schemeClr>
                </a:solidFill>
                <a:latin typeface="Times New Roman" panose="02020603050405020304" pitchFamily="18" charset="0"/>
                <a:cs typeface="Times New Roman" panose="02020603050405020304" pitchFamily="18" charset="0"/>
              </a:rPr>
              <a:t>constained</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7066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6199" y="365125"/>
            <a:ext cx="11952515"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IV- Les relations (relation plusieurs à plusieurs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 to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a:t>
            </a:r>
          </a:p>
        </p:txBody>
      </p:sp>
      <p:sp>
        <p:nvSpPr>
          <p:cNvPr id="3" name="Espace réservé du contenu 2"/>
          <p:cNvSpPr>
            <a:spLocks noGrp="1"/>
          </p:cNvSpPr>
          <p:nvPr>
            <p:ph idx="1"/>
          </p:nvPr>
        </p:nvSpPr>
        <p:spPr>
          <a:xfrm>
            <a:off x="838200" y="1825624"/>
            <a:ext cx="10515600" cy="4930775"/>
          </a:xfrm>
        </p:spPr>
        <p:txBody>
          <a:bodyPr vert="horz" lIns="91440" tIns="45720" rIns="91440" bIns="45720" rtlCol="0">
            <a:normAutofit fontScale="92500"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 matérialise par la suite cette relation dans les modèles Groupe et Examen en ajoutant les fonction groupes() dans Examen et examens() dans groupes à l’aide de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belongsToMany</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public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sz="2800" i="1" dirty="0">
                <a:solidFill>
                  <a:schemeClr val="accent1">
                    <a:lumMod val="50000"/>
                  </a:schemeClr>
                </a:solidFill>
                <a:latin typeface="Times New Roman" panose="02020603050405020304" pitchFamily="18" charset="0"/>
                <a:cs typeface="Times New Roman" panose="02020603050405020304" pitchFamily="18" charset="0"/>
              </a:rPr>
              <a:t> groupes() :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BelongsToMany</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	return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this</a:t>
            </a:r>
            <a:r>
              <a:rPr lang="fr-FR" sz="2800" i="1" dirty="0">
                <a:solidFill>
                  <a:schemeClr val="accent1">
                    <a:lumMod val="50000"/>
                  </a:schemeClr>
                </a:solidFill>
                <a:latin typeface="Times New Roman" panose="02020603050405020304" pitchFamily="18" charset="0"/>
                <a:cs typeface="Times New Roman" panose="02020603050405020304" pitchFamily="18" charset="0"/>
              </a:rPr>
              <a:t>-&gt;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belongsToMany</a:t>
            </a:r>
            <a:r>
              <a:rPr lang="fr-FR" sz="2800" i="1" dirty="0">
                <a:solidFill>
                  <a:schemeClr val="accent1">
                    <a:lumMod val="50000"/>
                  </a:schemeClr>
                </a:solidFill>
                <a:latin typeface="Times New Roman" panose="02020603050405020304" pitchFamily="18" charset="0"/>
                <a:cs typeface="Times New Roman" panose="02020603050405020304" pitchFamily="18" charset="0"/>
              </a:rPr>
              <a:t>(Groupe::class);</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public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sz="2800" i="1" dirty="0">
                <a:solidFill>
                  <a:schemeClr val="accent1">
                    <a:lumMod val="50000"/>
                  </a:schemeClr>
                </a:solidFill>
                <a:latin typeface="Times New Roman" panose="02020603050405020304" pitchFamily="18" charset="0"/>
                <a:cs typeface="Times New Roman" panose="02020603050405020304" pitchFamily="18" charset="0"/>
              </a:rPr>
              <a:t> examens() :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BelongsToMany</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	return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this</a:t>
            </a:r>
            <a:r>
              <a:rPr lang="fr-FR" sz="2800" i="1" dirty="0">
                <a:solidFill>
                  <a:schemeClr val="accent1">
                    <a:lumMod val="50000"/>
                  </a:schemeClr>
                </a:solidFill>
                <a:latin typeface="Times New Roman" panose="02020603050405020304" pitchFamily="18" charset="0"/>
                <a:cs typeface="Times New Roman" panose="02020603050405020304" pitchFamily="18" charset="0"/>
              </a:rPr>
              <a:t>-&gt;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belongsToMany</a:t>
            </a:r>
            <a:r>
              <a:rPr lang="fr-FR" sz="2800" i="1" dirty="0">
                <a:solidFill>
                  <a:schemeClr val="accent1">
                    <a:lumMod val="50000"/>
                  </a:schemeClr>
                </a:solidFill>
                <a:latin typeface="Times New Roman" panose="02020603050405020304" pitchFamily="18" charset="0"/>
                <a:cs typeface="Times New Roman" panose="02020603050405020304" pitchFamily="18" charset="0"/>
              </a:rPr>
              <a:t>(Examen::class);</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623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E053B-A596-561F-132A-96BB995117A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EAE6107-748C-48D7-4803-061C9DC952B2}"/>
              </a:ext>
            </a:extLst>
          </p:cNvPr>
          <p:cNvSpPr>
            <a:spLocks noGrp="1"/>
          </p:cNvSpPr>
          <p:nvPr>
            <p:ph type="title"/>
          </p:nvPr>
        </p:nvSpPr>
        <p:spPr>
          <a:xfrm>
            <a:off x="76199" y="365125"/>
            <a:ext cx="11952515"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IV- Les relations (relation plusieurs à plusieurs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 to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a:t>
            </a:r>
          </a:p>
        </p:txBody>
      </p:sp>
      <p:sp>
        <p:nvSpPr>
          <p:cNvPr id="3" name="Espace réservé du contenu 2">
            <a:extLst>
              <a:ext uri="{FF2B5EF4-FFF2-40B4-BE49-F238E27FC236}">
                <a16:creationId xmlns:a16="http://schemas.microsoft.com/office/drawing/2014/main" id="{5EC0B237-4C36-94E3-4CAC-7DE68607D2CB}"/>
              </a:ext>
            </a:extLst>
          </p:cNvPr>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 on désire ajouter une ligne dans la table pivot, on peut utiliser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attach</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la manière suivante:</a:t>
            </a:r>
          </a:p>
          <a:p>
            <a:pPr marL="0" indent="0" algn="just">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$groupe-&gt;examens()-&gt;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attach</a:t>
            </a:r>
            <a:r>
              <a:rPr lang="fr-FR" sz="2800" i="1" dirty="0">
                <a:solidFill>
                  <a:schemeClr val="accent1">
                    <a:lumMod val="50000"/>
                  </a:schemeClr>
                </a:solidFill>
                <a:latin typeface="Times New Roman" panose="02020603050405020304" pitchFamily="18" charset="0"/>
                <a:cs typeface="Times New Roman" panose="02020603050405020304" pitchFamily="18" charset="0"/>
              </a:rPr>
              <a:t>($examen-&gt;id);</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attach</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peut prendre aussi des arguments pour spécifier les valeurs des propriétés appartenant à la relation, exemple:</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$groupe-&gt;examens()-&gt;</a:t>
            </a:r>
            <a:r>
              <a:rPr lang="fr-FR" i="1" dirty="0" err="1">
                <a:solidFill>
                  <a:schemeClr val="accent1">
                    <a:lumMod val="50000"/>
                  </a:schemeClr>
                </a:solidFill>
                <a:latin typeface="Times New Roman" panose="02020603050405020304" pitchFamily="18" charset="0"/>
                <a:cs typeface="Times New Roman" panose="02020603050405020304" pitchFamily="18" charset="0"/>
              </a:rPr>
              <a:t>attach</a:t>
            </a:r>
            <a:r>
              <a:rPr lang="fr-FR" i="1" dirty="0">
                <a:solidFill>
                  <a:schemeClr val="accent1">
                    <a:lumMod val="50000"/>
                  </a:schemeClr>
                </a:solidFill>
                <a:latin typeface="Times New Roman" panose="02020603050405020304" pitchFamily="18" charset="0"/>
                <a:cs typeface="Times New Roman" panose="02020603050405020304" pitchFamily="18" charset="0"/>
              </a:rPr>
              <a:t>($examen-&gt;id,['salle'=&gt;'SALLE A1']);</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attach</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peut ajouter plusieurs lignes de la manière suivante:</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$groupe-&gt;examens()-&gt;</a:t>
            </a:r>
            <a:r>
              <a:rPr lang="fr-FR" i="1" dirty="0" err="1">
                <a:solidFill>
                  <a:schemeClr val="accent1">
                    <a:lumMod val="50000"/>
                  </a:schemeClr>
                </a:solidFill>
                <a:latin typeface="Times New Roman" panose="02020603050405020304" pitchFamily="18" charset="0"/>
                <a:cs typeface="Times New Roman" panose="02020603050405020304" pitchFamily="18" charset="0"/>
              </a:rPr>
              <a:t>attach</a:t>
            </a:r>
            <a:r>
              <a:rPr lang="fr-FR" i="1" dirty="0">
                <a:solidFill>
                  <a:schemeClr val="accent1">
                    <a:lumMod val="50000"/>
                  </a:schemeClr>
                </a:solidFill>
                <a:latin typeface="Times New Roman" panose="02020603050405020304" pitchFamily="18" charset="0"/>
                <a:cs typeface="Times New Roman" panose="02020603050405020304" pitchFamily="18" charset="0"/>
              </a:rPr>
              <a:t>([1,4,5]);</a:t>
            </a: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681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A99E-31EB-2D9F-6FA0-4BF5E23FA6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E24A8D-6A65-4402-ADDD-34A597F54A0B}"/>
              </a:ext>
            </a:extLst>
          </p:cNvPr>
          <p:cNvSpPr>
            <a:spLocks noGrp="1"/>
          </p:cNvSpPr>
          <p:nvPr>
            <p:ph type="title"/>
          </p:nvPr>
        </p:nvSpPr>
        <p:spPr>
          <a:xfrm>
            <a:off x="76199" y="365125"/>
            <a:ext cx="11952515"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IV- Les relations (relation plusieurs à plusieurs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 to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a:t>
            </a:r>
          </a:p>
        </p:txBody>
      </p:sp>
      <p:sp>
        <p:nvSpPr>
          <p:cNvPr id="3" name="Espace réservé du contenu 2">
            <a:extLst>
              <a:ext uri="{FF2B5EF4-FFF2-40B4-BE49-F238E27FC236}">
                <a16:creationId xmlns:a16="http://schemas.microsoft.com/office/drawing/2014/main" id="{97324A4B-9BBF-3BA1-8307-88BBDFE24AFA}"/>
              </a:ext>
            </a:extLst>
          </p:cNvPr>
          <p:cNvSpPr>
            <a:spLocks noGrp="1"/>
          </p:cNvSpPr>
          <p:nvPr>
            <p:ph idx="1"/>
          </p:nvPr>
        </p:nvSpPr>
        <p:spPr>
          <a:xfrm>
            <a:off x="838200" y="1825624"/>
            <a:ext cx="10515600" cy="4930775"/>
          </a:xfrm>
        </p:spPr>
        <p:txBody>
          <a:bodyPr vert="horz" lIns="91440" tIns="45720" rIns="91440" bIns="45720" rtlCol="0">
            <a:normAutofit lnSpcReduction="10000"/>
          </a:bodyPr>
          <a:lstStyle/>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 on désire ajouter plusieurs lignes à la fois avec propriétés de relations: </a:t>
            </a:r>
            <a:r>
              <a:rPr lang="fr-FR" i="1" dirty="0">
                <a:solidFill>
                  <a:schemeClr val="accent1">
                    <a:lumMod val="50000"/>
                  </a:schemeClr>
                </a:solidFill>
                <a:latin typeface="Times New Roman" panose="02020603050405020304" pitchFamily="18" charset="0"/>
                <a:cs typeface="Times New Roman" panose="02020603050405020304" pitchFamily="18" charset="0"/>
              </a:rPr>
              <a:t>$groupe-&gt;examens()-&gt;</a:t>
            </a:r>
            <a:r>
              <a:rPr lang="fr-FR" i="1" dirty="0" err="1">
                <a:solidFill>
                  <a:schemeClr val="accent1">
                    <a:lumMod val="50000"/>
                  </a:schemeClr>
                </a:solidFill>
                <a:latin typeface="Times New Roman" panose="02020603050405020304" pitchFamily="18" charset="0"/>
                <a:cs typeface="Times New Roman" panose="02020603050405020304" pitchFamily="18" charset="0"/>
              </a:rPr>
              <a:t>attach</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1=&gt;['salle'=&gt;'S1'],</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4 =&gt;['salle'=&gt;'S2'],</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5 =&gt;['salle'=&gt;'S1']</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attach</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peut ajouter plusieurs lignes mais on risque d'avoir des doublons.</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sync</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peut ajouter plusieurs lignes sans avoir des doublons (cas de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attach</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la manière suivante:</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$groupe-&gt;examens()-&gt;</a:t>
            </a:r>
            <a:r>
              <a:rPr lang="fr-FR" i="1" dirty="0" err="1">
                <a:solidFill>
                  <a:schemeClr val="accent1">
                    <a:lumMod val="50000"/>
                  </a:schemeClr>
                </a:solidFill>
                <a:latin typeface="Times New Roman" panose="02020603050405020304" pitchFamily="18" charset="0"/>
                <a:cs typeface="Times New Roman" panose="02020603050405020304" pitchFamily="18" charset="0"/>
              </a:rPr>
              <a:t>sync</a:t>
            </a:r>
            <a:r>
              <a:rPr lang="fr-FR" i="1" dirty="0">
                <a:solidFill>
                  <a:schemeClr val="accent1">
                    <a:lumMod val="50000"/>
                  </a:schemeClr>
                </a:solidFill>
                <a:latin typeface="Times New Roman" panose="02020603050405020304" pitchFamily="18" charset="0"/>
                <a:cs typeface="Times New Roman" panose="02020603050405020304" pitchFamily="18" charset="0"/>
              </a:rPr>
              <a:t>([1,4,5]);</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89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DCE69-166A-592A-0DE9-AF106073483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E55F51-CB5E-ED95-92BD-21B0CA8667A4}"/>
              </a:ext>
            </a:extLst>
          </p:cNvPr>
          <p:cNvSpPr>
            <a:spLocks noGrp="1"/>
          </p:cNvSpPr>
          <p:nvPr>
            <p:ph type="title"/>
          </p:nvPr>
        </p:nvSpPr>
        <p:spPr>
          <a:xfrm>
            <a:off x="76199" y="365125"/>
            <a:ext cx="11952515"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IV- Les relations (relation plusieurs à plusieurs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 to </a:t>
            </a:r>
            <a:r>
              <a:rPr lang="fr-FR" b="1" dirty="0" err="1">
                <a:solidFill>
                  <a:schemeClr val="accent1">
                    <a:lumMod val="50000"/>
                  </a:schemeClr>
                </a:solidFill>
                <a:effectLst>
                  <a:outerShdw blurRad="38100" dist="38100" dir="2700000" algn="tl">
                    <a:srgbClr val="000000">
                      <a:alpha val="43137"/>
                    </a:srgbClr>
                  </a:outerShdw>
                </a:effectLst>
              </a:rPr>
              <a:t>Many</a:t>
            </a:r>
            <a:r>
              <a:rPr lang="fr-FR" b="1" dirty="0">
                <a:solidFill>
                  <a:schemeClr val="accent1">
                    <a:lumMod val="50000"/>
                  </a:schemeClr>
                </a:solidFill>
                <a:effectLst>
                  <a:outerShdw blurRad="38100" dist="38100" dir="2700000" algn="tl">
                    <a:srgbClr val="000000">
                      <a:alpha val="43137"/>
                    </a:srgbClr>
                  </a:outerShdw>
                </a:effectLst>
              </a:rPr>
              <a:t>)</a:t>
            </a:r>
          </a:p>
        </p:txBody>
      </p:sp>
      <p:sp>
        <p:nvSpPr>
          <p:cNvPr id="3" name="Espace réservé du contenu 2">
            <a:extLst>
              <a:ext uri="{FF2B5EF4-FFF2-40B4-BE49-F238E27FC236}">
                <a16:creationId xmlns:a16="http://schemas.microsoft.com/office/drawing/2014/main" id="{0519E3D9-14A7-D60E-C2DB-1608C835A021}"/>
              </a:ext>
            </a:extLst>
          </p:cNvPr>
          <p:cNvSpPr>
            <a:spLocks noGrp="1"/>
          </p:cNvSpPr>
          <p:nvPr>
            <p:ph idx="1"/>
          </p:nvPr>
        </p:nvSpPr>
        <p:spPr>
          <a:xfrm>
            <a:off x="838200" y="1825624"/>
            <a:ext cx="10515600" cy="4930775"/>
          </a:xfrm>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 on désire supprimer une ligne de la table pivot, on peut utiliser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detach</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la manière suivante:</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$groupe-&gt;examens()-&gt;</a:t>
            </a:r>
            <a:r>
              <a:rPr lang="fr-FR" i="1" dirty="0" err="1">
                <a:solidFill>
                  <a:schemeClr val="accent1">
                    <a:lumMod val="50000"/>
                  </a:schemeClr>
                </a:solidFill>
                <a:latin typeface="Times New Roman" panose="02020603050405020304" pitchFamily="18" charset="0"/>
                <a:cs typeface="Times New Roman" panose="02020603050405020304" pitchFamily="18" charset="0"/>
              </a:rPr>
              <a:t>detach</a:t>
            </a:r>
            <a:r>
              <a:rPr lang="fr-FR" i="1" dirty="0">
                <a:solidFill>
                  <a:schemeClr val="accent1">
                    <a:lumMod val="50000"/>
                  </a:schemeClr>
                </a:solidFill>
                <a:latin typeface="Times New Roman" panose="02020603050405020304" pitchFamily="18" charset="0"/>
                <a:cs typeface="Times New Roman" panose="02020603050405020304" pitchFamily="18" charset="0"/>
              </a:rPr>
              <a:t>($examen-&gt;id);</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700189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47908</TotalTime>
  <Words>952</Words>
  <Application>Microsoft Office PowerPoint</Application>
  <PresentationFormat>Grand écran</PresentationFormat>
  <Paragraphs>88</Paragraphs>
  <Slides>12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Arial</vt:lpstr>
      <vt:lpstr>Calibri</vt:lpstr>
      <vt:lpstr>Calibri Light</vt:lpstr>
      <vt:lpstr>Times New Roman</vt:lpstr>
      <vt:lpstr>Thème Office</vt:lpstr>
      <vt:lpstr>CH7-Les ORM Eloquent</vt:lpstr>
      <vt:lpstr>I- Introduction</vt:lpstr>
      <vt:lpstr>II- Mise à jour à l’aide de Eloquent</vt:lpstr>
      <vt:lpstr>II- Mise à jour à l’aide de Eloquent</vt:lpstr>
      <vt:lpstr>II- Mise à jour à l’aide de Eloquent</vt:lpstr>
      <vt:lpstr>III- Recherche et filtrage à l’aide de Eloquent</vt:lpstr>
      <vt:lpstr>IV- Les relations (relation un à plusieurs One to Many)</vt:lpstr>
      <vt:lpstr>IV- Les relations (relation plusieurs à plusieurs Many to Many )</vt:lpstr>
      <vt:lpstr>IV- Les relations (relation plusieurs à plusieurs Many to Many)</vt:lpstr>
      <vt:lpstr>IV- Les relations (relation plusieurs à plusieurs Many to Many)</vt:lpstr>
      <vt:lpstr>IV- Les relations (relation plusieurs à plusieurs Many to Many)</vt:lpstr>
      <vt:lpstr>IV- Les relations (relation plusieurs à plusieurs Many to Many)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CH1-Framework Back-end</dc:title>
  <dc:creator>NAJ LAM</dc:creator>
  <cp:lastModifiedBy>NAJ LAM</cp:lastModifiedBy>
  <cp:revision>184</cp:revision>
  <dcterms:created xsi:type="dcterms:W3CDTF">2023-02-19T17:43:52Z</dcterms:created>
  <dcterms:modified xsi:type="dcterms:W3CDTF">2026-04-11T12:07:40Z</dcterms:modified>
</cp:coreProperties>
</file>