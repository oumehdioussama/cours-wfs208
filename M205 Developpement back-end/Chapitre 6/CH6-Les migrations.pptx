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81" r:id="rId6"/>
    <p:sldId id="260" r:id="rId7"/>
    <p:sldId id="284" r:id="rId8"/>
    <p:sldId id="285" r:id="rId9"/>
    <p:sldId id="282" r:id="rId10"/>
    <p:sldId id="283" r:id="rId11"/>
    <p:sldId id="286" r:id="rId12"/>
    <p:sldId id="287" r:id="rId13"/>
    <p:sldId id="288" r:id="rId14"/>
    <p:sldId id="289" r:id="rId15"/>
    <p:sldId id="290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10580-2A5A-4E45-925B-CACCF8C0B85F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D4D56-1D12-4C59-BE0B-E4F26EDE96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51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90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861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2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22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93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7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09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36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03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2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7099-A69C-40A7-961E-56EC432041D2}" type="datetimeFigureOut">
              <a:rPr lang="fr-FR" smtClean="0"/>
              <a:t>06/03/2026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51CD-4CEC-42A2-944E-03DCAE8EDE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2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CH6-Les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migrations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Développement back-end</a:t>
            </a:r>
          </a:p>
        </p:txBody>
      </p:sp>
    </p:spTree>
    <p:extLst>
      <p:ext uri="{BB962C8B-B14F-4D97-AF65-F5344CB8AC3E}">
        <p14:creationId xmlns:p14="http://schemas.microsoft.com/office/powerpoint/2010/main" val="325840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I- 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Une migration permet de créer et de mettre à jour un schéma de base de données. Autrement dit, vous pouvez créer des tables, des colonnes dans ces tables, en supprimer, créer des index… 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Tout ce qui concerne la maintenance de vos tables peut être pris en charge par cet outil. Vous avez ainsi un suivi de vos modifications.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migration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est comme un outil de gestion de version de DATABASE.</a:t>
            </a:r>
          </a:p>
          <a:p>
            <a:pPr marL="0" indent="0" algn="just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8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II- Configuration initiale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rappelle que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permet de gérer les bases de type  MySQL,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Postgres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SQLite et SQL Server.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 faut indiquer où se trouve votre base, son nom, le nom de l’utilisateur, le mot de passe dans le fichier de configuration 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DB_CONNECTION=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DB_HOST=127.0.0.1 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DB_PORT=3306 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DB_DATABASE=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DB_USERNAME=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DB_PASSWORD=…</a:t>
            </a:r>
          </a:p>
          <a:p>
            <a:pPr marL="0" indent="0" algn="just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7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dossier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/migrations contient 4 migrations déjà présentes:</a:t>
            </a: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fr-FR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E0C9B1-47AD-2B4C-AE4C-7A675767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59" y="2500183"/>
            <a:ext cx="596348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4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d’une migration : pour générer une migration on exécute la commande:</a:t>
            </a:r>
          </a:p>
          <a:p>
            <a:pPr marL="0" indent="0" algn="just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make:migration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create_clients_table</a:t>
            </a:r>
            <a:endParaRPr lang="fr-FR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Cela générera un fichier dans le dossier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\migrations.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fichier consiste en une nouvelle classe étendant la classe de migration de LARAVEL.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dispose dans cette classe de deux fonctions :</a:t>
            </a:r>
          </a:p>
          <a:p>
            <a:pPr lvl="1" algn="just"/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ici on a le code de création de la table et de ses colonnes</a:t>
            </a:r>
          </a:p>
          <a:p>
            <a:pPr lvl="1" algn="just"/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ici on a le code de suppression de la table</a:t>
            </a:r>
          </a:p>
        </p:txBody>
      </p:sp>
    </p:spTree>
    <p:extLst>
      <p:ext uri="{BB962C8B-B14F-4D97-AF65-F5344CB8AC3E}">
        <p14:creationId xmlns:p14="http://schemas.microsoft.com/office/powerpoint/2010/main" val="249323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 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fonction up:</a:t>
            </a:r>
          </a:p>
          <a:p>
            <a:pPr marL="457200" lvl="1" indent="0">
              <a:buNone/>
            </a:pPr>
            <a:r>
              <a:rPr lang="fr-FR" dirty="0"/>
              <a:t> 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$table-&gt;id();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$table-&gt;string('nom’);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$table-&gt;string(‘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’); 	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$table-&gt;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timestamps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down: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function down()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Schema::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dropIfExists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68858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16352-AF81-EF66-9F03-82545FFB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 	</a:t>
            </a:r>
            <a:endParaRPr lang="fr-M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7AA65C-CEE4-AF45-693B-3983B18FE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Modifier la structure d’une table existante:</a:t>
            </a:r>
          </a:p>
          <a:p>
            <a:pPr marL="0" indent="0">
              <a:buNone/>
            </a:pPr>
            <a:r>
              <a:rPr lang="fr-MA" dirty="0"/>
              <a:t>	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make:migration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add_tel_to_clients</a:t>
            </a:r>
            <a:endParaRPr lang="fr-FR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MA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commande précédente permet de créer un autre fichier de migration qui se charge d’ajouter une colonne tel à la table </a:t>
            </a:r>
            <a:r>
              <a:rPr lang="fr-MA" sz="2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MA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64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 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fonction up:</a:t>
            </a:r>
          </a:p>
          <a:p>
            <a:pPr marL="457200" lvl="1" indent="0">
              <a:buNone/>
            </a:pPr>
            <a:r>
              <a:rPr lang="fr-FR" dirty="0"/>
              <a:t> 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::table('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$table-&gt;string(‘tel’)-&gt;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});</a:t>
            </a:r>
          </a:p>
          <a:p>
            <a:pPr marL="457200" lvl="1" indent="0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down: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function down()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Schema::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dropColumn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457200" lvl="1" indent="0">
              <a:buNone/>
            </a:pP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88089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III- Gestion des migrations 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90713"/>
            <a:ext cx="10515600" cy="493077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Lancer la migration :</a:t>
            </a:r>
          </a:p>
          <a:p>
            <a:pPr marL="457200" lvl="1" indent="0">
              <a:buNone/>
            </a:pPr>
            <a:r>
              <a:rPr lang="fr-FR" dirty="0"/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Lancer la migration pour une table spécifique (fichier spécifique):</a:t>
            </a:r>
          </a:p>
          <a:p>
            <a:pPr marL="457200" lvl="1" indent="0">
              <a:buNone/>
            </a:pPr>
            <a:r>
              <a:rPr lang="fr-FR" dirty="0"/>
              <a:t> 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artisan migrate --path=/database/migrations/create_clients_table.php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Annuler la dernière migration:</a:t>
            </a:r>
          </a:p>
          <a:p>
            <a:pPr marL="457200" lvl="1" indent="0">
              <a:buNone/>
            </a:pP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migrate:rollback</a:t>
            </a:r>
            <a:endParaRPr lang="en-US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Annuler toutes les opérations :</a:t>
            </a:r>
          </a:p>
          <a:p>
            <a:pPr marL="457200" lvl="1" indent="0">
              <a:buNone/>
            </a:pP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migrate:reset</a:t>
            </a:r>
            <a:endParaRPr lang="en-US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Annuler toutes les migrations et exécuter la commande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migrate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migrate:refresh</a:t>
            </a:r>
            <a:endParaRPr lang="en-US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Supprimer toutes les tables de la base de données et exécuter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migrate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migrate:fresh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//Pas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coder la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down()</a:t>
            </a:r>
          </a:p>
          <a:p>
            <a:pPr marL="457200" lvl="1" indent="0">
              <a:buNone/>
            </a:pPr>
            <a:endParaRPr lang="en-US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IV-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Creation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model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procède à la création du modèle à l’aide de la commande:</a:t>
            </a:r>
          </a:p>
          <a:p>
            <a:pPr marL="0" indent="0" algn="just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make:model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NomModel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peut paramétrer le modèle sachant que: (voir cours des modèles)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table est généré automatiquement à partir de la commande de migration, mais il est possible de le changer à l’aide de la propriété $table.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Spécifier la propriété $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fillable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pour identifier les colonnes concernées par la modification.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Désactiver timestamps.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Changer le nom de la clé primaire.</a:t>
            </a:r>
          </a:p>
          <a:p>
            <a:pPr lvl="1"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Désactiver l’incrémentation.</a:t>
            </a:r>
          </a:p>
          <a:p>
            <a:pPr lvl="1"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93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 Création de la clé étrangère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Soit la table « groupes » avec le fichier de migration: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('groupes',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$table-&gt;id();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filiere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('niveau');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//$table-&gt;timestamps();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lvl="1" algn="just"/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1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 Création de la clé étrangère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Supposons que  la table « 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» contient une clé étrangère qui fait référence à la table « groupes » 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bigIncrements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('code');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$table-&gt;string('nom');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unsignedBigInteger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id_grp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’); //le type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unsignedBigInteger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pour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id_grp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(‘id')-&gt;on('groupes');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//$table-&gt;timestamps();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85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 Création de la clé étrangère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Deuxième façon 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bigIncrements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('code');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$table-&gt;string('nom');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foreignId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groupes_id_grp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constrained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//Ajoute une colonne 	//qui sera une clé étrangère qui fait référence à l’identifiant de la table groupes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//$table-&gt;timestamps();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6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 Création de la clé étrangère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Dans le cas où la table parent « groupes » possède une clé primaire personnalisée: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('groupes',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bigIncrements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(‘code’);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filiere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('niveau');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//$table-&gt;timestamps();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lvl="1" algn="just"/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80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V- Création de la clé étrangère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Dans ce cas la clé étrangère devient 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up()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$table)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bigIncrements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('code');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$table-&gt;string('nom');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$table-&gt;string('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unsignedBigInteger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code_grp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’); //le type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unsignedBigInteger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pour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$table-&gt;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code_grp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')-&gt;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(‘code')-&gt;on('groupes');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//$table-&gt;timestamps();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39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inclut la possibilité de peupler la base de données de manière beaucoup plus “propre” mais surtout beaucoup plus rapide et réutilisable grâce aux Seeders et aux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Il est possible de n’utiliser que les Seeders pour peupler notre base de données de manière très basique.</a:t>
            </a:r>
          </a:p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Pour créer un nouveau seeder pour notre table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lancez la commande 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ElevesTableSeeder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248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 nouveau fichier se trouvera dans le dossier 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seeds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Pour que notre seeder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StagiairesTableSeeder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s’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nous devons utiliser la méthode call dans la méthode run() de notre Classe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Illuminate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\Seeder;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Seeder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$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-&gt;call([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StagiairesTableSeeder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::class,  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]);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96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NB: Toutes les classes Seeders à appeler peuvent être ajoutées au tableau en paramètre de la méthode call. L’ordre d’apparition des classes seeders dans ce tableau est important puisque la classe qui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apprait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en premier sera appelée en premier et ainsi de suite.</a:t>
            </a:r>
          </a:p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Dans le cas d’une relation (clé étrangère), il faut commencer par la classe Seeder de la table parent avec les tables enfants. </a:t>
            </a:r>
          </a:p>
          <a:p>
            <a:pPr marL="0" indent="0" algn="just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02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Supposons que nous avons créé un seeder pour la table groupe qui est la table parent de la table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avec la fonction run suivante: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Groupe::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filiere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=&gt; 'DEV',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'niveau' =&gt; 1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]);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Groupe::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filiere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=&gt; 'DEVOWFS',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'niveau' =&gt; 2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]);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977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Nous pouvons créer le seeder pour la table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mais qui doit prendre la clé étrangère qui fait référence à la table groupes: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Eleve::create([</a:t>
            </a:r>
          </a:p>
          <a:p>
            <a:pPr marL="0" indent="0" algn="just">
              <a:buNone/>
            </a:pP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'nom' =&gt; 'ALAMI',</a:t>
            </a:r>
          </a:p>
          <a:p>
            <a:pPr marL="0" indent="0" algn="just">
              <a:buNone/>
            </a:pP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'prenom' =&gt; 'Said',</a:t>
            </a:r>
          </a:p>
          <a:p>
            <a:pPr marL="0" indent="0" algn="just">
              <a:buNone/>
            </a:pP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'tel' =&gt; '067979458',</a:t>
            </a:r>
          </a:p>
          <a:p>
            <a:pPr marL="0" indent="0" algn="just">
              <a:buNone/>
            </a:pP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'code_grp' =&gt; 1 //clé étrangère qui fait référence à la table groupes</a:t>
            </a:r>
          </a:p>
          <a:p>
            <a:pPr marL="0" indent="0" algn="just">
              <a:buNone/>
            </a:pPr>
            <a:r>
              <a:rPr lang="pt-B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]);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Dans ce cas l’appel au niveau de la  classe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sera: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Illuminate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\Seeder;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Seeder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public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run()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$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-&gt;call([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GroupesTableSeeder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::class,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ElevesTableSeeder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::class,  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]);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9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VI- Les seeders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Après avoir créé les seeders, nous allons maintenant peupler notre base de données, mais avant il faut repartir d’une base vide en lançant la commande: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migrate:fresh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Maintenant on lance la commande suivante: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db:seed</a:t>
            </a:r>
            <a:endParaRPr lang="fr-FR" sz="2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Assurez-vous ensuite que les enregistrements ont été ajouté aux tables groupes et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178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VII- Les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factories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ont pour objectif de nous permettre de créer des enregistrements en quantité et d’établir facilement diverses relations entre nos tables, nous commençons par créer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ElevesFactories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make:factory</a:t>
            </a:r>
            <a:r>
              <a:rPr lang="fr-FR" sz="2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EleveFactory</a:t>
            </a:r>
            <a:endParaRPr lang="fr-FR" sz="2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EleveFactory.php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va se situer dans le répertoire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2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2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9D93C-66A4-C34C-F0D8-5C00E92C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VII- Les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factories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endParaRPr lang="fr-M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000A2-BD83-D4B6-61EE-49D88BAD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3517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méthode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 sera utilisée pour définir la nature des données à créer :</a:t>
            </a:r>
          </a:p>
          <a:p>
            <a:pPr marL="0" indent="0" algn="just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$groupes = Groupe::all();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[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'nom' =&gt; $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faker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//générer un nom de famille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=&gt; $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faker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//générer un prénom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'tel' =&gt; $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faker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phoneNumber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//générer un numéro de téléphone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'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code_grp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=&gt; $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faker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randomElement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($groupes)-&gt;code //choisir un code aléatoire à partir des codes de la table groupes.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];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3388279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9D93C-66A4-C34C-F0D8-5C00E92C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VII- Les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factories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endParaRPr lang="fr-M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000A2-BD83-D4B6-61EE-49D88BAD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3517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Pour exécuter la génération des enregistrements pour la table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nous devons modifier le fichier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ElevesTableSeeder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(La méthode run()) :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function run()</a:t>
            </a:r>
          </a:p>
          <a:p>
            <a:pPr marL="0" indent="0" algn="just">
              <a:buNone/>
            </a:pP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0" indent="0" algn="just">
              <a:buNone/>
            </a:pP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::factory()-&gt;count(3)-&gt;create();</a:t>
            </a:r>
          </a:p>
          <a:p>
            <a:pPr marL="0" indent="0" algn="just">
              <a:buNone/>
            </a:pP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Ajouter l'instruction suivante dans le modèle correspondant:</a:t>
            </a:r>
          </a:p>
          <a:p>
            <a:pPr marL="0" indent="0" algn="just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i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HasFactory;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Puis on lance une autre fois la commande :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migrate:fresh</a:t>
            </a:r>
            <a:endParaRPr lang="fr-FR" sz="2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 la commande :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db:seed</a:t>
            </a:r>
            <a:endParaRPr lang="fr-MA" dirty="0"/>
          </a:p>
          <a:p>
            <a:pPr marL="0" indent="0" algn="just">
              <a:buNone/>
            </a:pP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840720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9D93C-66A4-C34C-F0D8-5C00E92C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VIII- Les contrôleurs de ressources	</a:t>
            </a:r>
            <a:endParaRPr lang="fr-M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000A2-BD83-D4B6-61EE-49D88BAD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3517" cy="480120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Pour résumer les opérations CRUD habituelles, </a:t>
            </a:r>
            <a:r>
              <a:rPr lang="fr-F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propose l’utilisation d’un contrôleur spécial appelé contrôleur de ressources, pour le créer on utilise la commande suivante: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artisan 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EleveController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–r 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Qui peut être appelé à l’aide d’une seule route:</a:t>
            </a:r>
          </a:p>
          <a:p>
            <a:pPr marL="0" indent="0" algn="just">
              <a:buNone/>
            </a:pPr>
            <a:r>
              <a:rPr lang="fr-MA" dirty="0"/>
              <a:t>   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Route::resource(‘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EleveController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::class);</a:t>
            </a:r>
          </a:p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peut aussi appeler plusieurs contrôleurs de ressources de cette manière: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Route::resources([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‘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eleves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’=&gt;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EleveController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::class,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‘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groupes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’=&gt;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GroupeController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::class</a:t>
            </a:r>
          </a:p>
          <a:p>
            <a:pPr marL="0" indent="0" algn="just"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]);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712276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CDDCE5-D54B-90DA-80AD-E40FCC8C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VIII- Les contrôleurs de ressources</a:t>
            </a:r>
            <a:endParaRPr lang="fr-M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5DA59E-6872-FAC9-619B-8989B23DE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contrôleur créé contiendra les méthodes suivantes: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index()</a:t>
            </a:r>
          </a:p>
          <a:p>
            <a:pPr marL="0" indent="0" algn="just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store(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show($id)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($id)</a:t>
            </a:r>
          </a:p>
          <a:p>
            <a:pPr marL="0" indent="0" algn="just">
              <a:buNone/>
            </a:pP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update(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  <a:r>
              <a:rPr lang="fr-FR" i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,$id)</a:t>
            </a:r>
          </a:p>
          <a:p>
            <a:pPr marL="0" indent="0" algn="just">
              <a:buNone/>
            </a:pPr>
            <a:r>
              <a:rPr lang="fr-FR" sz="28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destroy($id)</a:t>
            </a:r>
            <a:r>
              <a:rPr lang="fr-FR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4123683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A3651-DF26-8BF5-6BB9-D327341D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VIII- Les contrôleurs de ressources</a:t>
            </a:r>
            <a:endParaRPr lang="fr-MA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2342445-4390-5AB6-5B46-3DCDDC11D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481603"/>
              </p:ext>
            </p:extLst>
          </p:nvPr>
        </p:nvGraphicFramePr>
        <p:xfrm>
          <a:off x="996593" y="2217046"/>
          <a:ext cx="9041260" cy="460991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60315">
                  <a:extLst>
                    <a:ext uri="{9D8B030D-6E8A-4147-A177-3AD203B41FA5}">
                      <a16:colId xmlns:a16="http://schemas.microsoft.com/office/drawing/2014/main" val="3715527453"/>
                    </a:ext>
                  </a:extLst>
                </a:gridCol>
                <a:gridCol w="2260315">
                  <a:extLst>
                    <a:ext uri="{9D8B030D-6E8A-4147-A177-3AD203B41FA5}">
                      <a16:colId xmlns:a16="http://schemas.microsoft.com/office/drawing/2014/main" val="4055262602"/>
                    </a:ext>
                  </a:extLst>
                </a:gridCol>
                <a:gridCol w="2260315">
                  <a:extLst>
                    <a:ext uri="{9D8B030D-6E8A-4147-A177-3AD203B41FA5}">
                      <a16:colId xmlns:a16="http://schemas.microsoft.com/office/drawing/2014/main" val="2962326972"/>
                    </a:ext>
                  </a:extLst>
                </a:gridCol>
                <a:gridCol w="2260315">
                  <a:extLst>
                    <a:ext uri="{9D8B030D-6E8A-4147-A177-3AD203B41FA5}">
                      <a16:colId xmlns:a16="http://schemas.microsoft.com/office/drawing/2014/main" val="187949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fr-FR" sz="2000" b="1" dirty="0">
                          <a:effectLst/>
                        </a:rPr>
                        <a:t>M</a:t>
                      </a:r>
                      <a:r>
                        <a:rPr lang="fr-MA" sz="2000" b="1" dirty="0" err="1">
                          <a:effectLst/>
                        </a:rPr>
                        <a:t>éthode</a:t>
                      </a:r>
                      <a:r>
                        <a:rPr lang="fr-MA" sz="2000" b="1" dirty="0">
                          <a:effectLst/>
                        </a:rPr>
                        <a:t> HTTP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b="1" dirty="0">
                          <a:effectLst/>
                        </a:rPr>
                        <a:t>URL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b="1" dirty="0">
                          <a:effectLst/>
                        </a:rPr>
                        <a:t>Action (méthode)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b="1" dirty="0">
                          <a:effectLst/>
                        </a:rPr>
                        <a:t>Nom de la route</a:t>
                      </a: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507255745"/>
                  </a:ext>
                </a:extLst>
              </a:tr>
              <a:tr h="517646"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GET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index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eleves.index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107855429"/>
                  </a:ext>
                </a:extLst>
              </a:tr>
              <a:tr h="517646"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GET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create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create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eleves.create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3150174279"/>
                  </a:ext>
                </a:extLst>
              </a:tr>
              <a:tr h="891763"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POST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store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eleves.store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1774172060"/>
                  </a:ext>
                </a:extLst>
              </a:tr>
              <a:tr h="517646"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GET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r>
                        <a:rPr lang="fr-MA" sz="2000" dirty="0">
                          <a:effectLst/>
                        </a:rPr>
                        <a:t>/{</a:t>
                      </a:r>
                      <a:r>
                        <a:rPr lang="fr-MA" sz="2000" dirty="0" err="1">
                          <a:effectLst/>
                        </a:rPr>
                        <a:t>eleve</a:t>
                      </a:r>
                      <a:r>
                        <a:rPr lang="fr-MA" sz="2000" dirty="0">
                          <a:effectLst/>
                        </a:rPr>
                        <a:t>}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show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eleves.show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3936803932"/>
                  </a:ext>
                </a:extLst>
              </a:tr>
              <a:tr h="727818"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GET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r>
                        <a:rPr lang="fr-MA" sz="2000" dirty="0">
                          <a:effectLst/>
                        </a:rPr>
                        <a:t>/{</a:t>
                      </a:r>
                      <a:r>
                        <a:rPr lang="fr-MA" sz="2000" dirty="0" err="1">
                          <a:effectLst/>
                        </a:rPr>
                        <a:t>eleve</a:t>
                      </a:r>
                      <a:r>
                        <a:rPr lang="fr-MA" sz="2000" dirty="0">
                          <a:effectLst/>
                        </a:rPr>
                        <a:t>}/</a:t>
                      </a:r>
                      <a:r>
                        <a:rPr lang="fr-MA" sz="2000" dirty="0" err="1">
                          <a:effectLst/>
                        </a:rPr>
                        <a:t>edit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edit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eleves.edit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1672486269"/>
                  </a:ext>
                </a:extLst>
              </a:tr>
              <a:tr h="517646"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PUT/PATCH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r>
                        <a:rPr lang="fr-MA" sz="2000" dirty="0">
                          <a:effectLst/>
                        </a:rPr>
                        <a:t>/{</a:t>
                      </a:r>
                      <a:r>
                        <a:rPr lang="fr-MA" sz="2000" dirty="0" err="1">
                          <a:effectLst/>
                        </a:rPr>
                        <a:t>eleve</a:t>
                      </a:r>
                      <a:r>
                        <a:rPr lang="fr-MA" sz="2000" dirty="0">
                          <a:effectLst/>
                        </a:rPr>
                        <a:t>}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update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eleves.update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916905765"/>
                  </a:ext>
                </a:extLst>
              </a:tr>
              <a:tr h="517646"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DELETE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>
                          <a:effectLst/>
                        </a:rPr>
                        <a:t>/</a:t>
                      </a:r>
                      <a:r>
                        <a:rPr lang="fr-MA" sz="2000" dirty="0" err="1">
                          <a:effectLst/>
                        </a:rPr>
                        <a:t>eleves</a:t>
                      </a:r>
                      <a:r>
                        <a:rPr lang="fr-MA" sz="2000" dirty="0">
                          <a:effectLst/>
                        </a:rPr>
                        <a:t>/{</a:t>
                      </a:r>
                      <a:r>
                        <a:rPr lang="fr-MA" sz="2000" dirty="0" err="1">
                          <a:effectLst/>
                        </a:rPr>
                        <a:t>eleve</a:t>
                      </a:r>
                      <a:r>
                        <a:rPr lang="fr-MA" sz="2000" dirty="0">
                          <a:effectLst/>
                        </a:rPr>
                        <a:t>}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>
                          <a:effectLst/>
                        </a:rPr>
                        <a:t>destroy</a:t>
                      </a:r>
                    </a:p>
                  </a:txBody>
                  <a:tcPr marL="48651" marR="48651" marT="48651" marB="486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MA" sz="2000" dirty="0" err="1">
                          <a:effectLst/>
                        </a:rPr>
                        <a:t>eleves.destroy</a:t>
                      </a:r>
                      <a:endParaRPr lang="fr-MA" sz="2000" dirty="0">
                        <a:effectLst/>
                      </a:endParaRPr>
                    </a:p>
                  </a:txBody>
                  <a:tcPr marL="48651" marR="48651" marT="48651" marB="48651" anchor="ctr"/>
                </a:tc>
                <a:extLst>
                  <a:ext uri="{0D108BD9-81ED-4DB2-BD59-A6C34878D82A}">
                    <a16:rowId xmlns:a16="http://schemas.microsoft.com/office/drawing/2014/main" val="1743243231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A0D85B06-F4FC-A780-B10E-6312604CA427}"/>
              </a:ext>
            </a:extLst>
          </p:cNvPr>
          <p:cNvSpPr txBox="1"/>
          <p:nvPr/>
        </p:nvSpPr>
        <p:spPr>
          <a:xfrm>
            <a:off x="1232898" y="1592493"/>
            <a:ext cx="8455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Liste des routes générées par le contrôleur des ressources:</a:t>
            </a:r>
            <a:endParaRPr lang="fr-MA" sz="2800" dirty="0"/>
          </a:p>
        </p:txBody>
      </p:sp>
    </p:spTree>
    <p:extLst>
      <p:ext uri="{BB962C8B-B14F-4D97-AF65-F5344CB8AC3E}">
        <p14:creationId xmlns:p14="http://schemas.microsoft.com/office/powerpoint/2010/main" val="5828480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47510</TotalTime>
  <Words>2138</Words>
  <Application>Microsoft Office PowerPoint</Application>
  <PresentationFormat>Grand écran</PresentationFormat>
  <Paragraphs>289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Thème Office</vt:lpstr>
      <vt:lpstr>CH6-Les migrations</vt:lpstr>
      <vt:lpstr>I- Introduction</vt:lpstr>
      <vt:lpstr>II- Configuration initiale</vt:lpstr>
      <vt:lpstr>III- Gestion des migrations </vt:lpstr>
      <vt:lpstr>III- Gestion des migrations </vt:lpstr>
      <vt:lpstr>III- Gestion des migrations  </vt:lpstr>
      <vt:lpstr>III- Gestion des migrations  </vt:lpstr>
      <vt:lpstr>III- Gestion des migrations  </vt:lpstr>
      <vt:lpstr>III- Gestion des migrations  </vt:lpstr>
      <vt:lpstr>IV- Creation de model </vt:lpstr>
      <vt:lpstr>V- Création de la clé étrangère </vt:lpstr>
      <vt:lpstr>V- Création de la clé étrangère </vt:lpstr>
      <vt:lpstr>V- Création de la clé étrangère </vt:lpstr>
      <vt:lpstr>V- Création de la clé étrangère </vt:lpstr>
      <vt:lpstr>V- Création de la clé étrangère </vt:lpstr>
      <vt:lpstr>VI- Les seeders </vt:lpstr>
      <vt:lpstr>VI- Les seeders </vt:lpstr>
      <vt:lpstr>VI- Les seeders </vt:lpstr>
      <vt:lpstr>VI- Les seeders </vt:lpstr>
      <vt:lpstr>VI- Les seeders </vt:lpstr>
      <vt:lpstr>VI- Les seeders </vt:lpstr>
      <vt:lpstr>VI- Les seeders </vt:lpstr>
      <vt:lpstr>VII- Les factories </vt:lpstr>
      <vt:lpstr>VII- Les factories </vt:lpstr>
      <vt:lpstr>VII- Les factories </vt:lpstr>
      <vt:lpstr>VIII- Les contrôleurs de ressources </vt:lpstr>
      <vt:lpstr>VIII- Les contrôleurs de ressources</vt:lpstr>
      <vt:lpstr>VIII- Les contrôleurs de ressources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CH1-Framework Back-end</dc:title>
  <dc:creator>NAJ LAM</dc:creator>
  <cp:lastModifiedBy>NAJ LAM</cp:lastModifiedBy>
  <cp:revision>172</cp:revision>
  <dcterms:created xsi:type="dcterms:W3CDTF">2023-02-19T17:43:52Z</dcterms:created>
  <dcterms:modified xsi:type="dcterms:W3CDTF">2026-03-06T14:08:43Z</dcterms:modified>
</cp:coreProperties>
</file>