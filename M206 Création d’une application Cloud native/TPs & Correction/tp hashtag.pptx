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59" r:id="rId7"/>
    <p:sldId id="26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249" autoAdjust="0"/>
  </p:normalViewPr>
  <p:slideViewPr>
    <p:cSldViewPr snapToGrid="0">
      <p:cViewPr varScale="1">
        <p:scale>
          <a:sx n="64" d="100"/>
          <a:sy n="64" d="100"/>
        </p:scale>
        <p:origin x="90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9C299C-3C52-4153-82AC-93D816001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1D019AB-C632-42D5-B344-C9F50B3F4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BC878B-4022-4EB9-A0FF-B56479950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8264-E6E7-4024-95A5-1540FD1B402E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6DD3EB-B8A3-4DDD-A049-3035A8F80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9C53DD-5901-4DF7-87A0-EC7A8B8DD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7CDAD-F7B6-444E-B9A9-86EBBBE73E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2471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7659A7-EFB3-43D0-90A4-A6631D215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B19232-A5FF-4F09-A01F-AF60999F7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356B3C-33F1-4FCA-9559-2F799C9A2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8264-E6E7-4024-95A5-1540FD1B402E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7DE348-7F48-47CF-B9F5-759AA586D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9E17E3-AB0F-4929-B5DA-A5ECB11F9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7CDAD-F7B6-444E-B9A9-86EBBBE73E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18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1024CE-C183-4A28-BFB5-2D44DCEEF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6E93697-50ED-43B4-8A9F-3C0DD9F57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8A102B-664C-4100-80E5-E8B9E859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8264-E6E7-4024-95A5-1540FD1B402E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482CB2-1F4D-4968-9C89-55A8D5868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4DBE55-2771-4991-978F-6E23045C5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7CDAD-F7B6-444E-B9A9-86EBBBE73E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019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B698DA-DF1C-4348-8AFD-F3EB90B8E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2AB3CA-9426-48C9-884A-15DAED8E8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5D3F3F9-8FE6-4C3B-B01B-F7B1587F3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93DE3B-8300-409A-A927-735F0A720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8264-E6E7-4024-95A5-1540FD1B402E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6CBDCE-AD71-46EF-A181-35D149A85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C769256-78EC-4641-9637-A76ECCB8F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7CDAD-F7B6-444E-B9A9-86EBBBE73E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7189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005E3B-3893-4FB7-A89F-625D6B218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45F92F-DB12-490E-BDD2-0BD53BDB2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CDDEB72-9335-4561-9CC8-53043BF8C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D6D2F60-AC40-4723-B70A-FC0C5D65BD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5D149DF-B7C4-4078-98C2-885C5288E2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6D3C683-A26F-4B44-8C3F-373DB2868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8264-E6E7-4024-95A5-1540FD1B402E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DC58262-A736-408C-AF1D-77C7CD240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3E1E959-2370-47F5-A911-B0E3D93B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7CDAD-F7B6-444E-B9A9-86EBBBE73E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823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DEBA74-A0B3-4A5A-9BCB-97DF6AD33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7C42015-D1E6-4832-BBE9-326B6F12A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8264-E6E7-4024-95A5-1540FD1B402E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899DDC7-8C8E-44A1-864B-F83923A9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1D0040B-4EAD-49E9-B465-C23EE0E14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7CDAD-F7B6-444E-B9A9-86EBBBE73E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5264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D9A3A4C-4CE2-4983-B0CC-4917C362C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8264-E6E7-4024-95A5-1540FD1B402E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053A885-C73B-4FA2-8557-509CFAB46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51DD6A-653B-4C35-AC3F-7B59B0926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7CDAD-F7B6-444E-B9A9-86EBBBE73E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1117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A9273-BD1E-48C8-8AD2-A4FFBD0B7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97C078-4710-4E7F-908B-36A3B7985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FE1163F-648D-42B2-92BC-FFDC4FB3A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23C81C-CEB7-4626-9540-6D0BF881E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8264-E6E7-4024-95A5-1540FD1B402E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022B9C8-E767-4F18-9476-B4827ED18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D482A6-664F-4E79-99AB-EF58B9359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7CDAD-F7B6-444E-B9A9-86EBBBE73E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2307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8CB264-A3AB-41CA-BF13-6033ABA5F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FBE1EC7-CFAF-4EE9-B5E5-83BBD53A08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9D59C9A-5F4B-409E-9B11-3A1E4DBEC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732FD7-7C0E-469F-BA23-D4AD074B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8264-E6E7-4024-95A5-1540FD1B402E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C1FEEFF-AEC6-4C1F-BC27-8C239D3A2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EDF714-50A4-467D-9922-C1AAED131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7CDAD-F7B6-444E-B9A9-86EBBBE73E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5568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690454-4EF3-4FFE-A7BF-D22B32DEA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38BB002-8AEB-4554-B122-57D129E82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216589-E627-418A-A705-78BECF2E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8264-E6E7-4024-95A5-1540FD1B402E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4E73D2-6DC9-4B62-A61A-090DA556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1D3E7C-923F-4E7B-A43E-0374AC908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7CDAD-F7B6-444E-B9A9-86EBBBE73E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423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8663280-344C-4463-890A-6C0C2B3511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1127BE2-1772-4655-8636-D77D9AEEA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D7EABA-15C5-4716-986F-7C4D8BBCF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A8264-E6E7-4024-95A5-1540FD1B402E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832D4A-A73B-4705-BFDD-EEE3D04D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B0C918-3113-4732-A942-4DEAC9FA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7CDAD-F7B6-444E-B9A9-86EBBBE73E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925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1199146-B2E7-48A3-8F76-EB391B3B2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B1B6D7-1BDA-4500-BA68-985EC9CAC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0E3067-A5C4-4A4D-B66F-EBE1C7BCC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A8264-E6E7-4024-95A5-1540FD1B402E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95D6B1-14C1-422A-89E5-8AFA902137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1D446A-0614-43C9-B534-5C437CA4C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7CDAD-F7B6-444E-B9A9-86EBBBE73E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9175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FDACA7-ED70-4BB3-910B-EB255AA4DF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Création d’une Application Cloud Native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69E5E8F-5614-41B7-A7A7-76101B273D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4000" dirty="0"/>
              <a:t>TP à rendre</a:t>
            </a:r>
          </a:p>
        </p:txBody>
      </p:sp>
    </p:spTree>
    <p:extLst>
      <p:ext uri="{BB962C8B-B14F-4D97-AF65-F5344CB8AC3E}">
        <p14:creationId xmlns:p14="http://schemas.microsoft.com/office/powerpoint/2010/main" val="3519341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380BD70B-8A60-40C6-BE6A-257DBFFCB6EC}"/>
              </a:ext>
            </a:extLst>
          </p:cNvPr>
          <p:cNvSpPr txBox="1"/>
          <p:nvPr/>
        </p:nvSpPr>
        <p:spPr>
          <a:xfrm>
            <a:off x="-1" y="0"/>
            <a:ext cx="12407705" cy="6838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 service « Utilisateur »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 souhaite profiter du service PAAS du cloud pour créer une application </a:t>
            </a:r>
            <a:r>
              <a:rPr lang="fr-FR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microservice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pour un système de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gestion des tweets et des hashtags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 système offrira les fonctionnalités suivantes 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Gestion des utilisateurs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Gestion des tweets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Gestion des hashtags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 peut distinguer 3 services métiers : service-utilisateur, service- tweet et service- hashtag.</a:t>
            </a:r>
          </a:p>
          <a:p>
            <a:pPr indent="228600">
              <a:lnSpc>
                <a:spcPct val="107000"/>
              </a:lnSpc>
              <a:spcAft>
                <a:spcPts val="800"/>
              </a:spcAf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 service « 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utilisateur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» 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Dispose d’une base de données « </a:t>
            </a:r>
            <a:r>
              <a:rPr lang="fr-FR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Auth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-DB »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Utilise le port 3000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 mot de passe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 crypté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et un </a:t>
            </a:r>
            <a:r>
              <a:rPr lang="fr-FR" sz="2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token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24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jwt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est généré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après la connexion de l’utilisateur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Deux utilisateurs ne peuvent pas avoir le même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 utilisateur est caractérisé par son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id, son nom, son mot de passe et sa liste de followers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747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DADAB2-6835-459F-A0C1-6AF238B11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23" y="-50512"/>
            <a:ext cx="10515600" cy="639216"/>
          </a:xfrm>
        </p:spPr>
        <p:txBody>
          <a:bodyPr>
            <a:noAutofit/>
          </a:bodyPr>
          <a:lstStyle/>
          <a:p>
            <a:r>
              <a:rPr lang="fr-FR" sz="32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 service « Utilisateur »</a:t>
            </a:r>
            <a:endParaRPr lang="fr-FR" sz="3200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77FCF041-3390-4E32-8250-FE3B413A2A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1908014"/>
              </p:ext>
            </p:extLst>
          </p:nvPr>
        </p:nvGraphicFramePr>
        <p:xfrm>
          <a:off x="209862" y="599602"/>
          <a:ext cx="11589415" cy="62189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24884">
                  <a:extLst>
                    <a:ext uri="{9D8B030D-6E8A-4147-A177-3AD203B41FA5}">
                      <a16:colId xmlns:a16="http://schemas.microsoft.com/office/drawing/2014/main" val="1608905392"/>
                    </a:ext>
                  </a:extLst>
                </a:gridCol>
                <a:gridCol w="4724638">
                  <a:extLst>
                    <a:ext uri="{9D8B030D-6E8A-4147-A177-3AD203B41FA5}">
                      <a16:colId xmlns:a16="http://schemas.microsoft.com/office/drawing/2014/main" val="134643931"/>
                    </a:ext>
                  </a:extLst>
                </a:gridCol>
                <a:gridCol w="3239893">
                  <a:extLst>
                    <a:ext uri="{9D8B030D-6E8A-4147-A177-3AD203B41FA5}">
                      <a16:colId xmlns:a16="http://schemas.microsoft.com/office/drawing/2014/main" val="3353672814"/>
                    </a:ext>
                  </a:extLst>
                </a:gridCol>
              </a:tblGrid>
              <a:tr h="5465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dirty="0">
                          <a:effectLst/>
                        </a:rPr>
                        <a:t>Fonctionnalité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dirty="0">
                          <a:effectLst/>
                        </a:rPr>
                        <a:t>Méthode / Chemin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>
                          <a:effectLst/>
                        </a:rPr>
                        <a:t>Autorisation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0790163"/>
                  </a:ext>
                </a:extLst>
              </a:tr>
              <a:tr h="8457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kern="1200" dirty="0">
                          <a:effectLst/>
                        </a:rPr>
                        <a:t>Créer un compte</a:t>
                      </a:r>
                      <a:endParaRPr lang="fr-F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kern="1200">
                          <a:effectLst/>
                        </a:rPr>
                        <a:t>Post  /api/user/register</a:t>
                      </a:r>
                      <a:endParaRPr lang="fr-F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kern="1200">
                          <a:effectLst/>
                        </a:rPr>
                        <a:t>Tout le monde</a:t>
                      </a:r>
                      <a:endParaRPr lang="fr-F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1516577"/>
                  </a:ext>
                </a:extLst>
              </a:tr>
              <a:tr h="6454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kern="1200" dirty="0">
                          <a:effectLst/>
                        </a:rPr>
                        <a:t>Se connecter</a:t>
                      </a:r>
                      <a:endParaRPr lang="fr-F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kern="1200" dirty="0">
                          <a:effectLst/>
                        </a:rPr>
                        <a:t>POST /api/user/login</a:t>
                      </a:r>
                      <a:endParaRPr lang="fr-F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kern="1200">
                          <a:effectLst/>
                        </a:rPr>
                        <a:t>Tout le monde</a:t>
                      </a:r>
                      <a:endParaRPr lang="fr-FR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3398056"/>
                  </a:ext>
                </a:extLst>
              </a:tr>
              <a:tr h="1122702">
                <a:tc>
                  <a:txBody>
                    <a:bodyPr/>
                    <a:lstStyle/>
                    <a:p>
                      <a:pPr marL="1714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kern="1200" dirty="0">
                          <a:effectLst/>
                        </a:rPr>
                        <a:t>Suivre un autre utilisateur (ajout d’un follow)+ </a:t>
                      </a:r>
                      <a:r>
                        <a:rPr lang="fr-FR" sz="2400" kern="1200" dirty="0">
                          <a:solidFill>
                            <a:srgbClr val="FFC000"/>
                          </a:solidFill>
                          <a:effectLst/>
                        </a:rPr>
                        <a:t>Envoyer notifications</a:t>
                      </a:r>
                      <a:endParaRPr lang="fr-FR" sz="2000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kern="1200" dirty="0">
                          <a:effectLst/>
                        </a:rPr>
                        <a:t>Post /api/user/follow</a:t>
                      </a:r>
                      <a:endParaRPr lang="fr-F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kern="1200" dirty="0">
                          <a:effectLst/>
                        </a:rPr>
                        <a:t>Toute personne authentifiée</a:t>
                      </a:r>
                      <a:endParaRPr lang="fr-FR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451317"/>
                  </a:ext>
                </a:extLst>
              </a:tr>
              <a:tr h="1087913">
                <a:tc>
                  <a:txBody>
                    <a:bodyPr/>
                    <a:lstStyle/>
                    <a:p>
                      <a:pPr marL="1714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1" kern="1200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Recevoir messages lors de l’ajout d’un tweet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b="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Get  /</a:t>
                      </a:r>
                      <a:r>
                        <a:rPr lang="en-US" sz="2400" b="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api</a:t>
                      </a:r>
                      <a:r>
                        <a:rPr lang="en-US" sz="2400" b="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/user/</a:t>
                      </a:r>
                      <a:r>
                        <a:rPr lang="en-US" sz="2400" b="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messages_tweet</a:t>
                      </a:r>
                      <a:endParaRPr lang="fr-FR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b="1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Toute personne authentifiée</a:t>
                      </a:r>
                      <a:endParaRPr lang="fr-F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8446014"/>
                  </a:ext>
                </a:extLst>
              </a:tr>
              <a:tr h="814397">
                <a:tc>
                  <a:txBody>
                    <a:bodyPr/>
                    <a:lstStyle/>
                    <a:p>
                      <a:pPr marL="1714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1" kern="1200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Recevoir messages lors de l’ajout d’un follower</a:t>
                      </a:r>
                      <a:endParaRPr lang="fr-FR" sz="2000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Get  /</a:t>
                      </a:r>
                      <a:r>
                        <a:rPr lang="en-US" sz="24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api</a:t>
                      </a: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/user/</a:t>
                      </a:r>
                      <a:r>
                        <a:rPr lang="en-US" sz="24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messages_followers</a:t>
                      </a:r>
                      <a:endParaRPr lang="fr-F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Toute personne authentifiée</a:t>
                      </a:r>
                      <a:endParaRPr lang="fr-F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8278230"/>
                  </a:ext>
                </a:extLst>
              </a:tr>
              <a:tr h="1122316">
                <a:tc>
                  <a:txBody>
                    <a:bodyPr/>
                    <a:lstStyle/>
                    <a:p>
                      <a:pPr marL="17145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Afficher les followers d’un utilisateur donné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Get  /</a:t>
                      </a:r>
                      <a:r>
                        <a:rPr lang="en-US" sz="20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api</a:t>
                      </a:r>
                      <a:r>
                        <a:rPr lang="en-US" sz="20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/user/</a:t>
                      </a:r>
                      <a:r>
                        <a:rPr lang="en-US" sz="2000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id_user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Chaque utilisateur peut visualiser seulement ses propres followers.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5303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0172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0B7073B5-4AAF-445E-A30A-76E3108785B1}"/>
              </a:ext>
            </a:extLst>
          </p:cNvPr>
          <p:cNvSpPr txBox="1"/>
          <p:nvPr/>
        </p:nvSpPr>
        <p:spPr>
          <a:xfrm>
            <a:off x="0" y="314790"/>
            <a:ext cx="12548382" cy="5671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3200" b="1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Le service « hashtag » 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fr-F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Permet de gérer les hashtags des tweets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fr-F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Utilise le port 4000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fr-F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 ne peut pas ajouter deux fois le même hashtag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fr-F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Dispose d’une base de données </a:t>
            </a:r>
            <a:r>
              <a:rPr lang="fr-FR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HashtagDB</a:t>
            </a:r>
            <a:r>
              <a:rPr lang="fr-F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fr-F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 hashtag est caractérisé par un </a:t>
            </a:r>
            <a:r>
              <a:rPr lang="fr-F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identifiant</a:t>
            </a:r>
            <a:r>
              <a:rPr lang="fr-FR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fr-F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hashtag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316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5B1643F4-64F0-4FC6-A9E7-491968CDA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68046"/>
              </p:ext>
            </p:extLst>
          </p:nvPr>
        </p:nvGraphicFramePr>
        <p:xfrm>
          <a:off x="335279" y="732395"/>
          <a:ext cx="11521441" cy="61594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71145">
                  <a:extLst>
                    <a:ext uri="{9D8B030D-6E8A-4147-A177-3AD203B41FA5}">
                      <a16:colId xmlns:a16="http://schemas.microsoft.com/office/drawing/2014/main" val="1608104690"/>
                    </a:ext>
                  </a:extLst>
                </a:gridCol>
                <a:gridCol w="3774628">
                  <a:extLst>
                    <a:ext uri="{9D8B030D-6E8A-4147-A177-3AD203B41FA5}">
                      <a16:colId xmlns:a16="http://schemas.microsoft.com/office/drawing/2014/main" val="1202422143"/>
                    </a:ext>
                  </a:extLst>
                </a:gridCol>
                <a:gridCol w="3575668">
                  <a:extLst>
                    <a:ext uri="{9D8B030D-6E8A-4147-A177-3AD203B41FA5}">
                      <a16:colId xmlns:a16="http://schemas.microsoft.com/office/drawing/2014/main" val="3984438487"/>
                    </a:ext>
                  </a:extLst>
                </a:gridCol>
              </a:tblGrid>
              <a:tr h="4578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dirty="0">
                          <a:effectLst/>
                        </a:rPr>
                        <a:t>Fonctionnalité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>
                          <a:effectLst/>
                        </a:rPr>
                        <a:t>Méthode / Chemin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>
                          <a:effectLst/>
                        </a:rPr>
                        <a:t>Autorisation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510699"/>
                  </a:ext>
                </a:extLst>
              </a:tr>
              <a:tr h="16652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kern="1200" dirty="0">
                          <a:effectLst/>
                        </a:rPr>
                        <a:t>Ajouter un nouvel hashtag </a:t>
                      </a:r>
                      <a:r>
                        <a:rPr lang="fr-FR" sz="2000" kern="1200" dirty="0">
                          <a:solidFill>
                            <a:srgbClr val="FFC000"/>
                          </a:solidFill>
                          <a:effectLst/>
                        </a:rPr>
                        <a:t>+ </a:t>
                      </a:r>
                      <a:r>
                        <a:rPr lang="fr-FR" sz="1800" b="1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 message est envoyé au système « utilisateur » : « Le hashtag {</a:t>
                      </a:r>
                      <a:r>
                        <a:rPr lang="fr-FR" sz="1800" b="1" kern="1200" dirty="0" err="1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hastag</a:t>
                      </a:r>
                      <a:r>
                        <a:rPr lang="fr-FR" sz="1800" b="1" kern="1200" dirty="0">
                          <a:solidFill>
                            <a:srgbClr val="FFC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 est disponible »</a:t>
                      </a:r>
                      <a:endParaRPr lang="fr-FR" sz="1800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200">
                          <a:effectLst/>
                        </a:rPr>
                        <a:t>POST /api/add_hashtag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kern="1200" dirty="0">
                          <a:effectLst/>
                        </a:rPr>
                        <a:t>Toute personne authentifiée</a:t>
                      </a:r>
                      <a:endParaRPr lang="fr-F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1564036"/>
                  </a:ext>
                </a:extLst>
              </a:tr>
              <a:tr h="13454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kern="1200" dirty="0">
                          <a:effectLst/>
                        </a:rPr>
                        <a:t>Afficher les informations d’un hashtag donné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kern="1200">
                          <a:effectLst/>
                        </a:rPr>
                        <a:t>GET /api/hashtags/{idHashtag}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kern="1200">
                          <a:effectLst/>
                        </a:rPr>
                        <a:t>Tout le monde</a:t>
                      </a:r>
                      <a:endParaRPr lang="fr-FR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4864023"/>
                  </a:ext>
                </a:extLst>
              </a:tr>
              <a:tr h="13454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kern="1200">
                          <a:effectLst/>
                        </a:rPr>
                        <a:t>Afficher l’hashtag tendance (Celui qui a le grand nombre de tweets)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kern="1200">
                          <a:effectLst/>
                        </a:rPr>
                        <a:t>Get /api/hashtag/tendance</a:t>
                      </a:r>
                      <a:endParaRPr lang="fr-FR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kern="1200" dirty="0">
                          <a:effectLst/>
                        </a:rPr>
                        <a:t>Tout le monde</a:t>
                      </a:r>
                      <a:endParaRPr lang="fr-FR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7840869"/>
                  </a:ext>
                </a:extLst>
              </a:tr>
              <a:tr h="13454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Afficher le nom d’utilisateur qui a le plus grand nombre de followers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Get</a:t>
                      </a:r>
                      <a:r>
                        <a:rPr lang="fr-FR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/api/</a:t>
                      </a:r>
                      <a:r>
                        <a:rPr lang="fr-FR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max_followers</a:t>
                      </a:r>
                      <a:endParaRPr lang="fr-FR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Tout le monde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6054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C1BE61C7-7A17-4665-A75C-82D717FDA59A}"/>
              </a:ext>
            </a:extLst>
          </p:cNvPr>
          <p:cNvSpPr txBox="1"/>
          <p:nvPr/>
        </p:nvSpPr>
        <p:spPr>
          <a:xfrm>
            <a:off x="603355" y="0"/>
            <a:ext cx="6093500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3200" b="1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Le service « hashtag » :</a:t>
            </a:r>
          </a:p>
        </p:txBody>
      </p:sp>
    </p:spTree>
    <p:extLst>
      <p:ext uri="{BB962C8B-B14F-4D97-AF65-F5344CB8AC3E}">
        <p14:creationId xmlns:p14="http://schemas.microsoft.com/office/powerpoint/2010/main" val="1127109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FA1D5A5-B6A9-48B5-90AD-D0C8FDECEE88}"/>
              </a:ext>
            </a:extLst>
          </p:cNvPr>
          <p:cNvSpPr txBox="1"/>
          <p:nvPr/>
        </p:nvSpPr>
        <p:spPr>
          <a:xfrm>
            <a:off x="182880" y="998805"/>
            <a:ext cx="11183816" cy="4979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3200" b="1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Le service « tweet » 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Dispose d’une base de données </a:t>
            </a:r>
            <a:r>
              <a:rPr lang="fr-FR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tweetBD</a:t>
            </a: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Utilise le port 5000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 ne peut pas ajouter un tweet pour un hashtag qui n’existe pas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endParaRPr lang="fr-F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  <a:tabLst>
                <a:tab pos="457200" algn="l"/>
              </a:tabLst>
            </a:pP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 tweet est caractérisé par son identifiant, le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 de l’utilisateur 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(récupéré lors de la connexion), la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date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(prend toujours la date système),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contenu</a:t>
            </a:r>
            <a:r>
              <a:rPr lang="fr-FR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fr-FR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hashtag</a:t>
            </a:r>
          </a:p>
        </p:txBody>
      </p:sp>
    </p:spTree>
    <p:extLst>
      <p:ext uri="{BB962C8B-B14F-4D97-AF65-F5344CB8AC3E}">
        <p14:creationId xmlns:p14="http://schemas.microsoft.com/office/powerpoint/2010/main" val="3678190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6C1A9DF3-AF62-4681-B78F-C79C946F7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505415"/>
              </p:ext>
            </p:extLst>
          </p:nvPr>
        </p:nvGraphicFramePr>
        <p:xfrm>
          <a:off x="178192" y="781784"/>
          <a:ext cx="11399519" cy="60385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18205">
                  <a:extLst>
                    <a:ext uri="{9D8B030D-6E8A-4147-A177-3AD203B41FA5}">
                      <a16:colId xmlns:a16="http://schemas.microsoft.com/office/drawing/2014/main" val="102738557"/>
                    </a:ext>
                  </a:extLst>
                </a:gridCol>
                <a:gridCol w="5259714">
                  <a:extLst>
                    <a:ext uri="{9D8B030D-6E8A-4147-A177-3AD203B41FA5}">
                      <a16:colId xmlns:a16="http://schemas.microsoft.com/office/drawing/2014/main" val="3961123268"/>
                    </a:ext>
                  </a:extLst>
                </a:gridCol>
                <a:gridCol w="2321600">
                  <a:extLst>
                    <a:ext uri="{9D8B030D-6E8A-4147-A177-3AD203B41FA5}">
                      <a16:colId xmlns:a16="http://schemas.microsoft.com/office/drawing/2014/main" val="1729923311"/>
                    </a:ext>
                  </a:extLst>
                </a:gridCol>
              </a:tblGrid>
              <a:tr h="52051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dirty="0">
                          <a:effectLst/>
                        </a:rPr>
                        <a:t>Fonctionnalité</a:t>
                      </a:r>
                      <a:endParaRPr lang="fr-F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dirty="0">
                          <a:effectLst/>
                        </a:rPr>
                        <a:t>Méthode / Chemin</a:t>
                      </a:r>
                      <a:endParaRPr lang="fr-F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>
                          <a:effectLst/>
                        </a:rPr>
                        <a:t>Autorisation</a:t>
                      </a:r>
                      <a:endParaRPr lang="fr-F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6151124"/>
                  </a:ext>
                </a:extLst>
              </a:tr>
              <a:tr h="9596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kern="1200" dirty="0">
                          <a:effectLst/>
                        </a:rPr>
                        <a:t>Retourner les informations d’un tweet donné</a:t>
                      </a:r>
                      <a:endParaRPr lang="fr-F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kern="1200">
                          <a:effectLst/>
                        </a:rPr>
                        <a:t>GET  /api/tweet/{idTweet}</a:t>
                      </a:r>
                      <a:endParaRPr lang="fr-F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kern="1200">
                          <a:effectLst/>
                        </a:rPr>
                        <a:t>Toute personne authentifiée</a:t>
                      </a:r>
                      <a:endParaRPr lang="fr-F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503326"/>
                  </a:ext>
                </a:extLst>
              </a:tr>
              <a:tr h="9596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kern="1200">
                          <a:effectLst/>
                        </a:rPr>
                        <a:t>Calculer le nombre de tweet pour un hashtag donné</a:t>
                      </a:r>
                      <a:endParaRPr lang="fr-F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200">
                          <a:effectLst/>
                        </a:rPr>
                        <a:t>GET  /api/tweet/hashtag</a:t>
                      </a:r>
                      <a:endParaRPr lang="fr-F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kern="1200">
                          <a:effectLst/>
                        </a:rPr>
                        <a:t>Toute personne authentifiée</a:t>
                      </a:r>
                      <a:endParaRPr lang="fr-F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6285385"/>
                  </a:ext>
                </a:extLst>
              </a:tr>
              <a:tr h="11042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kern="1200" dirty="0">
                          <a:effectLst/>
                        </a:rPr>
                        <a:t>Ajouter un nouveau tweet </a:t>
                      </a:r>
                      <a:r>
                        <a:rPr lang="fr-FR" sz="2000" kern="1200" dirty="0">
                          <a:solidFill>
                            <a:srgbClr val="FFC000"/>
                          </a:solidFill>
                          <a:effectLst/>
                        </a:rPr>
                        <a:t>+ Envoyer notifications au système utilisateur</a:t>
                      </a:r>
                      <a:endParaRPr lang="fr-FR" sz="2000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400" kern="1200">
                          <a:effectLst/>
                        </a:rPr>
                        <a:t>POST /api/tweet/add</a:t>
                      </a:r>
                      <a:endParaRPr lang="fr-F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kern="1200">
                          <a:effectLst/>
                        </a:rPr>
                        <a:t>Toute personne authentifiée</a:t>
                      </a:r>
                      <a:endParaRPr lang="fr-F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8349823"/>
                  </a:ext>
                </a:extLst>
              </a:tr>
              <a:tr h="99977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kern="1200">
                          <a:effectLst/>
                        </a:rPr>
                        <a:t>Supprimer un tweet</a:t>
                      </a:r>
                      <a:endParaRPr lang="fr-FR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200" dirty="0">
                          <a:effectLst/>
                        </a:rPr>
                        <a:t>DELETE  /</a:t>
                      </a:r>
                      <a:r>
                        <a:rPr lang="en-US" sz="2400" kern="1200" dirty="0" err="1">
                          <a:effectLst/>
                        </a:rPr>
                        <a:t>api</a:t>
                      </a:r>
                      <a:r>
                        <a:rPr lang="en-US" sz="2400" kern="1200" dirty="0">
                          <a:effectLst/>
                        </a:rPr>
                        <a:t>/ tweet /{id tweet }</a:t>
                      </a:r>
                      <a:endParaRPr lang="fr-F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kern="1200" dirty="0">
                          <a:effectLst/>
                        </a:rPr>
                        <a:t>Toute personne authentifiée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600" kern="1200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3137202"/>
                  </a:ext>
                </a:extLst>
              </a:tr>
              <a:tr h="7473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kern="1200" dirty="0">
                          <a:effectLst/>
                        </a:rPr>
                        <a:t>Afficher tous les tweets</a:t>
                      </a:r>
                      <a:endParaRPr lang="fr-F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200" dirty="0">
                          <a:effectLst/>
                        </a:rPr>
                        <a:t>GET  /</a:t>
                      </a:r>
                      <a:r>
                        <a:rPr lang="en-US" sz="2400" kern="1200" dirty="0" err="1">
                          <a:effectLst/>
                        </a:rPr>
                        <a:t>api</a:t>
                      </a:r>
                      <a:r>
                        <a:rPr lang="en-US" sz="2400" kern="1200" dirty="0">
                          <a:effectLst/>
                        </a:rPr>
                        <a:t>/ tweets</a:t>
                      </a:r>
                      <a:endParaRPr lang="fr-F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kern="1200" dirty="0">
                          <a:effectLst/>
                        </a:rPr>
                        <a:t>Tout le monde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9544570"/>
                  </a:ext>
                </a:extLst>
              </a:tr>
              <a:tr h="7473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2000" kern="1200" dirty="0">
                          <a:effectLst/>
                        </a:rPr>
                        <a:t>Afficher les tweets d’un utilisateur donné</a:t>
                      </a:r>
                      <a:endParaRPr lang="fr-F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200" dirty="0">
                          <a:effectLst/>
                        </a:rPr>
                        <a:t>GET  /</a:t>
                      </a:r>
                      <a:r>
                        <a:rPr lang="en-US" sz="2400" kern="1200" dirty="0" err="1">
                          <a:effectLst/>
                        </a:rPr>
                        <a:t>api</a:t>
                      </a:r>
                      <a:r>
                        <a:rPr lang="en-US" sz="2400" kern="1200" dirty="0">
                          <a:effectLst/>
                        </a:rPr>
                        <a:t>/ tweet /{</a:t>
                      </a:r>
                      <a:r>
                        <a:rPr lang="en-US" sz="2400" kern="1200" dirty="0" err="1">
                          <a:effectLst/>
                        </a:rPr>
                        <a:t>nom_user</a:t>
                      </a:r>
                      <a:r>
                        <a:rPr lang="en-US" sz="2400" kern="1200" dirty="0">
                          <a:effectLst/>
                        </a:rPr>
                        <a:t> }</a:t>
                      </a:r>
                      <a:endParaRPr lang="fr-FR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kern="1200" dirty="0">
                          <a:effectLst/>
                        </a:rPr>
                        <a:t>Tout le monde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0813941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70B05713-156A-4CBE-8AE0-C4D1D876AD90}"/>
              </a:ext>
            </a:extLst>
          </p:cNvPr>
          <p:cNvSpPr txBox="1"/>
          <p:nvPr/>
        </p:nvSpPr>
        <p:spPr>
          <a:xfrm>
            <a:off x="122420" y="97598"/>
            <a:ext cx="6093500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3200" b="1" dirty="0">
                <a:solidFill>
                  <a:srgbClr val="FF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Le service « tweet » </a:t>
            </a:r>
            <a:r>
              <a:rPr lang="fr-FR" sz="2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4457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575</Words>
  <Application>Microsoft Office PowerPoint</Application>
  <PresentationFormat>Grand écran</PresentationFormat>
  <Paragraphs>94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Thème Office</vt:lpstr>
      <vt:lpstr>Création d’une Application Cloud Native</vt:lpstr>
      <vt:lpstr>Présentation PowerPoint</vt:lpstr>
      <vt:lpstr>Le service « Utilisateur »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ZAINA OUABOU</dc:creator>
  <cp:lastModifiedBy>ZAINA OUABOU</cp:lastModifiedBy>
  <cp:revision>21</cp:revision>
  <dcterms:created xsi:type="dcterms:W3CDTF">2024-05-09T13:43:47Z</dcterms:created>
  <dcterms:modified xsi:type="dcterms:W3CDTF">2026-04-27T08:26:45Z</dcterms:modified>
</cp:coreProperties>
</file>