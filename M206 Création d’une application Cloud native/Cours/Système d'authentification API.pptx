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39"/>
  </p:notesMasterIdLst>
  <p:sldIdLst>
    <p:sldId id="256" r:id="rId2"/>
    <p:sldId id="268" r:id="rId3"/>
    <p:sldId id="277" r:id="rId4"/>
    <p:sldId id="278" r:id="rId5"/>
    <p:sldId id="270" r:id="rId6"/>
    <p:sldId id="279" r:id="rId7"/>
    <p:sldId id="272" r:id="rId8"/>
    <p:sldId id="280" r:id="rId9"/>
    <p:sldId id="271" r:id="rId10"/>
    <p:sldId id="257" r:id="rId11"/>
    <p:sldId id="259" r:id="rId12"/>
    <p:sldId id="274" r:id="rId13"/>
    <p:sldId id="275" r:id="rId14"/>
    <p:sldId id="276" r:id="rId15"/>
    <p:sldId id="285" r:id="rId16"/>
    <p:sldId id="262" r:id="rId17"/>
    <p:sldId id="289" r:id="rId18"/>
    <p:sldId id="290" r:id="rId19"/>
    <p:sldId id="284" r:id="rId20"/>
    <p:sldId id="263" r:id="rId21"/>
    <p:sldId id="264" r:id="rId22"/>
    <p:sldId id="281" r:id="rId23"/>
    <p:sldId id="296" r:id="rId24"/>
    <p:sldId id="282" r:id="rId25"/>
    <p:sldId id="266" r:id="rId26"/>
    <p:sldId id="265" r:id="rId27"/>
    <p:sldId id="291" r:id="rId28"/>
    <p:sldId id="267" r:id="rId29"/>
    <p:sldId id="288" r:id="rId30"/>
    <p:sldId id="292" r:id="rId31"/>
    <p:sldId id="283" r:id="rId32"/>
    <p:sldId id="295" r:id="rId33"/>
    <p:sldId id="293" r:id="rId34"/>
    <p:sldId id="294" r:id="rId35"/>
    <p:sldId id="297" r:id="rId36"/>
    <p:sldId id="299" r:id="rId37"/>
    <p:sldId id="298"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396"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C5902-EC4F-4141-ACAE-3C8EEA86542C}" type="datetimeFigureOut">
              <a:rPr lang="fr-FR" smtClean="0"/>
              <a:t>18/02/2026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FA7C5-DE17-4D73-BC85-93008157C0B8}" type="slidenum">
              <a:rPr lang="fr-FR" smtClean="0"/>
              <a:t>‹N°›</a:t>
            </a:fld>
            <a:endParaRPr lang="fr-FR"/>
          </a:p>
        </p:txBody>
      </p:sp>
    </p:spTree>
    <p:extLst>
      <p:ext uri="{BB962C8B-B14F-4D97-AF65-F5344CB8AC3E}">
        <p14:creationId xmlns:p14="http://schemas.microsoft.com/office/powerpoint/2010/main" val="81700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1CFA7C5-DE17-4D73-BC85-93008157C0B8}" type="slidenum">
              <a:rPr lang="fr-FR" smtClean="0"/>
              <a:t>31</a:t>
            </a:fld>
            <a:endParaRPr lang="fr-FR"/>
          </a:p>
        </p:txBody>
      </p:sp>
    </p:spTree>
    <p:extLst>
      <p:ext uri="{BB962C8B-B14F-4D97-AF65-F5344CB8AC3E}">
        <p14:creationId xmlns:p14="http://schemas.microsoft.com/office/powerpoint/2010/main" val="4221446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813553-1FC5-4A28-9CDC-FC4A6FBB169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3D98223-7453-4557-9D7C-DD796C42C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56BE788-49A7-43E8-AC78-CD9651B49C51}"/>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8D5EAADE-5052-4EBE-B975-85E509686D1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FF232D7-E089-44D6-B16E-829844FCA5C0}"/>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1925048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26BA6F-D17F-4A25-AB95-DA47A3B1778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D9F9A47-EB43-467A-8E85-1B713A92B62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C96A4F-52AC-4A2A-9425-5F3A5098424F}"/>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6D0C6D50-F16B-4014-8C02-56645F06F3E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DE563AB-1E57-4991-87DD-958D6882F666}"/>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4116543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2E5CA2-85AC-4FA1-9C37-C8855647B04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D0719E2-4979-413D-AAD1-0B7E6FB44F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0D5DE39-E897-4094-91CA-B22AA31039B0}"/>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877F07C2-B41E-426E-9B99-28070272A18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FFABC68-50AF-4C17-84BF-5F9410D18091}"/>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1678199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162415-41C8-4983-97A1-BDF54083A68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0543ED1-1CCD-4AB3-B2DC-1A87DB8BC6E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0DA284E-C4AE-49E4-A64E-41FEB8EB937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C10CD1E-BEE7-4106-A4A7-B3308BA5E92D}"/>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6" name="Espace réservé du pied de page 5">
            <a:extLst>
              <a:ext uri="{FF2B5EF4-FFF2-40B4-BE49-F238E27FC236}">
                <a16:creationId xmlns:a16="http://schemas.microsoft.com/office/drawing/2014/main" id="{F4569CE6-F193-4658-BD18-A5153E01E20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D27853E-5708-4FD6-82B2-0746CCCEEA5C}"/>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256459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A36112-864A-4AD3-8B91-4AC57E79267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292BB68-0785-4335-8116-45B75DCFCC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47DFC31-19A5-42F6-B4CA-3F6624C5556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5CD9EA1-021A-48CA-B7E4-D40505282A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05592FC-618F-4810-84F4-7BF2B8C999A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AB84CB9-AE99-44E9-ACB8-EE75AC75360A}"/>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8" name="Espace réservé du pied de page 7">
            <a:extLst>
              <a:ext uri="{FF2B5EF4-FFF2-40B4-BE49-F238E27FC236}">
                <a16:creationId xmlns:a16="http://schemas.microsoft.com/office/drawing/2014/main" id="{0AF514D4-C5B0-4F69-B765-B836D3B4CA0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12C9A32-15C3-46FA-B023-7C7AD89D91B3}"/>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232776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317B0B-C73A-4B5F-A3AB-AEC98147E5C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B74C57E-CD5E-4BCE-B0D7-C9C0260FE36F}"/>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4" name="Espace réservé du pied de page 3">
            <a:extLst>
              <a:ext uri="{FF2B5EF4-FFF2-40B4-BE49-F238E27FC236}">
                <a16:creationId xmlns:a16="http://schemas.microsoft.com/office/drawing/2014/main" id="{2F050835-D8E1-49D2-9C03-595DD5B86B1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1D1B68E-661F-469A-8C80-A43DDC5B2776}"/>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2273728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E8DB10B-6E2D-4454-B1EF-9A8A83A76BCA}"/>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3" name="Espace réservé du pied de page 2">
            <a:extLst>
              <a:ext uri="{FF2B5EF4-FFF2-40B4-BE49-F238E27FC236}">
                <a16:creationId xmlns:a16="http://schemas.microsoft.com/office/drawing/2014/main" id="{DA960460-27F2-485E-9669-B575BB37BCA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7022B50-F446-48D7-9F40-ADC767B90475}"/>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4252981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1E31D4-BBF9-43B6-939C-6ABF69A622D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4246AEA-C3A3-4329-8D24-BB6CE65DED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6251756-D581-4A88-8E2D-E8034D6C0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E83AAD8-953A-46E9-8DB7-64DEA5F2C657}"/>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6" name="Espace réservé du pied de page 5">
            <a:extLst>
              <a:ext uri="{FF2B5EF4-FFF2-40B4-BE49-F238E27FC236}">
                <a16:creationId xmlns:a16="http://schemas.microsoft.com/office/drawing/2014/main" id="{714E12BF-8E3D-4286-938E-D0BCC6FB40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05231AD-5286-48A8-9FA0-9DED4E1E455E}"/>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910858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F74613-CC8D-4876-99D7-61FF58B6695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AB66886-2204-4167-99A3-4F93754224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CB3BA05-60ED-4AC0-AB85-59BDC0890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73DA4C6-E982-4D5D-9102-E40B0C087978}"/>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6" name="Espace réservé du pied de page 5">
            <a:extLst>
              <a:ext uri="{FF2B5EF4-FFF2-40B4-BE49-F238E27FC236}">
                <a16:creationId xmlns:a16="http://schemas.microsoft.com/office/drawing/2014/main" id="{60B5C51B-8B18-4085-9AD3-2F8FB50D035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0EFF78D-7FFC-4054-8B3F-7C4E1DD18FC4}"/>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355639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02F400-899A-4149-8FA0-66FC02FB92C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D7D9754-D7EC-4A3F-B410-953A3087C17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6008CF-7B01-45C7-936C-43EAB7054A79}"/>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84CA1605-7A18-417B-A50F-EBB804D36B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71F4E9-E91D-4AE3-A8B6-7E3760AA7CEF}"/>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149186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D703954-A65D-44B8-BB4A-C8D0BAFD25D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1CE1156-D770-4814-BB2D-02F71FB7C4A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0761CDE-2F2F-43AE-B867-14A5C1D84A02}"/>
              </a:ext>
            </a:extLst>
          </p:cNvPr>
          <p:cNvSpPr>
            <a:spLocks noGrp="1"/>
          </p:cNvSpPr>
          <p:nvPr>
            <p:ph type="dt" sz="half" idx="10"/>
          </p:nvPr>
        </p:nvSpPr>
        <p:spPr/>
        <p:txBody>
          <a:body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868C5340-27EC-44E3-A705-2E7EE1A0EF4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FA92F0-4706-455B-81AC-EC520F89031C}"/>
              </a:ext>
            </a:extLst>
          </p:cNvPr>
          <p:cNvSpPr>
            <a:spLocks noGrp="1"/>
          </p:cNvSpPr>
          <p:nvPr>
            <p:ph type="sldNum" sz="quarter" idx="12"/>
          </p:nvPr>
        </p:nvSpPr>
        <p:spPr/>
        <p:txBody>
          <a:bodyPr/>
          <a:lstStyle/>
          <a:p>
            <a:fld id="{9F5412F7-6A07-476E-9B98-62DE7307A0A7}" type="slidenum">
              <a:rPr lang="fr-FR" smtClean="0"/>
              <a:t>‹N°›</a:t>
            </a:fld>
            <a:endParaRPr lang="fr-FR"/>
          </a:p>
        </p:txBody>
      </p:sp>
    </p:spTree>
    <p:extLst>
      <p:ext uri="{BB962C8B-B14F-4D97-AF65-F5344CB8AC3E}">
        <p14:creationId xmlns:p14="http://schemas.microsoft.com/office/powerpoint/2010/main" val="2735597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5DEA50F-F5D8-40E4-B02B-4283461B87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41C3F29-B6C0-4ECB-9BB8-D1AACBD086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356FE8-87B2-47DB-A544-B8BCE5B87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C1294-AFF3-40AE-A4F9-B6628027DF61}" type="datetimeFigureOut">
              <a:rPr lang="fr-FR" smtClean="0"/>
              <a:t>18/02/2026</a:t>
            </a:fld>
            <a:endParaRPr lang="fr-FR"/>
          </a:p>
        </p:txBody>
      </p:sp>
      <p:sp>
        <p:nvSpPr>
          <p:cNvPr id="5" name="Espace réservé du pied de page 4">
            <a:extLst>
              <a:ext uri="{FF2B5EF4-FFF2-40B4-BE49-F238E27FC236}">
                <a16:creationId xmlns:a16="http://schemas.microsoft.com/office/drawing/2014/main" id="{C1911E5F-0FD2-4ED1-8355-57228C297C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BE7F2B2-5379-4D9A-9F7C-4D89C48C38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412F7-6A07-476E-9B98-62DE7307A0A7}" type="slidenum">
              <a:rPr lang="fr-FR" smtClean="0"/>
              <a:t>‹N°›</a:t>
            </a:fld>
            <a:endParaRPr lang="fr-FR"/>
          </a:p>
        </p:txBody>
      </p:sp>
    </p:spTree>
    <p:extLst>
      <p:ext uri="{BB962C8B-B14F-4D97-AF65-F5344CB8AC3E}">
        <p14:creationId xmlns:p14="http://schemas.microsoft.com/office/powerpoint/2010/main" val="120063112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86B6B4-926D-48AE-8E4A-4110ED08383B}"/>
              </a:ext>
            </a:extLst>
          </p:cNvPr>
          <p:cNvSpPr>
            <a:spLocks noGrp="1"/>
          </p:cNvSpPr>
          <p:nvPr>
            <p:ph type="ctrTitle"/>
          </p:nvPr>
        </p:nvSpPr>
        <p:spPr/>
        <p:txBody>
          <a:bodyPr>
            <a:normAutofit/>
          </a:bodyPr>
          <a:lstStyle/>
          <a:p>
            <a:r>
              <a:rPr lang="fr-FR" dirty="0"/>
              <a:t>Système d’authentification</a:t>
            </a:r>
          </a:p>
        </p:txBody>
      </p:sp>
      <p:sp>
        <p:nvSpPr>
          <p:cNvPr id="3" name="Sous-titre 2">
            <a:extLst>
              <a:ext uri="{FF2B5EF4-FFF2-40B4-BE49-F238E27FC236}">
                <a16:creationId xmlns:a16="http://schemas.microsoft.com/office/drawing/2014/main" id="{48DFED8C-54F8-4D5C-8089-61950FCA2F31}"/>
              </a:ext>
            </a:extLst>
          </p:cNvPr>
          <p:cNvSpPr>
            <a:spLocks noGrp="1"/>
          </p:cNvSpPr>
          <p:nvPr>
            <p:ph type="subTitle" idx="1"/>
          </p:nvPr>
        </p:nvSpPr>
        <p:spPr/>
        <p:txBody>
          <a:bodyPr/>
          <a:lstStyle/>
          <a:p>
            <a:r>
              <a:rPr lang="fr-FR" dirty="0"/>
              <a:t>API </a:t>
            </a:r>
            <a:r>
              <a:rPr lang="fr-FR" dirty="0" err="1"/>
              <a:t>node</a:t>
            </a:r>
            <a:r>
              <a:rPr lang="fr-FR" dirty="0"/>
              <a:t> JS</a:t>
            </a:r>
          </a:p>
        </p:txBody>
      </p:sp>
    </p:spTree>
    <p:extLst>
      <p:ext uri="{BB962C8B-B14F-4D97-AF65-F5344CB8AC3E}">
        <p14:creationId xmlns:p14="http://schemas.microsoft.com/office/powerpoint/2010/main" val="75577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D86377-137A-4155-A594-E98C59DC582B}"/>
              </a:ext>
            </a:extLst>
          </p:cNvPr>
          <p:cNvSpPr>
            <a:spLocks noGrp="1"/>
          </p:cNvSpPr>
          <p:nvPr>
            <p:ph type="title"/>
          </p:nvPr>
        </p:nvSpPr>
        <p:spPr>
          <a:xfrm>
            <a:off x="1371600" y="685800"/>
            <a:ext cx="9601200" cy="903157"/>
          </a:xfrm>
        </p:spPr>
        <p:txBody>
          <a:bodyPr/>
          <a:lstStyle/>
          <a:p>
            <a:r>
              <a:rPr lang="fr-FR" dirty="0"/>
              <a:t>TP: Système d’authentification </a:t>
            </a:r>
          </a:p>
        </p:txBody>
      </p:sp>
      <p:sp>
        <p:nvSpPr>
          <p:cNvPr id="3" name="Espace réservé du contenu 2">
            <a:extLst>
              <a:ext uri="{FF2B5EF4-FFF2-40B4-BE49-F238E27FC236}">
                <a16:creationId xmlns:a16="http://schemas.microsoft.com/office/drawing/2014/main" id="{CF9BA9EC-DFE0-4975-849A-B5F9B2A9C0B9}"/>
              </a:ext>
            </a:extLst>
          </p:cNvPr>
          <p:cNvSpPr>
            <a:spLocks noGrp="1"/>
          </p:cNvSpPr>
          <p:nvPr>
            <p:ph idx="1"/>
          </p:nvPr>
        </p:nvSpPr>
        <p:spPr>
          <a:xfrm>
            <a:off x="1371599" y="1678897"/>
            <a:ext cx="10410670" cy="5179103"/>
          </a:xfrm>
        </p:spPr>
        <p:txBody>
          <a:bodyPr>
            <a:normAutofit/>
          </a:bodyPr>
          <a:lstStyle/>
          <a:p>
            <a:r>
              <a:rPr lang="fr-FR" sz="3200" dirty="0"/>
              <a:t>Créer un nouveau projet </a:t>
            </a:r>
            <a:r>
              <a:rPr lang="fr-FR" sz="3200" dirty="0" err="1"/>
              <a:t>systeme</a:t>
            </a:r>
            <a:r>
              <a:rPr lang="fr-FR" sz="3200" dirty="0"/>
              <a:t>-authentification</a:t>
            </a:r>
          </a:p>
          <a:p>
            <a:r>
              <a:rPr lang="fr-FR" sz="3200" dirty="0" err="1"/>
              <a:t>Npm</a:t>
            </a:r>
            <a:r>
              <a:rPr lang="fr-FR" sz="3200" dirty="0"/>
              <a:t> </a:t>
            </a:r>
            <a:r>
              <a:rPr lang="fr-FR" sz="3200" dirty="0" err="1"/>
              <a:t>install</a:t>
            </a:r>
            <a:r>
              <a:rPr lang="fr-FR" sz="3200" dirty="0"/>
              <a:t> </a:t>
            </a:r>
            <a:r>
              <a:rPr lang="fr-FR" sz="3200" dirty="0" err="1"/>
              <a:t>bcrypt</a:t>
            </a:r>
            <a:r>
              <a:rPr lang="fr-FR" sz="3200" dirty="0"/>
              <a:t> </a:t>
            </a:r>
            <a:r>
              <a:rPr lang="fr-FR" sz="3200"/>
              <a:t>jsonwebtoken</a:t>
            </a:r>
            <a:endParaRPr lang="fr-FR" sz="3200" dirty="0"/>
          </a:p>
          <a:p>
            <a:r>
              <a:rPr lang="fr-FR" sz="3200" dirty="0"/>
              <a:t>Sous ce dossier créer deux fichiers utilisateur.js et index.js</a:t>
            </a:r>
          </a:p>
          <a:p>
            <a:r>
              <a:rPr lang="fr-FR" sz="3200" dirty="0"/>
              <a:t>Le fichier utilisateur.js contiendra la connexion à la base de données et la création du </a:t>
            </a:r>
            <a:r>
              <a:rPr lang="fr-FR" sz="3200" dirty="0" err="1"/>
              <a:t>shéma</a:t>
            </a:r>
            <a:r>
              <a:rPr lang="fr-FR" sz="3200" dirty="0"/>
              <a:t> (email, </a:t>
            </a:r>
            <a:r>
              <a:rPr lang="fr-FR" sz="3200" dirty="0" err="1"/>
              <a:t>password</a:t>
            </a:r>
            <a:r>
              <a:rPr lang="fr-FR" sz="3200" dirty="0"/>
              <a:t>, </a:t>
            </a:r>
            <a:r>
              <a:rPr lang="fr-FR" sz="3200" dirty="0" err="1"/>
              <a:t>username</a:t>
            </a:r>
            <a:r>
              <a:rPr lang="fr-FR" sz="3200" dirty="0"/>
              <a:t>)</a:t>
            </a:r>
          </a:p>
          <a:p>
            <a:r>
              <a:rPr lang="fr-FR" sz="3200" dirty="0"/>
              <a:t>Créer la route </a:t>
            </a:r>
            <a:r>
              <a:rPr lang="fr-FR" sz="3200" dirty="0">
                <a:solidFill>
                  <a:srgbClr val="FF0000"/>
                </a:solidFill>
              </a:rPr>
              <a:t>/</a:t>
            </a:r>
            <a:r>
              <a:rPr lang="fr-FR" sz="3200" dirty="0" err="1">
                <a:solidFill>
                  <a:srgbClr val="FF0000"/>
                </a:solidFill>
              </a:rPr>
              <a:t>register</a:t>
            </a:r>
            <a:r>
              <a:rPr lang="fr-FR" sz="3200" dirty="0">
                <a:solidFill>
                  <a:srgbClr val="FF0000"/>
                </a:solidFill>
              </a:rPr>
              <a:t> </a:t>
            </a:r>
            <a:r>
              <a:rPr lang="fr-FR" sz="3200" dirty="0"/>
              <a:t>qui permet de créer un utilisateur.</a:t>
            </a:r>
          </a:p>
          <a:p>
            <a:r>
              <a:rPr lang="fr-FR" sz="3200" dirty="0"/>
              <a:t>Créer la route </a:t>
            </a:r>
            <a:r>
              <a:rPr lang="fr-FR" sz="3200" dirty="0">
                <a:solidFill>
                  <a:srgbClr val="FF0000"/>
                </a:solidFill>
              </a:rPr>
              <a:t>/login </a:t>
            </a:r>
            <a:r>
              <a:rPr lang="fr-FR" sz="3200" dirty="0"/>
              <a:t>qui permet de connecter un utilisateur</a:t>
            </a:r>
          </a:p>
          <a:p>
            <a:endParaRPr lang="fr-FR" sz="3200" dirty="0"/>
          </a:p>
          <a:p>
            <a:endParaRPr lang="fr-FR" sz="3200" dirty="0"/>
          </a:p>
        </p:txBody>
      </p:sp>
    </p:spTree>
    <p:extLst>
      <p:ext uri="{BB962C8B-B14F-4D97-AF65-F5344CB8AC3E}">
        <p14:creationId xmlns:p14="http://schemas.microsoft.com/office/powerpoint/2010/main" val="3403696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DF164A-3FD3-436B-9141-5173398199A2}"/>
              </a:ext>
            </a:extLst>
          </p:cNvPr>
          <p:cNvSpPr>
            <a:spLocks noGrp="1"/>
          </p:cNvSpPr>
          <p:nvPr>
            <p:ph type="title"/>
          </p:nvPr>
        </p:nvSpPr>
        <p:spPr/>
        <p:txBody>
          <a:bodyPr/>
          <a:lstStyle/>
          <a:p>
            <a:r>
              <a:rPr lang="fr-FR" sz="4400" b="0" i="0" dirty="0">
                <a:solidFill>
                  <a:srgbClr val="2E2B28"/>
                </a:solidFill>
                <a:effectLst/>
                <a:latin typeface="Ubuntu Mono"/>
              </a:rPr>
              <a:t>JSON Web </a:t>
            </a:r>
            <a:r>
              <a:rPr lang="fr-FR" sz="4400" b="0" i="0" dirty="0" err="1">
                <a:solidFill>
                  <a:srgbClr val="2E2B28"/>
                </a:solidFill>
                <a:effectLst/>
                <a:latin typeface="Ubuntu Mono"/>
              </a:rPr>
              <a:t>Token</a:t>
            </a:r>
            <a:r>
              <a:rPr lang="fr-FR" sz="4400" b="0" i="0" dirty="0">
                <a:solidFill>
                  <a:srgbClr val="2E2B28"/>
                </a:solidFill>
                <a:effectLst/>
                <a:latin typeface="Ubuntu Mono"/>
              </a:rPr>
              <a:t> :Description</a:t>
            </a:r>
            <a:endParaRPr lang="fr-FR" dirty="0"/>
          </a:p>
        </p:txBody>
      </p:sp>
      <p:sp>
        <p:nvSpPr>
          <p:cNvPr id="3" name="Espace réservé du contenu 2">
            <a:extLst>
              <a:ext uri="{FF2B5EF4-FFF2-40B4-BE49-F238E27FC236}">
                <a16:creationId xmlns:a16="http://schemas.microsoft.com/office/drawing/2014/main" id="{B0BBA6A0-2796-48CC-AD1F-DD8D9DE4A0C7}"/>
              </a:ext>
            </a:extLst>
          </p:cNvPr>
          <p:cNvSpPr>
            <a:spLocks noGrp="1"/>
          </p:cNvSpPr>
          <p:nvPr>
            <p:ph idx="1"/>
          </p:nvPr>
        </p:nvSpPr>
        <p:spPr/>
        <p:txBody>
          <a:bodyPr>
            <a:normAutofit/>
          </a:bodyPr>
          <a:lstStyle/>
          <a:p>
            <a:r>
              <a:rPr lang="fr-FR" sz="2800" b="0" i="0" dirty="0">
                <a:solidFill>
                  <a:srgbClr val="2E2B28"/>
                </a:solidFill>
                <a:effectLst/>
                <a:latin typeface="Ubuntu Mono"/>
              </a:rPr>
              <a:t>Les « JSON Web </a:t>
            </a:r>
            <a:r>
              <a:rPr lang="fr-FR" sz="2800" b="0" i="0" dirty="0" err="1">
                <a:solidFill>
                  <a:srgbClr val="2E2B28"/>
                </a:solidFill>
                <a:effectLst/>
                <a:latin typeface="Ubuntu Mono"/>
              </a:rPr>
              <a:t>Token</a:t>
            </a:r>
            <a:r>
              <a:rPr lang="fr-FR" sz="2800" b="0" i="0" dirty="0">
                <a:solidFill>
                  <a:srgbClr val="2E2B28"/>
                </a:solidFill>
                <a:effectLst/>
                <a:latin typeface="Ubuntu Mono"/>
              </a:rPr>
              <a:t> » ou JWT sont des jetons générés par un serveur lors de l’authentification d’un utilisateur sur une application Web, et qui sont ensuite transmis au client.</a:t>
            </a:r>
          </a:p>
          <a:p>
            <a:endParaRPr lang="fr-FR" sz="2800" dirty="0">
              <a:solidFill>
                <a:srgbClr val="2E2B28"/>
              </a:solidFill>
              <a:latin typeface="Ubuntu Mono"/>
            </a:endParaRPr>
          </a:p>
          <a:p>
            <a:r>
              <a:rPr lang="fr-FR" sz="2800" dirty="0">
                <a:solidFill>
                  <a:srgbClr val="2E2B28"/>
                </a:solidFill>
                <a:latin typeface="Ubuntu Mono"/>
              </a:rPr>
              <a:t>Ils seront renvoyés avec chaque requête HTTP au serveur, ce qui lui permettra d’identifier l’utilisateur.</a:t>
            </a:r>
          </a:p>
        </p:txBody>
      </p:sp>
    </p:spTree>
    <p:extLst>
      <p:ext uri="{BB962C8B-B14F-4D97-AF65-F5344CB8AC3E}">
        <p14:creationId xmlns:p14="http://schemas.microsoft.com/office/powerpoint/2010/main" val="419159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49B4A6-CB34-46D1-B87E-2F55BD3C9C19}"/>
              </a:ext>
            </a:extLst>
          </p:cNvPr>
          <p:cNvSpPr>
            <a:spLocks noGrp="1"/>
          </p:cNvSpPr>
          <p:nvPr>
            <p:ph type="title"/>
          </p:nvPr>
        </p:nvSpPr>
        <p:spPr/>
        <p:txBody>
          <a:bodyPr/>
          <a:lstStyle/>
          <a:p>
            <a:r>
              <a:rPr lang="fr-FR" sz="4400" b="0" i="0" dirty="0">
                <a:solidFill>
                  <a:srgbClr val="2E2B28"/>
                </a:solidFill>
                <a:effectLst/>
                <a:latin typeface="Ubuntu Mono"/>
              </a:rPr>
              <a:t>JSON Web </a:t>
            </a:r>
            <a:r>
              <a:rPr lang="fr-FR" sz="4400" b="0" i="0" dirty="0" err="1">
                <a:solidFill>
                  <a:srgbClr val="2E2B28"/>
                </a:solidFill>
                <a:effectLst/>
                <a:latin typeface="Ubuntu Mono"/>
              </a:rPr>
              <a:t>Token</a:t>
            </a:r>
            <a:r>
              <a:rPr lang="fr-FR" sz="4400" b="0" i="0" dirty="0">
                <a:solidFill>
                  <a:srgbClr val="2E2B28"/>
                </a:solidFill>
                <a:effectLst/>
                <a:latin typeface="Ubuntu Mono"/>
              </a:rPr>
              <a:t> :Description</a:t>
            </a:r>
            <a:endParaRPr lang="fr-FR" dirty="0"/>
          </a:p>
        </p:txBody>
      </p:sp>
      <p:sp>
        <p:nvSpPr>
          <p:cNvPr id="3" name="Espace réservé du contenu 2">
            <a:extLst>
              <a:ext uri="{FF2B5EF4-FFF2-40B4-BE49-F238E27FC236}">
                <a16:creationId xmlns:a16="http://schemas.microsoft.com/office/drawing/2014/main" id="{24C88B49-1DA3-4D2E-A092-FF84DDE26D73}"/>
              </a:ext>
            </a:extLst>
          </p:cNvPr>
          <p:cNvSpPr>
            <a:spLocks noGrp="1"/>
          </p:cNvSpPr>
          <p:nvPr>
            <p:ph idx="1"/>
          </p:nvPr>
        </p:nvSpPr>
        <p:spPr>
          <a:xfrm>
            <a:off x="1371600" y="1866276"/>
            <a:ext cx="9601200" cy="3581400"/>
          </a:xfrm>
        </p:spPr>
        <p:txBody>
          <a:bodyPr>
            <a:normAutofit/>
          </a:bodyPr>
          <a:lstStyle/>
          <a:p>
            <a:r>
              <a:rPr lang="fr-FR" sz="2800" b="0" i="0" dirty="0">
                <a:solidFill>
                  <a:srgbClr val="2E2B28"/>
                </a:solidFill>
                <a:effectLst/>
                <a:latin typeface="Ubuntu Mono"/>
              </a:rPr>
              <a:t>Pour ce faire, les informations contenues dans le jeton sont signées à l’aide d’une clé privée détenue par le serveur. </a:t>
            </a:r>
          </a:p>
          <a:p>
            <a:pPr marL="0" indent="0">
              <a:buNone/>
            </a:pPr>
            <a:endParaRPr lang="fr-FR" sz="2800" b="0" i="0" dirty="0">
              <a:solidFill>
                <a:srgbClr val="2E2B28"/>
              </a:solidFill>
              <a:effectLst/>
              <a:latin typeface="Ubuntu Mono"/>
            </a:endParaRPr>
          </a:p>
          <a:p>
            <a:r>
              <a:rPr lang="fr-FR" sz="2800" b="0" i="0" dirty="0">
                <a:solidFill>
                  <a:srgbClr val="2E2B28"/>
                </a:solidFill>
                <a:effectLst/>
                <a:latin typeface="Ubuntu Mono"/>
              </a:rPr>
              <a:t>Quand il recevra à nouveau le jeton, le serveur n’aura qu’à comparer la signature envoyée par le client et celle qu’il aura générée avec sa propre clé privée et à comparer les résultats. Si les signatures sont identiques, le jeton est valide.</a:t>
            </a:r>
            <a:endParaRPr lang="fr-FR" sz="2800" dirty="0"/>
          </a:p>
        </p:txBody>
      </p:sp>
    </p:spTree>
    <p:extLst>
      <p:ext uri="{BB962C8B-B14F-4D97-AF65-F5344CB8AC3E}">
        <p14:creationId xmlns:p14="http://schemas.microsoft.com/office/powerpoint/2010/main" val="277646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A6A871-E072-49FB-8B8F-2545CB5E4EA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1B16578-B7A7-4B66-BA37-860845BF30F1}"/>
              </a:ext>
            </a:extLst>
          </p:cNvPr>
          <p:cNvSpPr>
            <a:spLocks noGrp="1"/>
          </p:cNvSpPr>
          <p:nvPr>
            <p:ph idx="1"/>
          </p:nvPr>
        </p:nvSpPr>
        <p:spPr/>
        <p:txBody>
          <a:bodyPr/>
          <a:lstStyle/>
          <a:p>
            <a:endParaRPr lang="fr-FR"/>
          </a:p>
        </p:txBody>
      </p:sp>
      <p:pic>
        <p:nvPicPr>
          <p:cNvPr id="2050" name="Picture 2">
            <a:extLst>
              <a:ext uri="{FF2B5EF4-FFF2-40B4-BE49-F238E27FC236}">
                <a16:creationId xmlns:a16="http://schemas.microsoft.com/office/drawing/2014/main" id="{27475B8F-5D1E-4F07-9628-18F039E64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892" y="12526"/>
            <a:ext cx="10083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30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0F778-E33E-4B16-8017-53AB15C2DFFC}"/>
              </a:ext>
            </a:extLst>
          </p:cNvPr>
          <p:cNvSpPr>
            <a:spLocks noGrp="1"/>
          </p:cNvSpPr>
          <p:nvPr>
            <p:ph type="title"/>
          </p:nvPr>
        </p:nvSpPr>
        <p:spPr>
          <a:xfrm>
            <a:off x="1371600" y="247650"/>
            <a:ext cx="9601200" cy="981543"/>
          </a:xfrm>
        </p:spPr>
        <p:txBody>
          <a:bodyPr>
            <a:normAutofit fontScale="90000"/>
          </a:bodyPr>
          <a:lstStyle/>
          <a:p>
            <a:r>
              <a:rPr lang="fr-FR" b="1" i="0" dirty="0">
                <a:solidFill>
                  <a:srgbClr val="111111"/>
                </a:solidFill>
                <a:effectLst/>
                <a:latin typeface="Ubuntu Mono"/>
              </a:rPr>
              <a:t>Structure d’un jeton JWT</a:t>
            </a:r>
            <a:br>
              <a:rPr lang="fr-FR" b="1" i="0" dirty="0">
                <a:solidFill>
                  <a:srgbClr val="111111"/>
                </a:solidFill>
                <a:effectLst/>
                <a:latin typeface="Ubuntu Mono"/>
              </a:rPr>
            </a:br>
            <a:endParaRPr lang="fr-FR" dirty="0"/>
          </a:p>
        </p:txBody>
      </p:sp>
      <p:sp>
        <p:nvSpPr>
          <p:cNvPr id="3" name="Espace réservé du contenu 2">
            <a:extLst>
              <a:ext uri="{FF2B5EF4-FFF2-40B4-BE49-F238E27FC236}">
                <a16:creationId xmlns:a16="http://schemas.microsoft.com/office/drawing/2014/main" id="{EA9F0CD5-EFA8-4E2E-87BA-DA869265988B}"/>
              </a:ext>
            </a:extLst>
          </p:cNvPr>
          <p:cNvSpPr>
            <a:spLocks noGrp="1"/>
          </p:cNvSpPr>
          <p:nvPr>
            <p:ph idx="1"/>
          </p:nvPr>
        </p:nvSpPr>
        <p:spPr>
          <a:xfrm>
            <a:off x="659567" y="1244183"/>
            <a:ext cx="11257613" cy="4638207"/>
          </a:xfrm>
        </p:spPr>
        <p:txBody>
          <a:bodyPr>
            <a:normAutofit/>
          </a:bodyPr>
          <a:lstStyle/>
          <a:p>
            <a:r>
              <a:rPr lang="fr-FR" sz="2800" b="0" i="0" dirty="0">
                <a:solidFill>
                  <a:srgbClr val="2E2B28"/>
                </a:solidFill>
                <a:effectLst/>
                <a:latin typeface="Ubuntu Mono"/>
              </a:rPr>
              <a:t>Une partie “</a:t>
            </a:r>
            <a:r>
              <a:rPr lang="fr-FR" sz="2800" b="0" i="0" dirty="0">
                <a:solidFill>
                  <a:srgbClr val="FF0000"/>
                </a:solidFill>
                <a:effectLst/>
                <a:latin typeface="Ubuntu Mono"/>
              </a:rPr>
              <a:t>Header</a:t>
            </a:r>
            <a:r>
              <a:rPr lang="fr-FR" sz="2800" b="0" i="0" dirty="0">
                <a:solidFill>
                  <a:srgbClr val="2E2B28"/>
                </a:solidFill>
                <a:effectLst/>
                <a:latin typeface="Ubuntu Mono"/>
              </a:rPr>
              <a:t>”, contenant l’algorithme utilisé pour la signature ainsi que le type de jeton (dans notre cas toujours “JWT »), en JSON encodé en Base64.</a:t>
            </a:r>
          </a:p>
          <a:p>
            <a:endParaRPr lang="fr-FR" sz="2800" b="0" i="0" dirty="0">
              <a:solidFill>
                <a:srgbClr val="2E2B28"/>
              </a:solidFill>
              <a:effectLst/>
              <a:latin typeface="Ubuntu Mono"/>
            </a:endParaRPr>
          </a:p>
          <a:p>
            <a:r>
              <a:rPr lang="fr-FR" sz="2800" b="0" i="0" dirty="0">
                <a:solidFill>
                  <a:srgbClr val="2E2B28"/>
                </a:solidFill>
                <a:effectLst/>
                <a:latin typeface="Ubuntu Mono"/>
              </a:rPr>
              <a:t>Une partie “</a:t>
            </a:r>
            <a:r>
              <a:rPr lang="fr-FR" sz="2800" b="0" i="0" dirty="0" err="1">
                <a:solidFill>
                  <a:srgbClr val="FF0000"/>
                </a:solidFill>
                <a:effectLst/>
                <a:latin typeface="Ubuntu Mono"/>
              </a:rPr>
              <a:t>Payload</a:t>
            </a:r>
            <a:r>
              <a:rPr lang="fr-FR" sz="2800" b="0" i="0" dirty="0">
                <a:solidFill>
                  <a:srgbClr val="2E2B28"/>
                </a:solidFill>
                <a:effectLst/>
                <a:latin typeface="Ubuntu Mono"/>
              </a:rPr>
              <a:t>” contenant les informations du jeton, comme par exemple le nom de l’utilisateur, la date d’émission du jeton ou sa date d’expiration le tout en JSON encodé en Base64.</a:t>
            </a:r>
          </a:p>
          <a:p>
            <a:endParaRPr lang="fr-FR" sz="2800" b="0" i="0" dirty="0">
              <a:solidFill>
                <a:srgbClr val="2E2B28"/>
              </a:solidFill>
              <a:effectLst/>
              <a:latin typeface="Ubuntu Mono"/>
            </a:endParaRPr>
          </a:p>
          <a:p>
            <a:r>
              <a:rPr lang="fr-FR" sz="2800" b="0" i="0" dirty="0">
                <a:solidFill>
                  <a:srgbClr val="2E2B28"/>
                </a:solidFill>
                <a:effectLst/>
                <a:latin typeface="Ubuntu Mono"/>
              </a:rPr>
              <a:t>Une partie “</a:t>
            </a:r>
            <a:r>
              <a:rPr lang="fr-FR" sz="2800" b="0" i="0" dirty="0">
                <a:solidFill>
                  <a:srgbClr val="FF0000"/>
                </a:solidFill>
                <a:effectLst/>
                <a:latin typeface="Ubuntu Mono"/>
              </a:rPr>
              <a:t>Signature</a:t>
            </a:r>
            <a:r>
              <a:rPr lang="fr-FR" sz="2800" b="0" i="0" dirty="0">
                <a:solidFill>
                  <a:srgbClr val="2E2B28"/>
                </a:solidFill>
                <a:effectLst/>
                <a:latin typeface="Ubuntu Mono"/>
              </a:rPr>
              <a:t>”, qui correspond à la concaténation des parties “Header” et “</a:t>
            </a:r>
            <a:r>
              <a:rPr lang="fr-FR" sz="2800" b="0" i="0" dirty="0" err="1">
                <a:solidFill>
                  <a:srgbClr val="2E2B28"/>
                </a:solidFill>
                <a:effectLst/>
                <a:latin typeface="Ubuntu Mono"/>
              </a:rPr>
              <a:t>Payload</a:t>
            </a:r>
            <a:r>
              <a:rPr lang="fr-FR" sz="2800" b="0" i="0" dirty="0">
                <a:solidFill>
                  <a:srgbClr val="2E2B28"/>
                </a:solidFill>
                <a:effectLst/>
                <a:latin typeface="Ubuntu Mono"/>
              </a:rPr>
              <a:t>” chiffrée avec la clé privée.</a:t>
            </a:r>
            <a:endParaRPr lang="fr-FR" sz="2800" dirty="0"/>
          </a:p>
        </p:txBody>
      </p:sp>
    </p:spTree>
    <p:extLst>
      <p:ext uri="{BB962C8B-B14F-4D97-AF65-F5344CB8AC3E}">
        <p14:creationId xmlns:p14="http://schemas.microsoft.com/office/powerpoint/2010/main" val="2629657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6730D4-02F6-43EA-B96D-57A8F4BFE689}"/>
              </a:ext>
            </a:extLst>
          </p:cNvPr>
          <p:cNvSpPr>
            <a:spLocks noGrp="1"/>
          </p:cNvSpPr>
          <p:nvPr>
            <p:ph type="title"/>
          </p:nvPr>
        </p:nvSpPr>
        <p:spPr/>
        <p:txBody>
          <a:bodyPr/>
          <a:lstStyle/>
          <a:p>
            <a:r>
              <a:rPr lang="fr-FR" b="1" i="0" dirty="0">
                <a:effectLst/>
                <a:latin typeface="Inter"/>
              </a:rPr>
              <a:t>Qu'est-ce que le JWT ?</a:t>
            </a:r>
            <a:br>
              <a:rPr lang="fr-FR" b="1" i="0" dirty="0">
                <a:effectLst/>
                <a:latin typeface="Inter"/>
              </a:rPr>
            </a:br>
            <a:endParaRPr lang="fr-FR" dirty="0"/>
          </a:p>
        </p:txBody>
      </p:sp>
      <p:sp>
        <p:nvSpPr>
          <p:cNvPr id="3" name="Espace réservé du contenu 2">
            <a:extLst>
              <a:ext uri="{FF2B5EF4-FFF2-40B4-BE49-F238E27FC236}">
                <a16:creationId xmlns:a16="http://schemas.microsoft.com/office/drawing/2014/main" id="{57896E07-4D52-4DE5-A2C1-1B7E628154CF}"/>
              </a:ext>
            </a:extLst>
          </p:cNvPr>
          <p:cNvSpPr>
            <a:spLocks noGrp="1"/>
          </p:cNvSpPr>
          <p:nvPr>
            <p:ph idx="1"/>
          </p:nvPr>
        </p:nvSpPr>
        <p:spPr/>
        <p:txBody>
          <a:bodyPr>
            <a:normAutofit/>
          </a:bodyPr>
          <a:lstStyle/>
          <a:p>
            <a:r>
              <a:rPr lang="fr-FR" sz="2800" dirty="0"/>
              <a:t>Un </a:t>
            </a:r>
            <a:r>
              <a:rPr lang="fr-FR" sz="2800" dirty="0" err="1"/>
              <a:t>token</a:t>
            </a:r>
            <a:r>
              <a:rPr lang="fr-FR" sz="2800" dirty="0"/>
              <a:t> JWT se compose de 3 chaines de caractères séparées par un ".".</a:t>
            </a:r>
          </a:p>
          <a:p>
            <a:endParaRPr lang="fr-FR" sz="2800" dirty="0"/>
          </a:p>
          <a:p>
            <a:r>
              <a:rPr lang="fr-FR" sz="2800" dirty="0"/>
              <a:t>eyJhbGciOiJIUzI1NiIsInR5cCI6IkpXVCJ9.</a:t>
            </a:r>
          </a:p>
          <a:p>
            <a:r>
              <a:rPr lang="fr-FR" sz="2800" dirty="0"/>
              <a:t>eyJzdWIiOiIxMjM0NTY3ODkwIiwibmFtZSI6IkpvaG4gRG9lIiwiYWRtaW4iOnRydWV9.</a:t>
            </a:r>
          </a:p>
          <a:p>
            <a:r>
              <a:rPr lang="fr-FR" sz="2800" dirty="0"/>
              <a:t>TJVA95OrM7E2cBab30RMHrHDcEfxjoYZgeFONFh7HgQ</a:t>
            </a:r>
          </a:p>
        </p:txBody>
      </p:sp>
    </p:spTree>
    <p:extLst>
      <p:ext uri="{BB962C8B-B14F-4D97-AF65-F5344CB8AC3E}">
        <p14:creationId xmlns:p14="http://schemas.microsoft.com/office/powerpoint/2010/main" val="2937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65C59C-65DA-4444-8144-C7ECC1E9D6AD}"/>
              </a:ext>
            </a:extLst>
          </p:cNvPr>
          <p:cNvSpPr>
            <a:spLocks noGrp="1"/>
          </p:cNvSpPr>
          <p:nvPr>
            <p:ph type="title"/>
          </p:nvPr>
        </p:nvSpPr>
        <p:spPr>
          <a:xfrm>
            <a:off x="1371599" y="0"/>
            <a:ext cx="9601200" cy="933138"/>
          </a:xfrm>
        </p:spPr>
        <p:txBody>
          <a:bodyPr/>
          <a:lstStyle/>
          <a:p>
            <a:r>
              <a:rPr lang="fr-FR" b="1" i="0" dirty="0">
                <a:solidFill>
                  <a:srgbClr val="111111"/>
                </a:solidFill>
                <a:effectLst/>
                <a:latin typeface="Ubuntu Mono"/>
              </a:rPr>
              <a:t>Inconvénients des jetons JWT</a:t>
            </a:r>
            <a:endParaRPr lang="fr-FR" dirty="0"/>
          </a:p>
        </p:txBody>
      </p:sp>
      <p:sp>
        <p:nvSpPr>
          <p:cNvPr id="3" name="Espace réservé du contenu 2">
            <a:extLst>
              <a:ext uri="{FF2B5EF4-FFF2-40B4-BE49-F238E27FC236}">
                <a16:creationId xmlns:a16="http://schemas.microsoft.com/office/drawing/2014/main" id="{FFA9F4EE-5D35-4579-B9B1-7261A1A908D6}"/>
              </a:ext>
            </a:extLst>
          </p:cNvPr>
          <p:cNvSpPr>
            <a:spLocks noGrp="1"/>
          </p:cNvSpPr>
          <p:nvPr>
            <p:ph idx="1"/>
          </p:nvPr>
        </p:nvSpPr>
        <p:spPr>
          <a:xfrm>
            <a:off x="1004341" y="933138"/>
            <a:ext cx="11002780" cy="5924862"/>
          </a:xfrm>
        </p:spPr>
        <p:txBody>
          <a:bodyPr>
            <a:normAutofit fontScale="92500" lnSpcReduction="10000"/>
          </a:bodyPr>
          <a:lstStyle/>
          <a:p>
            <a:pPr algn="l" fontAlgn="base">
              <a:buFont typeface="Arial" panose="020B0604020202020204" pitchFamily="34" charset="0"/>
              <a:buChar char="•"/>
            </a:pPr>
            <a:r>
              <a:rPr lang="fr-FR" sz="2800" b="0" i="0" dirty="0">
                <a:solidFill>
                  <a:srgbClr val="2E2B28"/>
                </a:solidFill>
                <a:effectLst/>
                <a:latin typeface="inherit"/>
              </a:rPr>
              <a:t>Si un compte utilisateur doit être bloqué, il faudra attendre que le jeton expire pour que le blocage soit effectif</a:t>
            </a:r>
          </a:p>
          <a:p>
            <a:pPr algn="l" fontAlgn="base">
              <a:buFont typeface="Arial" panose="020B0604020202020204" pitchFamily="34" charset="0"/>
              <a:buChar char="•"/>
            </a:pPr>
            <a:endParaRPr lang="fr-FR" sz="2800" b="0" i="0" dirty="0">
              <a:solidFill>
                <a:srgbClr val="2E2B28"/>
              </a:solidFill>
              <a:effectLst/>
              <a:latin typeface="inherit"/>
            </a:endParaRPr>
          </a:p>
          <a:p>
            <a:pPr algn="l" fontAlgn="base">
              <a:buFont typeface="Arial" panose="020B0604020202020204" pitchFamily="34" charset="0"/>
              <a:buChar char="•"/>
            </a:pPr>
            <a:r>
              <a:rPr lang="fr-FR" sz="2800" b="0" i="0" dirty="0">
                <a:solidFill>
                  <a:srgbClr val="2E2B28"/>
                </a:solidFill>
                <a:effectLst/>
                <a:latin typeface="inherit"/>
              </a:rPr>
              <a:t>Si un utilisateur veut changer son mot de passe (par exemple en cas de piratage de son compte) et si l’authentification a été effectuée juste avant, le jeton généré grâce à l’ancien mot de passe sera toujours valide jusqu’à expiration</a:t>
            </a:r>
          </a:p>
          <a:p>
            <a:pPr algn="l" fontAlgn="base">
              <a:buFont typeface="Arial" panose="020B0604020202020204" pitchFamily="34" charset="0"/>
              <a:buChar char="•"/>
            </a:pPr>
            <a:endParaRPr lang="fr-FR" sz="2800" b="0" i="0" dirty="0">
              <a:solidFill>
                <a:srgbClr val="2E2B28"/>
              </a:solidFill>
              <a:effectLst/>
              <a:latin typeface="inherit"/>
            </a:endParaRPr>
          </a:p>
          <a:p>
            <a:pPr algn="l" fontAlgn="base">
              <a:buFont typeface="Arial" panose="020B0604020202020204" pitchFamily="34" charset="0"/>
              <a:buChar char="•"/>
            </a:pPr>
            <a:r>
              <a:rPr lang="fr-FR" sz="2800" b="0" i="0" dirty="0">
                <a:solidFill>
                  <a:srgbClr val="2E2B28"/>
                </a:solidFill>
                <a:effectLst/>
                <a:latin typeface="inherit"/>
              </a:rPr>
              <a:t>Pas de </a:t>
            </a:r>
            <a:r>
              <a:rPr lang="fr-FR" sz="2800" b="0" i="0" dirty="0" err="1">
                <a:solidFill>
                  <a:srgbClr val="2E2B28"/>
                </a:solidFill>
                <a:effectLst/>
                <a:latin typeface="inherit"/>
              </a:rPr>
              <a:t>refresh</a:t>
            </a:r>
            <a:r>
              <a:rPr lang="fr-FR" sz="2800" b="0" i="0" dirty="0">
                <a:solidFill>
                  <a:srgbClr val="2E2B28"/>
                </a:solidFill>
                <a:effectLst/>
                <a:latin typeface="inherit"/>
              </a:rPr>
              <a:t> de jeton possible dans l’implémentation standard, ce qui veux dire que lorsque le jeton expire, l’utilisateur doit s’authentifier à nouveau</a:t>
            </a:r>
          </a:p>
          <a:p>
            <a:pPr algn="l" fontAlgn="base">
              <a:buFont typeface="Arial" panose="020B0604020202020204" pitchFamily="34" charset="0"/>
              <a:buChar char="•"/>
            </a:pPr>
            <a:endParaRPr lang="fr-FR" sz="2800" b="0" i="0" dirty="0">
              <a:solidFill>
                <a:srgbClr val="2E2B28"/>
              </a:solidFill>
              <a:effectLst/>
              <a:latin typeface="inherit"/>
            </a:endParaRPr>
          </a:p>
          <a:p>
            <a:pPr fontAlgn="base">
              <a:buFont typeface="Arial" panose="020B0604020202020204" pitchFamily="34" charset="0"/>
              <a:buChar char="•"/>
            </a:pPr>
            <a:r>
              <a:rPr lang="fr-FR" sz="2800" b="0" i="0" dirty="0">
                <a:solidFill>
                  <a:srgbClr val="2E2B28"/>
                </a:solidFill>
                <a:effectLst/>
                <a:latin typeface="inherit"/>
              </a:rPr>
              <a:t>Il n’est pas possible de détruire un jeton tout en respectant la notion de “</a:t>
            </a:r>
            <a:r>
              <a:rPr lang="fr-FR" sz="2800" b="0" i="0" dirty="0" err="1">
                <a:solidFill>
                  <a:srgbClr val="2E2B28"/>
                </a:solidFill>
                <a:effectLst/>
                <a:latin typeface="inherit"/>
              </a:rPr>
              <a:t>stateless</a:t>
            </a:r>
            <a:r>
              <a:rPr lang="fr-FR" sz="2800" b="0" i="0" dirty="0">
                <a:solidFill>
                  <a:srgbClr val="2E2B28"/>
                </a:solidFill>
                <a:effectLst/>
                <a:latin typeface="inherit"/>
              </a:rPr>
              <a:t>” des jetons JWT, car même si on supprime un jeton du navigateur, celui-ci est toujours valide jusqu’à expiration, donc pas de réelle déconnexion possible</a:t>
            </a:r>
          </a:p>
        </p:txBody>
      </p:sp>
    </p:spTree>
    <p:extLst>
      <p:ext uri="{BB962C8B-B14F-4D97-AF65-F5344CB8AC3E}">
        <p14:creationId xmlns:p14="http://schemas.microsoft.com/office/powerpoint/2010/main" val="157521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FA303-6567-411C-A82A-5FBD675111B4}"/>
              </a:ext>
            </a:extLst>
          </p:cNvPr>
          <p:cNvSpPr>
            <a:spLocks noGrp="1"/>
          </p:cNvSpPr>
          <p:nvPr>
            <p:ph type="title"/>
          </p:nvPr>
        </p:nvSpPr>
        <p:spPr/>
        <p:txBody>
          <a:bodyPr/>
          <a:lstStyle/>
          <a:p>
            <a:r>
              <a:rPr lang="fr-FR" dirty="0"/>
              <a:t>Processus</a:t>
            </a:r>
          </a:p>
        </p:txBody>
      </p:sp>
      <p:sp>
        <p:nvSpPr>
          <p:cNvPr id="3" name="Espace réservé du contenu 2">
            <a:extLst>
              <a:ext uri="{FF2B5EF4-FFF2-40B4-BE49-F238E27FC236}">
                <a16:creationId xmlns:a16="http://schemas.microsoft.com/office/drawing/2014/main" id="{17720146-3D41-4328-BE11-9ECD9F4FE4A6}"/>
              </a:ext>
            </a:extLst>
          </p:cNvPr>
          <p:cNvSpPr>
            <a:spLocks noGrp="1"/>
          </p:cNvSpPr>
          <p:nvPr>
            <p:ph idx="1"/>
          </p:nvPr>
        </p:nvSpPr>
        <p:spPr>
          <a:xfrm>
            <a:off x="1371599" y="2285999"/>
            <a:ext cx="10605541" cy="4429593"/>
          </a:xfrm>
        </p:spPr>
        <p:txBody>
          <a:bodyPr>
            <a:normAutofit fontScale="92500" lnSpcReduction="10000"/>
          </a:bodyPr>
          <a:lstStyle/>
          <a:p>
            <a:r>
              <a:rPr lang="fr-FR" sz="2800" b="0" i="0" dirty="0">
                <a:solidFill>
                  <a:srgbClr val="121C42"/>
                </a:solidFill>
                <a:effectLst/>
                <a:latin typeface="Inter"/>
              </a:rPr>
              <a:t>Lorsqu'un utilisateur se connecte à notre application, on génère et on associe un </a:t>
            </a:r>
            <a:r>
              <a:rPr lang="fr-FR" sz="2800" b="0" i="0" dirty="0" err="1">
                <a:solidFill>
                  <a:srgbClr val="121C42"/>
                </a:solidFill>
                <a:effectLst/>
                <a:latin typeface="Inter"/>
              </a:rPr>
              <a:t>token</a:t>
            </a:r>
            <a:r>
              <a:rPr lang="fr-FR" sz="2800" b="0" i="0" dirty="0">
                <a:solidFill>
                  <a:srgbClr val="121C42"/>
                </a:solidFill>
                <a:effectLst/>
                <a:latin typeface="Inter"/>
              </a:rPr>
              <a:t> à la session. Ce </a:t>
            </a:r>
            <a:r>
              <a:rPr lang="fr-FR" sz="2800" b="0" i="0" dirty="0" err="1">
                <a:solidFill>
                  <a:srgbClr val="121C42"/>
                </a:solidFill>
                <a:effectLst/>
                <a:latin typeface="Inter"/>
              </a:rPr>
              <a:t>token</a:t>
            </a:r>
            <a:r>
              <a:rPr lang="fr-FR" sz="2800" b="0" i="0" dirty="0">
                <a:solidFill>
                  <a:srgbClr val="121C42"/>
                </a:solidFill>
                <a:effectLst/>
                <a:latin typeface="Inter"/>
              </a:rPr>
              <a:t> sera utilisé par les autres composants de notre application et devra être vérifié par le serveur qui l'a généré. </a:t>
            </a:r>
          </a:p>
          <a:p>
            <a:endParaRPr lang="fr-FR" sz="2800" b="0" i="0" dirty="0">
              <a:solidFill>
                <a:srgbClr val="121C42"/>
              </a:solidFill>
              <a:effectLst/>
              <a:latin typeface="Inter"/>
            </a:endParaRPr>
          </a:p>
          <a:p>
            <a:r>
              <a:rPr lang="fr-FR" sz="2800" b="0" i="0" dirty="0">
                <a:solidFill>
                  <a:srgbClr val="121C42"/>
                </a:solidFill>
                <a:effectLst/>
                <a:latin typeface="Inter"/>
              </a:rPr>
              <a:t>Par exemple, si le serveur de </a:t>
            </a:r>
            <a:r>
              <a:rPr lang="fr-FR" sz="2800" b="0" i="0" dirty="0" err="1">
                <a:solidFill>
                  <a:srgbClr val="121C42"/>
                </a:solidFill>
                <a:effectLst/>
                <a:latin typeface="Inter"/>
              </a:rPr>
              <a:t>websocket</a:t>
            </a:r>
            <a:r>
              <a:rPr lang="fr-FR" sz="2800" b="0" i="0" dirty="0">
                <a:solidFill>
                  <a:srgbClr val="121C42"/>
                </a:solidFill>
                <a:effectLst/>
                <a:latin typeface="Inter"/>
              </a:rPr>
              <a:t> a besoin de récupérer des informations utilisateur, il devra interroger le serveur d'authentification pour obtenir les informations associées au </a:t>
            </a:r>
            <a:r>
              <a:rPr lang="fr-FR" sz="2800" b="0" i="0" dirty="0" err="1">
                <a:solidFill>
                  <a:srgbClr val="121C42"/>
                </a:solidFill>
                <a:effectLst/>
                <a:latin typeface="Inter"/>
              </a:rPr>
              <a:t>token</a:t>
            </a:r>
            <a:r>
              <a:rPr lang="fr-FR" sz="2800" b="0" i="0" dirty="0">
                <a:solidFill>
                  <a:srgbClr val="121C42"/>
                </a:solidFill>
                <a:effectLst/>
                <a:latin typeface="Inter"/>
              </a:rPr>
              <a:t> reçu. </a:t>
            </a:r>
          </a:p>
          <a:p>
            <a:endParaRPr lang="fr-FR" sz="2800" b="0" i="0" dirty="0">
              <a:solidFill>
                <a:srgbClr val="121C42"/>
              </a:solidFill>
              <a:effectLst/>
              <a:latin typeface="Inter"/>
            </a:endParaRPr>
          </a:p>
          <a:p>
            <a:r>
              <a:rPr lang="fr-FR" sz="2800" b="0" i="0" dirty="0">
                <a:solidFill>
                  <a:srgbClr val="121C42"/>
                </a:solidFill>
                <a:effectLst/>
                <a:latin typeface="Inter"/>
              </a:rPr>
              <a:t>Cette architecture présente donc comme principale faiblesse de centraliser la partie vérification sur le serveur d'authentification, ce qui peut poser des problèmes en terme de charge / performance.</a:t>
            </a:r>
            <a:endParaRPr lang="fr-FR" sz="2800" dirty="0"/>
          </a:p>
        </p:txBody>
      </p:sp>
    </p:spTree>
    <p:extLst>
      <p:ext uri="{BB962C8B-B14F-4D97-AF65-F5344CB8AC3E}">
        <p14:creationId xmlns:p14="http://schemas.microsoft.com/office/powerpoint/2010/main" val="29487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E9DC07-0237-40FA-82EC-FF81B8673152}"/>
              </a:ext>
            </a:extLst>
          </p:cNvPr>
          <p:cNvSpPr>
            <a:spLocks noGrp="1"/>
          </p:cNvSpPr>
          <p:nvPr>
            <p:ph type="title"/>
          </p:nvPr>
        </p:nvSpPr>
        <p:spPr/>
        <p:txBody>
          <a:bodyPr/>
          <a:lstStyle/>
          <a:p>
            <a:r>
              <a:rPr lang="fr-FR" b="1" i="0" dirty="0">
                <a:solidFill>
                  <a:srgbClr val="271A38"/>
                </a:solidFill>
                <a:effectLst/>
                <a:latin typeface="Inter"/>
              </a:rPr>
              <a:t>le stockage de mot de passe sécurisé</a:t>
            </a:r>
            <a:endParaRPr lang="fr-FR" dirty="0"/>
          </a:p>
        </p:txBody>
      </p:sp>
      <p:sp>
        <p:nvSpPr>
          <p:cNvPr id="3" name="Espace réservé du contenu 2">
            <a:extLst>
              <a:ext uri="{FF2B5EF4-FFF2-40B4-BE49-F238E27FC236}">
                <a16:creationId xmlns:a16="http://schemas.microsoft.com/office/drawing/2014/main" id="{9631221D-9FD2-4FE8-9AA7-76A14EA6291E}"/>
              </a:ext>
            </a:extLst>
          </p:cNvPr>
          <p:cNvSpPr>
            <a:spLocks noGrp="1"/>
          </p:cNvSpPr>
          <p:nvPr>
            <p:ph idx="1"/>
          </p:nvPr>
        </p:nvSpPr>
        <p:spPr/>
        <p:txBody>
          <a:bodyPr>
            <a:normAutofit/>
          </a:bodyPr>
          <a:lstStyle/>
          <a:p>
            <a:r>
              <a:rPr lang="fr-FR" sz="2800" b="0" i="0" dirty="0">
                <a:solidFill>
                  <a:srgbClr val="271A38"/>
                </a:solidFill>
                <a:effectLst/>
                <a:latin typeface="Inter"/>
              </a:rPr>
              <a:t>Dans les chapitres suivants, nous implémenterons l'authentification par e-mail et mot de passe pour notre API. </a:t>
            </a:r>
          </a:p>
          <a:p>
            <a:endParaRPr lang="fr-FR" sz="2800" b="0" i="0" dirty="0">
              <a:solidFill>
                <a:srgbClr val="271A38"/>
              </a:solidFill>
              <a:effectLst/>
              <a:latin typeface="Inter"/>
            </a:endParaRPr>
          </a:p>
          <a:p>
            <a:r>
              <a:rPr lang="fr-FR" sz="2800" b="0" i="0" dirty="0">
                <a:solidFill>
                  <a:srgbClr val="271A38"/>
                </a:solidFill>
                <a:effectLst/>
                <a:latin typeface="Inter"/>
              </a:rPr>
              <a:t>Cela implique de stocker des mots de passe utilisateur dans notre base de données d'une manière ou d'une autre. Ce que nous ne voulons certainement </a:t>
            </a:r>
            <a:r>
              <a:rPr lang="fr-FR" sz="2800" b="1" i="0" dirty="0">
                <a:solidFill>
                  <a:srgbClr val="271A38"/>
                </a:solidFill>
                <a:effectLst/>
                <a:latin typeface="Inter"/>
              </a:rPr>
              <a:t>pas</a:t>
            </a:r>
            <a:r>
              <a:rPr lang="fr-FR" sz="2800" b="0" i="0" dirty="0">
                <a:solidFill>
                  <a:srgbClr val="271A38"/>
                </a:solidFill>
                <a:effectLst/>
                <a:latin typeface="Inter"/>
              </a:rPr>
              <a:t> faire est de les stocker sous la forme de texte brut. À la place, nous stockerons le mot de passe de chaque utilisateur sous la forme d'un </a:t>
            </a:r>
            <a:r>
              <a:rPr lang="fr-FR" sz="2800" b="1" i="0" dirty="0">
                <a:solidFill>
                  <a:srgbClr val="271A38"/>
                </a:solidFill>
                <a:effectLst/>
                <a:latin typeface="Inter"/>
              </a:rPr>
              <a:t>hash</a:t>
            </a:r>
            <a:r>
              <a:rPr lang="fr-FR" sz="2800" b="0" i="0" dirty="0">
                <a:solidFill>
                  <a:srgbClr val="271A38"/>
                </a:solidFill>
                <a:effectLst/>
                <a:latin typeface="Inter"/>
              </a:rPr>
              <a:t> ou d'une chaîne chiffrée.</a:t>
            </a:r>
            <a:endParaRPr lang="fr-FR" sz="2800" dirty="0"/>
          </a:p>
        </p:txBody>
      </p:sp>
    </p:spTree>
    <p:extLst>
      <p:ext uri="{BB962C8B-B14F-4D97-AF65-F5344CB8AC3E}">
        <p14:creationId xmlns:p14="http://schemas.microsoft.com/office/powerpoint/2010/main" val="96722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E9DC07-0237-40FA-82EC-FF81B8673152}"/>
              </a:ext>
            </a:extLst>
          </p:cNvPr>
          <p:cNvSpPr>
            <a:spLocks noGrp="1"/>
          </p:cNvSpPr>
          <p:nvPr>
            <p:ph type="title"/>
          </p:nvPr>
        </p:nvSpPr>
        <p:spPr/>
        <p:txBody>
          <a:bodyPr/>
          <a:lstStyle/>
          <a:p>
            <a:r>
              <a:rPr lang="fr-FR" b="1" i="0" dirty="0">
                <a:solidFill>
                  <a:srgbClr val="271A38"/>
                </a:solidFill>
                <a:effectLst/>
                <a:latin typeface="Inter"/>
              </a:rPr>
              <a:t>le stockage de mot de passe sécurisé</a:t>
            </a:r>
            <a:endParaRPr lang="fr-FR" dirty="0"/>
          </a:p>
        </p:txBody>
      </p:sp>
      <p:sp>
        <p:nvSpPr>
          <p:cNvPr id="3" name="Espace réservé du contenu 2">
            <a:extLst>
              <a:ext uri="{FF2B5EF4-FFF2-40B4-BE49-F238E27FC236}">
                <a16:creationId xmlns:a16="http://schemas.microsoft.com/office/drawing/2014/main" id="{9631221D-9FD2-4FE8-9AA7-76A14EA6291E}"/>
              </a:ext>
            </a:extLst>
          </p:cNvPr>
          <p:cNvSpPr>
            <a:spLocks noGrp="1"/>
          </p:cNvSpPr>
          <p:nvPr>
            <p:ph idx="1"/>
          </p:nvPr>
        </p:nvSpPr>
        <p:spPr/>
        <p:txBody>
          <a:bodyPr>
            <a:normAutofit/>
          </a:bodyPr>
          <a:lstStyle/>
          <a:p>
            <a:r>
              <a:rPr lang="fr-FR" sz="2800" dirty="0"/>
              <a:t>Le package de chiffrement que nous utiliserons, </a:t>
            </a:r>
            <a:r>
              <a:rPr lang="fr-FR" sz="2800" dirty="0" err="1"/>
              <a:t>bcrypt</a:t>
            </a:r>
            <a:r>
              <a:rPr lang="fr-FR" sz="2800" dirty="0"/>
              <a:t> , utilise un algorithme unidirectionnel pour chiffrer et créer un hash des mots de passe utilisateur, que nous stockerons ensuite dans le document de la base de données relatif à chaque utilisateur.</a:t>
            </a:r>
          </a:p>
        </p:txBody>
      </p:sp>
    </p:spTree>
    <p:extLst>
      <p:ext uri="{BB962C8B-B14F-4D97-AF65-F5344CB8AC3E}">
        <p14:creationId xmlns:p14="http://schemas.microsoft.com/office/powerpoint/2010/main" val="2973445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FD5045-CE02-48B8-9FDA-EEA0399A9E2B}"/>
              </a:ext>
            </a:extLst>
          </p:cNvPr>
          <p:cNvSpPr>
            <a:spLocks noGrp="1"/>
          </p:cNvSpPr>
          <p:nvPr>
            <p:ph type="title"/>
          </p:nvPr>
        </p:nvSpPr>
        <p:spPr/>
        <p:txBody>
          <a:bodyPr>
            <a:normAutofit fontScale="90000"/>
          </a:bodyPr>
          <a:lstStyle/>
          <a:p>
            <a:r>
              <a:rPr lang="fr-FR" b="1" i="0" dirty="0">
                <a:effectLst/>
                <a:latin typeface="Roboto" panose="02000000000000000000" pitchFamily="2" charset="0"/>
              </a:rPr>
              <a:t>Qu'est-ce que le hachage de mot de passe ?</a:t>
            </a:r>
            <a:br>
              <a:rPr lang="fr-FR" b="1" i="0" dirty="0">
                <a:effectLst/>
                <a:latin typeface="Roboto" panose="02000000000000000000" pitchFamily="2" charset="0"/>
              </a:rPr>
            </a:br>
            <a:endParaRPr lang="fr-FR" dirty="0"/>
          </a:p>
        </p:txBody>
      </p:sp>
      <p:sp>
        <p:nvSpPr>
          <p:cNvPr id="3" name="Espace réservé du contenu 2">
            <a:extLst>
              <a:ext uri="{FF2B5EF4-FFF2-40B4-BE49-F238E27FC236}">
                <a16:creationId xmlns:a16="http://schemas.microsoft.com/office/drawing/2014/main" id="{3B768B89-B703-4256-BBF2-27A31012795D}"/>
              </a:ext>
            </a:extLst>
          </p:cNvPr>
          <p:cNvSpPr>
            <a:spLocks noGrp="1"/>
          </p:cNvSpPr>
          <p:nvPr>
            <p:ph idx="1"/>
          </p:nvPr>
        </p:nvSpPr>
        <p:spPr>
          <a:xfrm>
            <a:off x="1042737" y="1876926"/>
            <a:ext cx="10844463" cy="4844716"/>
          </a:xfrm>
        </p:spPr>
        <p:txBody>
          <a:bodyPr>
            <a:normAutofit/>
          </a:bodyPr>
          <a:lstStyle/>
          <a:p>
            <a:pPr algn="l"/>
            <a:r>
              <a:rPr lang="fr-FR" sz="2400" b="1" dirty="0">
                <a:solidFill>
                  <a:srgbClr val="BF0D0B"/>
                </a:solidFill>
                <a:latin typeface="Roboto" panose="02000000000000000000" pitchFamily="2" charset="0"/>
              </a:rPr>
              <a:t>hachage du mot de passe</a:t>
            </a:r>
            <a:r>
              <a:rPr lang="fr-FR" sz="2400" b="0" i="0" dirty="0">
                <a:solidFill>
                  <a:srgbClr val="2C2C2C"/>
                </a:solidFill>
                <a:effectLst/>
                <a:latin typeface="Roboto" panose="02000000000000000000" pitchFamily="2" charset="0"/>
              </a:rPr>
              <a:t> signifie passer un mot de passe en texte brut à travers un algorithme de hachage pour générer une valeur unique. Quelques exemples d'algorithmes de hachage sont </a:t>
            </a:r>
            <a:r>
              <a:rPr lang="fr-FR" sz="2400" b="0" i="0" dirty="0" err="1">
                <a:solidFill>
                  <a:srgbClr val="2C2C2C"/>
                </a:solidFill>
                <a:effectLst/>
                <a:latin typeface="Roboto" panose="02000000000000000000" pitchFamily="2" charset="0"/>
              </a:rPr>
              <a:t>bcrypt</a:t>
            </a:r>
            <a:r>
              <a:rPr lang="fr-FR" sz="2400" b="0" i="0" dirty="0">
                <a:solidFill>
                  <a:srgbClr val="2C2C2C"/>
                </a:solidFill>
                <a:effectLst/>
                <a:latin typeface="Roboto" panose="02000000000000000000" pitchFamily="2" charset="0"/>
              </a:rPr>
              <a:t>, </a:t>
            </a:r>
            <a:r>
              <a:rPr lang="fr-FR" sz="2400" b="0" i="0" dirty="0" err="1">
                <a:solidFill>
                  <a:srgbClr val="2C2C2C"/>
                </a:solidFill>
                <a:effectLst/>
                <a:latin typeface="Roboto" panose="02000000000000000000" pitchFamily="2" charset="0"/>
              </a:rPr>
              <a:t>scrypt</a:t>
            </a:r>
            <a:r>
              <a:rPr lang="fr-FR" sz="2400" b="0" i="0" dirty="0">
                <a:solidFill>
                  <a:srgbClr val="2C2C2C"/>
                </a:solidFill>
                <a:effectLst/>
                <a:latin typeface="Roboto" panose="02000000000000000000" pitchFamily="2" charset="0"/>
              </a:rPr>
              <a:t> et SHA. L'inconvénient du hachage est qu'il est prévisible.</a:t>
            </a:r>
          </a:p>
          <a:p>
            <a:pPr algn="l"/>
            <a:endParaRPr lang="fr-FR" sz="2400" b="0" i="0" dirty="0">
              <a:solidFill>
                <a:srgbClr val="2C2C2C"/>
              </a:solidFill>
              <a:effectLst/>
              <a:latin typeface="Roboto" panose="02000000000000000000" pitchFamily="2" charset="0"/>
            </a:endParaRPr>
          </a:p>
          <a:p>
            <a:pPr algn="l"/>
            <a:r>
              <a:rPr lang="fr-FR" sz="2400" b="0" i="0" dirty="0">
                <a:solidFill>
                  <a:srgbClr val="2C2C2C"/>
                </a:solidFill>
                <a:effectLst/>
                <a:latin typeface="Roboto" panose="02000000000000000000" pitchFamily="2" charset="0"/>
              </a:rPr>
              <a:t>Chaque fois que vous transmettez la même entrée à un algorithme de hachage, il générera la même sortie. Un pirate ayant accès au mot de passe haché peut désosser le cryptage pour obtenir le mot de passe d'origine. Ils peuvent utiliser des techniques telles que</a:t>
            </a:r>
            <a:r>
              <a:rPr lang="fr-FR" sz="2400" b="1" dirty="0">
                <a:solidFill>
                  <a:srgbClr val="BF0D0B"/>
                </a:solidFill>
                <a:latin typeface="Roboto" panose="02000000000000000000" pitchFamily="2" charset="0"/>
              </a:rPr>
              <a:t> attaques par force brute</a:t>
            </a:r>
            <a:r>
              <a:rPr lang="fr-FR" sz="2400" b="0" i="0" dirty="0">
                <a:solidFill>
                  <a:srgbClr val="2C2C2C"/>
                </a:solidFill>
                <a:effectLst/>
                <a:latin typeface="Roboto" panose="02000000000000000000" pitchFamily="2" charset="0"/>
              </a:rPr>
              <a:t> ou tables arc-en-ciel. C'est là que le salage entre en jeu.</a:t>
            </a:r>
          </a:p>
        </p:txBody>
      </p:sp>
    </p:spTree>
    <p:extLst>
      <p:ext uri="{BB962C8B-B14F-4D97-AF65-F5344CB8AC3E}">
        <p14:creationId xmlns:p14="http://schemas.microsoft.com/office/powerpoint/2010/main" val="3569562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F2EB42-79C1-444B-86C7-703D51EE8EFD}"/>
              </a:ext>
            </a:extLst>
          </p:cNvPr>
          <p:cNvSpPr>
            <a:spLocks noGrp="1"/>
          </p:cNvSpPr>
          <p:nvPr>
            <p:ph type="title"/>
          </p:nvPr>
        </p:nvSpPr>
        <p:spPr/>
        <p:txBody>
          <a:bodyPr>
            <a:normAutofit fontScale="90000"/>
          </a:bodyPr>
          <a:lstStyle/>
          <a:p>
            <a:r>
              <a:rPr lang="fr-FR" b="1" i="0" dirty="0">
                <a:effectLst/>
                <a:latin typeface="Roboto" panose="02000000000000000000" pitchFamily="2" charset="0"/>
              </a:rPr>
              <a:t>Qu'est-ce que le salage de mot de passe ?</a:t>
            </a:r>
            <a:br>
              <a:rPr lang="fr-FR" b="1" i="0" dirty="0">
                <a:effectLst/>
                <a:latin typeface="Roboto" panose="02000000000000000000" pitchFamily="2" charset="0"/>
              </a:rPr>
            </a:br>
            <a:endParaRPr lang="fr-FR" dirty="0"/>
          </a:p>
        </p:txBody>
      </p:sp>
      <p:sp>
        <p:nvSpPr>
          <p:cNvPr id="3" name="Espace réservé du contenu 2">
            <a:extLst>
              <a:ext uri="{FF2B5EF4-FFF2-40B4-BE49-F238E27FC236}">
                <a16:creationId xmlns:a16="http://schemas.microsoft.com/office/drawing/2014/main" id="{7ED3C9CC-F7FE-435F-819B-927CE3154761}"/>
              </a:ext>
            </a:extLst>
          </p:cNvPr>
          <p:cNvSpPr>
            <a:spLocks noGrp="1"/>
          </p:cNvSpPr>
          <p:nvPr>
            <p:ph idx="1"/>
          </p:nvPr>
        </p:nvSpPr>
        <p:spPr/>
        <p:txBody>
          <a:bodyPr>
            <a:normAutofit/>
          </a:bodyPr>
          <a:lstStyle/>
          <a:p>
            <a:pPr algn="l"/>
            <a:r>
              <a:rPr lang="fr-FR" sz="3200" b="1" dirty="0">
                <a:solidFill>
                  <a:srgbClr val="BF0D0B"/>
                </a:solidFill>
                <a:latin typeface="Roboto" panose="02000000000000000000" pitchFamily="2" charset="0"/>
              </a:rPr>
              <a:t>salage du mot de passe</a:t>
            </a:r>
            <a:r>
              <a:rPr lang="fr-FR" sz="3200" dirty="0">
                <a:solidFill>
                  <a:srgbClr val="2C2C2C"/>
                </a:solidFill>
                <a:latin typeface="Roboto" panose="02000000000000000000" pitchFamily="2" charset="0"/>
              </a:rPr>
              <a:t> </a:t>
            </a:r>
            <a:r>
              <a:rPr lang="fr-FR" sz="3200" b="0" i="0" dirty="0">
                <a:solidFill>
                  <a:srgbClr val="2C2C2C"/>
                </a:solidFill>
                <a:effectLst/>
                <a:latin typeface="Roboto" panose="02000000000000000000" pitchFamily="2" charset="0"/>
              </a:rPr>
              <a:t>ajoute une chaîne aléatoire le sel à un mot de passe avant de le hacher.</a:t>
            </a:r>
          </a:p>
          <a:p>
            <a:pPr marL="0" indent="0" algn="l">
              <a:buNone/>
            </a:pPr>
            <a:r>
              <a:rPr lang="fr-FR" sz="3200" b="0" i="0" dirty="0">
                <a:solidFill>
                  <a:srgbClr val="2C2C2C"/>
                </a:solidFill>
                <a:effectLst/>
                <a:latin typeface="Roboto" panose="02000000000000000000" pitchFamily="2" charset="0"/>
              </a:rPr>
              <a:t> </a:t>
            </a:r>
          </a:p>
          <a:p>
            <a:pPr algn="l"/>
            <a:r>
              <a:rPr lang="fr-FR" sz="3200" b="0" i="0" dirty="0">
                <a:solidFill>
                  <a:srgbClr val="2C2C2C"/>
                </a:solidFill>
                <a:effectLst/>
                <a:latin typeface="Roboto" panose="02000000000000000000" pitchFamily="2" charset="0"/>
              </a:rPr>
              <a:t>De cette façon, le hachage généré sera toujours différent à chaque fois. Même si un pirate obtient le mot de passe haché, il lui est impossible de découvrir le mot de passe original qui l'a généré.</a:t>
            </a:r>
          </a:p>
          <a:p>
            <a:endParaRPr lang="fr-FR" sz="3200" dirty="0"/>
          </a:p>
        </p:txBody>
      </p:sp>
    </p:spTree>
    <p:extLst>
      <p:ext uri="{BB962C8B-B14F-4D97-AF65-F5344CB8AC3E}">
        <p14:creationId xmlns:p14="http://schemas.microsoft.com/office/powerpoint/2010/main" val="2976806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4D53A1-B815-4953-B735-183301B79651}"/>
              </a:ext>
            </a:extLst>
          </p:cNvPr>
          <p:cNvSpPr>
            <a:spLocks noGrp="1"/>
          </p:cNvSpPr>
          <p:nvPr>
            <p:ph type="title"/>
          </p:nvPr>
        </p:nvSpPr>
        <p:spPr/>
        <p:txBody>
          <a:bodyPr>
            <a:normAutofit/>
          </a:bodyPr>
          <a:lstStyle/>
          <a:p>
            <a:r>
              <a:rPr lang="fr-FR" b="1" i="0" dirty="0">
                <a:effectLst/>
                <a:latin typeface="Roboto" panose="02000000000000000000" pitchFamily="2" charset="0"/>
              </a:rPr>
              <a:t>Comment utiliser </a:t>
            </a:r>
            <a:r>
              <a:rPr lang="fr-FR" b="1" i="0" dirty="0" err="1">
                <a:effectLst/>
                <a:latin typeface="Roboto" panose="02000000000000000000" pitchFamily="2" charset="0"/>
              </a:rPr>
              <a:t>bcrypt</a:t>
            </a:r>
            <a:r>
              <a:rPr lang="fr-FR" b="1" i="0" dirty="0">
                <a:effectLst/>
                <a:latin typeface="Roboto" panose="02000000000000000000" pitchFamily="2" charset="0"/>
              </a:rPr>
              <a:t> pour hacher et vérifier un mot de passe</a:t>
            </a:r>
            <a:endParaRPr lang="fr-FR" dirty="0"/>
          </a:p>
        </p:txBody>
      </p:sp>
      <p:sp>
        <p:nvSpPr>
          <p:cNvPr id="3" name="Espace réservé du contenu 2">
            <a:extLst>
              <a:ext uri="{FF2B5EF4-FFF2-40B4-BE49-F238E27FC236}">
                <a16:creationId xmlns:a16="http://schemas.microsoft.com/office/drawing/2014/main" id="{86E504D3-2D7A-4D6B-B955-5736CE6EBB62}"/>
              </a:ext>
            </a:extLst>
          </p:cNvPr>
          <p:cNvSpPr>
            <a:spLocks noGrp="1"/>
          </p:cNvSpPr>
          <p:nvPr>
            <p:ph idx="1"/>
          </p:nvPr>
        </p:nvSpPr>
        <p:spPr/>
        <p:txBody>
          <a:bodyPr>
            <a:normAutofit/>
          </a:bodyPr>
          <a:lstStyle/>
          <a:p>
            <a:pPr algn="l"/>
            <a:r>
              <a:rPr lang="fr-FR" sz="3200" b="1" dirty="0" err="1">
                <a:solidFill>
                  <a:srgbClr val="BF0D0B"/>
                </a:solidFill>
                <a:latin typeface="Roboto" panose="02000000000000000000" pitchFamily="2" charset="0"/>
              </a:rPr>
              <a:t>bcrypt</a:t>
            </a:r>
            <a:r>
              <a:rPr lang="fr-FR" sz="3200" b="0" i="0" dirty="0">
                <a:solidFill>
                  <a:srgbClr val="2C2C2C"/>
                </a:solidFill>
                <a:effectLst/>
                <a:latin typeface="Roboto" panose="02000000000000000000" pitchFamily="2" charset="0"/>
              </a:rPr>
              <a:t> est un module </a:t>
            </a:r>
            <a:r>
              <a:rPr lang="fr-FR" sz="3200" b="0" i="0" dirty="0" err="1">
                <a:solidFill>
                  <a:srgbClr val="2C2C2C"/>
                </a:solidFill>
                <a:effectLst/>
                <a:latin typeface="Roboto" panose="02000000000000000000" pitchFamily="2" charset="0"/>
              </a:rPr>
              <a:t>npm</a:t>
            </a:r>
            <a:r>
              <a:rPr lang="fr-FR" sz="3200" b="0" i="0" dirty="0">
                <a:solidFill>
                  <a:srgbClr val="2C2C2C"/>
                </a:solidFill>
                <a:effectLst/>
                <a:latin typeface="Roboto" panose="02000000000000000000" pitchFamily="2" charset="0"/>
              </a:rPr>
              <a:t> qui simplifie le salage et le hachage des mots de passe.</a:t>
            </a:r>
          </a:p>
          <a:p>
            <a:r>
              <a:rPr lang="fr-FR" sz="2800" b="0" i="0" dirty="0" err="1">
                <a:solidFill>
                  <a:srgbClr val="000000"/>
                </a:solidFill>
                <a:effectLst/>
                <a:latin typeface="Consolas" panose="020B0609020204030204" pitchFamily="49" charset="0"/>
              </a:rPr>
              <a:t>npm</a:t>
            </a:r>
            <a:r>
              <a:rPr lang="fr-FR" sz="2800" b="0" i="0" dirty="0">
                <a:solidFill>
                  <a:srgbClr val="000000"/>
                </a:solidFill>
                <a:effectLst/>
                <a:latin typeface="Consolas" panose="020B0609020204030204" pitchFamily="49" charset="0"/>
              </a:rPr>
              <a:t> </a:t>
            </a:r>
            <a:r>
              <a:rPr lang="fr-FR" sz="2800" b="0" i="0" dirty="0" err="1">
                <a:solidFill>
                  <a:srgbClr val="000088"/>
                </a:solidFill>
                <a:effectLst/>
                <a:latin typeface="Consolas" panose="020B0609020204030204" pitchFamily="49" charset="0"/>
              </a:rPr>
              <a:t>install</a:t>
            </a:r>
            <a:r>
              <a:rPr lang="fr-FR" sz="2800" b="0" i="0" dirty="0">
                <a:solidFill>
                  <a:srgbClr val="000000"/>
                </a:solidFill>
                <a:effectLst/>
                <a:latin typeface="Consolas" panose="020B0609020204030204" pitchFamily="49" charset="0"/>
              </a:rPr>
              <a:t> </a:t>
            </a:r>
            <a:r>
              <a:rPr lang="fr-FR" sz="2800" b="0" i="0" dirty="0" err="1">
                <a:solidFill>
                  <a:srgbClr val="000000"/>
                </a:solidFill>
                <a:effectLst/>
                <a:latin typeface="Consolas" panose="020B0609020204030204" pitchFamily="49" charset="0"/>
              </a:rPr>
              <a:t>bcrypt</a:t>
            </a:r>
            <a:endParaRPr lang="fr-FR" sz="3200" dirty="0"/>
          </a:p>
        </p:txBody>
      </p:sp>
    </p:spTree>
    <p:extLst>
      <p:ext uri="{BB962C8B-B14F-4D97-AF65-F5344CB8AC3E}">
        <p14:creationId xmlns:p14="http://schemas.microsoft.com/office/powerpoint/2010/main" val="3732207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CCD71F-72A0-4011-81E8-827FF2820428}"/>
              </a:ext>
            </a:extLst>
          </p:cNvPr>
          <p:cNvSpPr>
            <a:spLocks noGrp="1"/>
          </p:cNvSpPr>
          <p:nvPr>
            <p:ph type="title"/>
          </p:nvPr>
        </p:nvSpPr>
        <p:spPr>
          <a:xfrm>
            <a:off x="1371600" y="685800"/>
            <a:ext cx="9601200" cy="629433"/>
          </a:xfrm>
        </p:spPr>
        <p:txBody>
          <a:bodyPr>
            <a:normAutofit fontScale="90000"/>
          </a:bodyPr>
          <a:lstStyle/>
          <a:p>
            <a:r>
              <a:rPr lang="fr-FR" dirty="0"/>
              <a:t>REGISTER</a:t>
            </a:r>
          </a:p>
        </p:txBody>
      </p:sp>
      <p:sp>
        <p:nvSpPr>
          <p:cNvPr id="3" name="Espace réservé du contenu 2">
            <a:extLst>
              <a:ext uri="{FF2B5EF4-FFF2-40B4-BE49-F238E27FC236}">
                <a16:creationId xmlns:a16="http://schemas.microsoft.com/office/drawing/2014/main" id="{DC50840A-28AE-4604-9545-72F7D604F7E3}"/>
              </a:ext>
            </a:extLst>
          </p:cNvPr>
          <p:cNvSpPr>
            <a:spLocks noGrp="1"/>
          </p:cNvSpPr>
          <p:nvPr>
            <p:ph idx="1"/>
          </p:nvPr>
        </p:nvSpPr>
        <p:spPr>
          <a:xfrm>
            <a:off x="187378" y="1600043"/>
            <a:ext cx="10820400" cy="5348614"/>
          </a:xfrm>
        </p:spPr>
        <p:txBody>
          <a:bodyPr>
            <a:normAutofit/>
          </a:bodyPr>
          <a:lstStyle/>
          <a:p>
            <a:pPr marL="0" indent="0">
              <a:buNone/>
            </a:pPr>
            <a:r>
              <a:rPr lang="fr-FR" sz="2800" dirty="0"/>
              <a:t>Dans cette fonction :</a:t>
            </a:r>
          </a:p>
          <a:p>
            <a:r>
              <a:rPr lang="fr-FR" sz="2800" dirty="0"/>
              <a:t>Nous appelons la fonction de hachage de </a:t>
            </a:r>
            <a:r>
              <a:rPr lang="fr-FR" sz="2800" dirty="0" err="1"/>
              <a:t>bcrypt</a:t>
            </a:r>
            <a:r>
              <a:rPr lang="fr-FR" sz="2800" dirty="0"/>
              <a:t> dans notre mot de passe et lui demandons de « saler » le mot de passe 10 fois. Plus la valeur est élevée, plus l'exécution de la fonction sera longue, et plus le hachage sera sécurisé. </a:t>
            </a:r>
          </a:p>
          <a:p>
            <a:endParaRPr lang="fr-FR" sz="2800" dirty="0"/>
          </a:p>
          <a:p>
            <a:r>
              <a:rPr lang="fr-FR" sz="2800" dirty="0"/>
              <a:t>il s'agit d'une fonction asynchrone qui renvoie une Promise dans laquelle nous recevons le hash généré ;</a:t>
            </a:r>
          </a:p>
          <a:p>
            <a:endParaRPr lang="fr-FR" sz="2800" dirty="0"/>
          </a:p>
          <a:p>
            <a:r>
              <a:rPr lang="fr-FR" sz="2800" dirty="0"/>
              <a:t>dans notre bloc </a:t>
            </a:r>
            <a:r>
              <a:rPr lang="fr-FR" sz="2800" dirty="0" err="1"/>
              <a:t>then</a:t>
            </a:r>
            <a:r>
              <a:rPr lang="fr-FR" sz="2800" dirty="0"/>
              <a:t> , nous créons un utilisateur et l'enregistrons dans la base de données, en renvoyant une réponse de réussite en cas de succès, et des erreurs avec le code d'erreur en cas d'échec. </a:t>
            </a:r>
          </a:p>
          <a:p>
            <a:endParaRPr lang="fr-FR" sz="2800" dirty="0"/>
          </a:p>
        </p:txBody>
      </p:sp>
    </p:spTree>
    <p:extLst>
      <p:ext uri="{BB962C8B-B14F-4D97-AF65-F5344CB8AC3E}">
        <p14:creationId xmlns:p14="http://schemas.microsoft.com/office/powerpoint/2010/main" val="1262681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D61C32-AA25-4349-843E-FF0A2676CA12}"/>
              </a:ext>
            </a:extLst>
          </p:cNvPr>
          <p:cNvSpPr>
            <a:spLocks noGrp="1"/>
          </p:cNvSpPr>
          <p:nvPr>
            <p:ph type="title"/>
          </p:nvPr>
        </p:nvSpPr>
        <p:spPr/>
        <p:txBody>
          <a:bodyPr/>
          <a:lstStyle/>
          <a:p>
            <a:r>
              <a:rPr lang="fr-FR" dirty="0"/>
              <a:t>La fonction Post pour ajouter utilisateur</a:t>
            </a:r>
          </a:p>
        </p:txBody>
      </p:sp>
      <p:sp>
        <p:nvSpPr>
          <p:cNvPr id="3" name="Espace réservé du contenu 2">
            <a:extLst>
              <a:ext uri="{FF2B5EF4-FFF2-40B4-BE49-F238E27FC236}">
                <a16:creationId xmlns:a16="http://schemas.microsoft.com/office/drawing/2014/main" id="{51B2B10A-9739-4BDE-983F-D553AFD2EAED}"/>
              </a:ext>
            </a:extLst>
          </p:cNvPr>
          <p:cNvSpPr>
            <a:spLocks noGrp="1"/>
          </p:cNvSpPr>
          <p:nvPr>
            <p:ph idx="1"/>
          </p:nvPr>
        </p:nvSpPr>
        <p:spPr>
          <a:xfrm>
            <a:off x="1371599" y="1640910"/>
            <a:ext cx="10139819" cy="4809994"/>
          </a:xfrm>
        </p:spPr>
        <p:txBody>
          <a:bodyPr>
            <a:normAutofit/>
          </a:bodyPr>
          <a:lstStyle/>
          <a:p>
            <a:pPr marL="0" indent="0">
              <a:buNone/>
            </a:pPr>
            <a:r>
              <a:rPr lang="fr-FR" sz="2400" dirty="0"/>
              <a:t>Dans cette fonction :</a:t>
            </a:r>
          </a:p>
          <a:p>
            <a:r>
              <a:rPr lang="fr-FR" sz="2400" dirty="0"/>
              <a:t>Nous appelons la fonction de hachage de </a:t>
            </a:r>
            <a:r>
              <a:rPr lang="fr-FR" sz="2400" dirty="0" err="1"/>
              <a:t>bcrypt</a:t>
            </a:r>
            <a:r>
              <a:rPr lang="fr-FR" sz="2400" dirty="0"/>
              <a:t> dans notre mot de passe et lui demandons de « saler » le mot de passe 10 fois. Plus la valeur est élevée, plus l'exécution de la fonction sera longue, et plus le hachage sera sécurisé. </a:t>
            </a:r>
          </a:p>
          <a:p>
            <a:r>
              <a:rPr lang="fr-FR" sz="2400" dirty="0"/>
              <a:t>il s'agit d'une fonction asynchrone qui renvoie une Promise dans laquelle nous recevons le hash généré ;</a:t>
            </a:r>
          </a:p>
          <a:p>
            <a:endParaRPr lang="fr-FR" sz="2400" dirty="0"/>
          </a:p>
          <a:p>
            <a:r>
              <a:rPr lang="fr-FR" sz="2400" dirty="0"/>
              <a:t>dans notre bloc </a:t>
            </a:r>
            <a:r>
              <a:rPr lang="fr-FR" sz="2400" dirty="0" err="1"/>
              <a:t>then</a:t>
            </a:r>
            <a:r>
              <a:rPr lang="fr-FR" sz="2400" dirty="0"/>
              <a:t> , nous créons un utilisateur et l'enregistrons dans la base de données, en renvoyant une réponse de réussite en cas de succès, et des erreurs avec le code d'erreur en cas d'échec. </a:t>
            </a:r>
          </a:p>
        </p:txBody>
      </p:sp>
    </p:spTree>
    <p:extLst>
      <p:ext uri="{BB962C8B-B14F-4D97-AF65-F5344CB8AC3E}">
        <p14:creationId xmlns:p14="http://schemas.microsoft.com/office/powerpoint/2010/main" val="39833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A351A3-3598-4EC3-AD3B-E399FFC1E824}"/>
              </a:ext>
            </a:extLst>
          </p:cNvPr>
          <p:cNvSpPr>
            <a:spLocks noGrp="1"/>
          </p:cNvSpPr>
          <p:nvPr>
            <p:ph type="title"/>
          </p:nvPr>
        </p:nvSpPr>
        <p:spPr>
          <a:xfrm>
            <a:off x="838200" y="365126"/>
            <a:ext cx="10515600" cy="849078"/>
          </a:xfrm>
        </p:spPr>
        <p:txBody>
          <a:bodyPr/>
          <a:lstStyle/>
          <a:p>
            <a:r>
              <a:rPr lang="fr-FR" dirty="0"/>
              <a:t>Utilisation de </a:t>
            </a:r>
            <a:r>
              <a:rPr lang="fr-FR" dirty="0" err="1"/>
              <a:t>bcrypt</a:t>
            </a:r>
            <a:endParaRPr lang="fr-FR" dirty="0"/>
          </a:p>
        </p:txBody>
      </p:sp>
      <p:sp>
        <p:nvSpPr>
          <p:cNvPr id="5" name="ZoneTexte 4">
            <a:extLst>
              <a:ext uri="{FF2B5EF4-FFF2-40B4-BE49-F238E27FC236}">
                <a16:creationId xmlns:a16="http://schemas.microsoft.com/office/drawing/2014/main" id="{63EC911A-2899-48EE-A114-FB93252B8932}"/>
              </a:ext>
            </a:extLst>
          </p:cNvPr>
          <p:cNvSpPr txBox="1"/>
          <p:nvPr/>
        </p:nvSpPr>
        <p:spPr>
          <a:xfrm>
            <a:off x="435963" y="1988933"/>
            <a:ext cx="12125793" cy="4832092"/>
          </a:xfrm>
          <a:prstGeom prst="rect">
            <a:avLst/>
          </a:prstGeom>
          <a:noFill/>
        </p:spPr>
        <p:txBody>
          <a:bodyPr wrap="square">
            <a:spAutoFit/>
          </a:bodyPr>
          <a:lstStyle/>
          <a:p>
            <a:r>
              <a:rPr lang="fr-FR" sz="2800" b="0" dirty="0" err="1">
                <a:solidFill>
                  <a:srgbClr val="001080"/>
                </a:solidFill>
                <a:effectLst/>
                <a:latin typeface="Consolas" panose="020B0609020204030204" pitchFamily="49" charset="0"/>
              </a:rPr>
              <a:t>bcrypt</a:t>
            </a:r>
            <a:r>
              <a:rPr lang="fr-FR" sz="2800" b="0" dirty="0" err="1">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hash</a:t>
            </a:r>
            <a:r>
              <a:rPr lang="fr-FR" sz="2800" b="0" dirty="0">
                <a:solidFill>
                  <a:srgbClr val="000000"/>
                </a:solidFill>
                <a:effectLst/>
                <a:latin typeface="Consolas" panose="020B0609020204030204" pitchFamily="49" charset="0"/>
              </a:rPr>
              <a:t>(</a:t>
            </a:r>
            <a:r>
              <a:rPr lang="fr-FR" sz="2800" b="0" dirty="0" err="1">
                <a:solidFill>
                  <a:srgbClr val="001080"/>
                </a:solidFill>
                <a:effectLst/>
                <a:latin typeface="Consolas" panose="020B0609020204030204" pitchFamily="49" charset="0"/>
              </a:rPr>
              <a:t>mot_passe</a:t>
            </a:r>
            <a:r>
              <a:rPr lang="fr-FR" sz="2800" b="0" dirty="0">
                <a:solidFill>
                  <a:srgbClr val="000000"/>
                </a:solidFill>
                <a:effectLst/>
                <a:latin typeface="Consolas" panose="020B0609020204030204" pitchFamily="49" charset="0"/>
              </a:rPr>
              <a:t>, </a:t>
            </a:r>
            <a:r>
              <a:rPr lang="fr-FR" sz="2800" b="0" dirty="0">
                <a:solidFill>
                  <a:srgbClr val="098658"/>
                </a:solidFill>
                <a:effectLst/>
                <a:latin typeface="Consolas" panose="020B0609020204030204" pitchFamily="49" charset="0"/>
              </a:rPr>
              <a:t>10</a:t>
            </a:r>
            <a:r>
              <a:rPr lang="fr-FR" sz="2800" b="0" dirty="0">
                <a:solidFill>
                  <a:srgbClr val="000000"/>
                </a:solidFill>
                <a:effectLst/>
                <a:latin typeface="Consolas" panose="020B0609020204030204" pitchFamily="49" charset="0"/>
              </a:rPr>
              <a:t>, (</a:t>
            </a:r>
            <a:r>
              <a:rPr lang="fr-FR" sz="2800" b="0" dirty="0" err="1">
                <a:solidFill>
                  <a:srgbClr val="001080"/>
                </a:solidFill>
                <a:effectLst/>
                <a:latin typeface="Consolas" panose="020B0609020204030204" pitchFamily="49" charset="0"/>
              </a:rPr>
              <a:t>err</a:t>
            </a:r>
            <a:r>
              <a:rPr lang="fr-FR" sz="2800" b="0" dirty="0" err="1">
                <a:solidFill>
                  <a:srgbClr val="000000"/>
                </a:solidFill>
                <a:effectLst/>
                <a:latin typeface="Consolas" panose="020B0609020204030204" pitchFamily="49" charset="0"/>
              </a:rPr>
              <a:t>,</a:t>
            </a:r>
            <a:r>
              <a:rPr lang="fr-FR" sz="2800" dirty="0" err="1">
                <a:solidFill>
                  <a:srgbClr val="001080"/>
                </a:solidFill>
                <a:latin typeface="Consolas" panose="020B0609020204030204" pitchFamily="49" charset="0"/>
              </a:rPr>
              <a:t>mot_passe_</a:t>
            </a:r>
            <a:r>
              <a:rPr lang="fr-FR" sz="2800" b="0" dirty="0" err="1">
                <a:solidFill>
                  <a:srgbClr val="001080"/>
                </a:solidFill>
                <a:effectLst/>
                <a:latin typeface="Consolas" panose="020B0609020204030204" pitchFamily="49" charset="0"/>
              </a:rPr>
              <a:t>hash</a:t>
            </a:r>
            <a:r>
              <a:rPr lang="fr-FR" sz="2800" b="0" dirty="0">
                <a:solidFill>
                  <a:srgbClr val="000000"/>
                </a:solidFill>
                <a:effectLst/>
                <a:latin typeface="Consolas" panose="020B0609020204030204" pitchFamily="49" charset="0"/>
              </a:rPr>
              <a:t>)</a:t>
            </a:r>
            <a:r>
              <a:rPr lang="fr-FR" sz="2800" b="0" dirty="0">
                <a:solidFill>
                  <a:srgbClr val="0000FF"/>
                </a:solidFill>
                <a:effectLst/>
                <a:latin typeface="Consolas" panose="020B0609020204030204" pitchFamily="49" charset="0"/>
              </a:rPr>
              <a:t>=&gt;</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a:t>
            </a:r>
            <a:r>
              <a:rPr lang="fr-FR" sz="2800" b="0" dirty="0">
                <a:solidFill>
                  <a:srgbClr val="AF00DB"/>
                </a:solidFill>
                <a:effectLst/>
                <a:latin typeface="Consolas" panose="020B0609020204030204" pitchFamily="49" charset="0"/>
              </a:rPr>
              <a:t>if</a:t>
            </a:r>
            <a:r>
              <a:rPr lang="fr-FR" sz="2800" b="0" dirty="0">
                <a:solidFill>
                  <a:srgbClr val="000000"/>
                </a:solidFill>
                <a:effectLst/>
                <a:latin typeface="Consolas" panose="020B0609020204030204" pitchFamily="49" charset="0"/>
              </a:rPr>
              <a:t> (</a:t>
            </a:r>
            <a:r>
              <a:rPr lang="fr-FR" sz="2800" b="0" dirty="0" err="1">
                <a:solidFill>
                  <a:srgbClr val="001080"/>
                </a:solidFill>
                <a:effectLst/>
                <a:latin typeface="Consolas" panose="020B0609020204030204" pitchFamily="49" charset="0"/>
              </a:rPr>
              <a:t>err</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a:t>
            </a:r>
            <a:r>
              <a:rPr lang="fr-FR" sz="2800" b="0" dirty="0">
                <a:solidFill>
                  <a:srgbClr val="AF00DB"/>
                </a:solidFill>
                <a:effectLst/>
                <a:latin typeface="Consolas" panose="020B0609020204030204" pitchFamily="49" charset="0"/>
              </a:rPr>
              <a:t>return</a:t>
            </a:r>
            <a:r>
              <a:rPr lang="fr-FR" sz="2800" b="0" dirty="0">
                <a:solidFill>
                  <a:srgbClr val="000000"/>
                </a:solidFill>
                <a:effectLst/>
                <a:latin typeface="Consolas" panose="020B0609020204030204" pitchFamily="49" charset="0"/>
              </a:rPr>
              <a:t> </a:t>
            </a:r>
            <a:r>
              <a:rPr lang="fr-FR" sz="2800" b="0" dirty="0" err="1">
                <a:solidFill>
                  <a:srgbClr val="001080"/>
                </a:solidFill>
                <a:effectLst/>
                <a:latin typeface="Consolas" panose="020B0609020204030204" pitchFamily="49" charset="0"/>
              </a:rPr>
              <a:t>res</a:t>
            </a:r>
            <a:r>
              <a:rPr lang="fr-FR" sz="2800" b="0" dirty="0" err="1">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status</a:t>
            </a:r>
            <a:r>
              <a:rPr lang="fr-FR" sz="2800" b="0" dirty="0">
                <a:solidFill>
                  <a:srgbClr val="000000"/>
                </a:solidFill>
                <a:effectLst/>
                <a:latin typeface="Consolas" panose="020B0609020204030204" pitchFamily="49" charset="0"/>
              </a:rPr>
              <a:t>(</a:t>
            </a:r>
            <a:r>
              <a:rPr lang="fr-FR" sz="2800" b="0" dirty="0">
                <a:solidFill>
                  <a:srgbClr val="098658"/>
                </a:solidFill>
                <a:effectLst/>
                <a:latin typeface="Consolas" panose="020B0609020204030204" pitchFamily="49" charset="0"/>
              </a:rPr>
              <a:t>500</a:t>
            </a:r>
            <a:r>
              <a:rPr lang="fr-FR" sz="2800" b="0" dirty="0">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json</a:t>
            </a:r>
            <a:r>
              <a:rPr lang="fr-FR" sz="2800" b="0" dirty="0">
                <a:solidFill>
                  <a:srgbClr val="000000"/>
                </a:solidFill>
                <a:effectLst/>
                <a:latin typeface="Consolas" panose="020B0609020204030204" pitchFamily="49" charset="0"/>
              </a:rPr>
              <a:t>({</a:t>
            </a:r>
            <a:r>
              <a:rPr lang="fr-FR" sz="2800" b="0" dirty="0" err="1">
                <a:solidFill>
                  <a:srgbClr val="001080"/>
                </a:solidFill>
                <a:effectLst/>
                <a:latin typeface="Consolas" panose="020B0609020204030204" pitchFamily="49" charset="0"/>
              </a:rPr>
              <a:t>error:err</a:t>
            </a:r>
            <a:r>
              <a:rPr lang="fr-FR" sz="2800" b="0" dirty="0">
                <a:solidFill>
                  <a:srgbClr val="000000"/>
                </a:solidFill>
                <a:effectLst/>
                <a:latin typeface="Consolas" panose="020B0609020204030204" pitchFamily="49" charset="0"/>
              </a:rPr>
              <a:t>});</a:t>
            </a:r>
          </a:p>
          <a:p>
            <a:r>
              <a:rPr lang="fr-FR" sz="2800" b="0" dirty="0">
                <a:solidFill>
                  <a:srgbClr val="000000"/>
                </a:solidFill>
                <a:effectLst/>
                <a:latin typeface="Consolas" panose="020B0609020204030204" pitchFamily="49" charset="0"/>
              </a:rPr>
              <a:t>            }</a:t>
            </a:r>
            <a:r>
              <a:rPr lang="fr-FR" sz="2800" b="0" dirty="0" err="1">
                <a:solidFill>
                  <a:srgbClr val="AF00DB"/>
                </a:solidFill>
                <a:effectLst/>
                <a:latin typeface="Consolas" panose="020B0609020204030204" pitchFamily="49" charset="0"/>
              </a:rPr>
              <a:t>else</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console.log(</a:t>
            </a:r>
            <a:r>
              <a:rPr lang="fr-FR" sz="2800" dirty="0" err="1">
                <a:solidFill>
                  <a:srgbClr val="001080"/>
                </a:solidFill>
                <a:latin typeface="Consolas" panose="020B0609020204030204" pitchFamily="49" charset="0"/>
              </a:rPr>
              <a:t>mot_passe_</a:t>
            </a:r>
            <a:r>
              <a:rPr lang="fr-FR" sz="2800" b="0" dirty="0" err="1">
                <a:solidFill>
                  <a:srgbClr val="001080"/>
                </a:solidFill>
                <a:effectLst/>
                <a:latin typeface="Consolas" panose="020B0609020204030204" pitchFamily="49" charset="0"/>
              </a:rPr>
              <a:t>hash</a:t>
            </a:r>
            <a:r>
              <a:rPr lang="fr-FR" sz="2800" b="0" dirty="0">
                <a:solidFill>
                  <a:srgbClr val="000000"/>
                </a:solidFill>
                <a:effectLst/>
                <a:latin typeface="Consolas" panose="020B0609020204030204" pitchFamily="49" charset="0"/>
              </a:rPr>
              <a:t>)   </a:t>
            </a:r>
          </a:p>
          <a:p>
            <a:r>
              <a:rPr lang="fr-FR" sz="2800" dirty="0">
                <a:solidFill>
                  <a:srgbClr val="000000"/>
                </a:solidFill>
                <a:latin typeface="Consolas" panose="020B0609020204030204" pitchFamily="49" charset="0"/>
              </a:rPr>
              <a:t>              //</a:t>
            </a:r>
            <a:r>
              <a:rPr lang="fr-FR" sz="2800" b="0" dirty="0">
                <a:solidFill>
                  <a:srgbClr val="000000"/>
                </a:solidFill>
                <a:effectLst/>
                <a:latin typeface="Consolas" panose="020B0609020204030204" pitchFamily="49" charset="0"/>
              </a:rPr>
              <a:t> Création de </a:t>
            </a:r>
            <a:r>
              <a:rPr lang="fr-FR" sz="2800" b="0" dirty="0" err="1">
                <a:solidFill>
                  <a:srgbClr val="000000"/>
                </a:solidFill>
                <a:effectLst/>
                <a:latin typeface="Consolas" panose="020B0609020204030204" pitchFamily="49" charset="0"/>
              </a:rPr>
              <a:t>newUser</a:t>
            </a:r>
            <a:endParaRPr lang="fr-FR" sz="2800" b="0" dirty="0">
              <a:solidFill>
                <a:srgbClr val="000000"/>
              </a:solidFill>
              <a:effectLst/>
              <a:latin typeface="Consolas" panose="020B0609020204030204" pitchFamily="49" charset="0"/>
            </a:endParaRPr>
          </a:p>
          <a:p>
            <a:r>
              <a:rPr lang="fr-FR" sz="2800" dirty="0">
                <a:solidFill>
                  <a:srgbClr val="000000"/>
                </a:solidFill>
                <a:latin typeface="Consolas" panose="020B0609020204030204" pitchFamily="49" charset="0"/>
              </a:rPr>
              <a:t>              //Appel de la méthode </a:t>
            </a:r>
            <a:r>
              <a:rPr lang="fr-FR" sz="2800" dirty="0" err="1">
                <a:solidFill>
                  <a:srgbClr val="000000"/>
                </a:solidFill>
                <a:latin typeface="Consolas" panose="020B0609020204030204" pitchFamily="49" charset="0"/>
              </a:rPr>
              <a:t>save</a:t>
            </a:r>
            <a:r>
              <a:rPr lang="fr-FR" sz="2800" dirty="0">
                <a:solidFill>
                  <a:srgbClr val="000000"/>
                </a:solidFill>
                <a:latin typeface="Consolas" panose="020B0609020204030204" pitchFamily="49" charset="0"/>
              </a:rPr>
              <a:t>()</a:t>
            </a:r>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950817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A351A3-3598-4EC3-AD3B-E399FFC1E824}"/>
              </a:ext>
            </a:extLst>
          </p:cNvPr>
          <p:cNvSpPr>
            <a:spLocks noGrp="1"/>
          </p:cNvSpPr>
          <p:nvPr>
            <p:ph type="title"/>
          </p:nvPr>
        </p:nvSpPr>
        <p:spPr>
          <a:xfrm>
            <a:off x="838200" y="305166"/>
            <a:ext cx="10515600" cy="849078"/>
          </a:xfrm>
        </p:spPr>
        <p:txBody>
          <a:bodyPr/>
          <a:lstStyle/>
          <a:p>
            <a:r>
              <a:rPr lang="fr-FR" dirty="0"/>
              <a:t>Utilisation de </a:t>
            </a:r>
            <a:r>
              <a:rPr lang="fr-FR" dirty="0" err="1"/>
              <a:t>bcrypt</a:t>
            </a:r>
            <a:endParaRPr lang="fr-FR" dirty="0"/>
          </a:p>
        </p:txBody>
      </p:sp>
      <p:sp>
        <p:nvSpPr>
          <p:cNvPr id="7" name="ZoneTexte 6">
            <a:extLst>
              <a:ext uri="{FF2B5EF4-FFF2-40B4-BE49-F238E27FC236}">
                <a16:creationId xmlns:a16="http://schemas.microsoft.com/office/drawing/2014/main" id="{866EB79C-1A82-4481-8FAA-7C6ACB7B596B}"/>
              </a:ext>
            </a:extLst>
          </p:cNvPr>
          <p:cNvSpPr txBox="1"/>
          <p:nvPr/>
        </p:nvSpPr>
        <p:spPr>
          <a:xfrm>
            <a:off x="0" y="1859709"/>
            <a:ext cx="12192000" cy="4401205"/>
          </a:xfrm>
          <a:prstGeom prst="rect">
            <a:avLst/>
          </a:prstGeom>
          <a:noFill/>
        </p:spPr>
        <p:txBody>
          <a:bodyPr wrap="square">
            <a:spAutoFit/>
          </a:bodyPr>
          <a:lstStyle/>
          <a:p>
            <a:r>
              <a:rPr lang="fr-FR" sz="2800" b="0" dirty="0" err="1">
                <a:solidFill>
                  <a:srgbClr val="001080"/>
                </a:solidFill>
                <a:effectLst/>
                <a:latin typeface="Consolas" panose="020B0609020204030204" pitchFamily="49" charset="0"/>
              </a:rPr>
              <a:t>bcrypt</a:t>
            </a:r>
            <a:r>
              <a:rPr lang="fr-FR" sz="2800" b="0" dirty="0" err="1">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compare</a:t>
            </a:r>
            <a:r>
              <a:rPr lang="fr-FR" sz="2800" b="0" dirty="0">
                <a:solidFill>
                  <a:srgbClr val="000000"/>
                </a:solidFill>
                <a:effectLst/>
                <a:latin typeface="Consolas" panose="020B0609020204030204" pitchFamily="49" charset="0"/>
              </a:rPr>
              <a:t>(</a:t>
            </a:r>
            <a:r>
              <a:rPr lang="fr-FR" sz="2800" b="0" dirty="0" err="1">
                <a:solidFill>
                  <a:srgbClr val="0070C1"/>
                </a:solidFill>
                <a:effectLst/>
                <a:latin typeface="Consolas" panose="020B0609020204030204" pitchFamily="49" charset="0"/>
              </a:rPr>
              <a:t>mot_passe_saisi</a:t>
            </a:r>
            <a:r>
              <a:rPr lang="fr-FR" sz="2800" b="0" dirty="0" err="1">
                <a:solidFill>
                  <a:srgbClr val="000000"/>
                </a:solidFill>
                <a:effectLst/>
                <a:latin typeface="Consolas" panose="020B0609020204030204" pitchFamily="49" charset="0"/>
              </a:rPr>
              <a:t>,pwd_stocke</a:t>
            </a:r>
            <a:r>
              <a:rPr lang="fr-FR" sz="2800" b="0" dirty="0">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then</a:t>
            </a:r>
            <a:r>
              <a:rPr lang="fr-FR" sz="2800" b="0" dirty="0">
                <a:solidFill>
                  <a:srgbClr val="000000"/>
                </a:solidFill>
                <a:effectLst/>
                <a:latin typeface="Consolas" panose="020B0609020204030204" pitchFamily="49" charset="0"/>
              </a:rPr>
              <a:t>(</a:t>
            </a:r>
            <a:r>
              <a:rPr lang="fr-FR" sz="2800" b="0" dirty="0" err="1">
                <a:solidFill>
                  <a:srgbClr val="001080"/>
                </a:solidFill>
                <a:effectLst/>
                <a:latin typeface="Consolas" panose="020B0609020204030204" pitchFamily="49" charset="0"/>
              </a:rPr>
              <a:t>resultat</a:t>
            </a:r>
            <a:r>
              <a:rPr lang="fr-FR" sz="2800" b="0" dirty="0">
                <a:solidFill>
                  <a:srgbClr val="0000FF"/>
                </a:solidFill>
                <a:effectLst/>
                <a:latin typeface="Consolas" panose="020B0609020204030204" pitchFamily="49" charset="0"/>
              </a:rPr>
              <a:t>=&gt;</a:t>
            </a:r>
            <a:r>
              <a:rPr lang="fr-FR" sz="2800" b="0" dirty="0">
                <a:solidFill>
                  <a:srgbClr val="000000"/>
                </a:solidFill>
                <a:effectLst/>
                <a:latin typeface="Consolas" panose="020B0609020204030204" pitchFamily="49" charset="0"/>
              </a:rPr>
              <a:t>{</a:t>
            </a:r>
          </a:p>
          <a:p>
            <a:r>
              <a:rPr lang="fr-FR" sz="2800" b="0" dirty="0">
                <a:solidFill>
                  <a:srgbClr val="000000"/>
                </a:solidFill>
                <a:effectLst/>
                <a:latin typeface="Consolas" panose="020B0609020204030204" pitchFamily="49" charset="0"/>
              </a:rPr>
              <a:t>     </a:t>
            </a:r>
            <a:r>
              <a:rPr lang="fr-FR" sz="2800" b="0" dirty="0">
                <a:solidFill>
                  <a:srgbClr val="AF00DB"/>
                </a:solidFill>
                <a:effectLst/>
                <a:latin typeface="Consolas" panose="020B0609020204030204" pitchFamily="49" charset="0"/>
              </a:rPr>
              <a:t>if</a:t>
            </a:r>
            <a:r>
              <a:rPr lang="fr-FR" sz="2800" b="0" dirty="0">
                <a:solidFill>
                  <a:srgbClr val="000000"/>
                </a:solidFill>
                <a:effectLst/>
                <a:latin typeface="Consolas" panose="020B0609020204030204" pitchFamily="49" charset="0"/>
              </a:rPr>
              <a:t>(!</a:t>
            </a:r>
            <a:r>
              <a:rPr lang="fr-FR" sz="2800" b="0" dirty="0" err="1">
                <a:solidFill>
                  <a:srgbClr val="001080"/>
                </a:solidFill>
                <a:effectLst/>
                <a:latin typeface="Consolas" panose="020B0609020204030204" pitchFamily="49" charset="0"/>
              </a:rPr>
              <a:t>resultat</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a:t>
            </a:r>
            <a:r>
              <a:rPr lang="fr-FR" sz="2800" dirty="0">
                <a:solidFill>
                  <a:srgbClr val="AF00DB"/>
                </a:solidFill>
                <a:latin typeface="Consolas" panose="020B0609020204030204" pitchFamily="49" charset="0"/>
              </a:rPr>
              <a:t>   </a:t>
            </a:r>
            <a:r>
              <a:rPr lang="fr-FR" sz="2800" b="0" dirty="0" err="1">
                <a:solidFill>
                  <a:srgbClr val="001080"/>
                </a:solidFill>
                <a:effectLst/>
                <a:latin typeface="Consolas" panose="020B0609020204030204" pitchFamily="49" charset="0"/>
              </a:rPr>
              <a:t>res</a:t>
            </a:r>
            <a:r>
              <a:rPr lang="fr-FR" sz="2800" b="0" dirty="0" err="1">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status</a:t>
            </a:r>
            <a:r>
              <a:rPr lang="fr-FR" sz="2800" b="0" dirty="0">
                <a:solidFill>
                  <a:srgbClr val="000000"/>
                </a:solidFill>
                <a:effectLst/>
                <a:latin typeface="Consolas" panose="020B0609020204030204" pitchFamily="49" charset="0"/>
              </a:rPr>
              <a:t>(</a:t>
            </a:r>
            <a:r>
              <a:rPr lang="fr-FR" sz="2800" b="0" dirty="0">
                <a:solidFill>
                  <a:srgbClr val="098658"/>
                </a:solidFill>
                <a:effectLst/>
                <a:latin typeface="Consolas" panose="020B0609020204030204" pitchFamily="49" charset="0"/>
              </a:rPr>
              <a:t>400</a:t>
            </a:r>
            <a:r>
              <a:rPr lang="fr-FR" sz="2800" b="0" dirty="0">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json</a:t>
            </a:r>
            <a:r>
              <a:rPr lang="fr-FR" sz="2800" b="0" dirty="0">
                <a:solidFill>
                  <a:srgbClr val="000000"/>
                </a:solidFill>
                <a:effectLst/>
                <a:latin typeface="Consolas" panose="020B0609020204030204" pitchFamily="49" charset="0"/>
              </a:rPr>
              <a:t>({</a:t>
            </a:r>
            <a:r>
              <a:rPr lang="fr-FR" sz="2800" b="0" dirty="0">
                <a:solidFill>
                  <a:srgbClr val="001080"/>
                </a:solidFill>
                <a:effectLst/>
                <a:latin typeface="Consolas" panose="020B0609020204030204" pitchFamily="49" charset="0"/>
              </a:rPr>
              <a:t>message:</a:t>
            </a:r>
            <a:r>
              <a:rPr lang="fr-FR" sz="2800" b="0" dirty="0">
                <a:solidFill>
                  <a:srgbClr val="A31515"/>
                </a:solidFill>
                <a:effectLst/>
                <a:latin typeface="Consolas" panose="020B0609020204030204" pitchFamily="49" charset="0"/>
              </a:rPr>
              <a:t>"</a:t>
            </a:r>
            <a:r>
              <a:rPr lang="fr-FR" sz="2800" dirty="0" err="1">
                <a:solidFill>
                  <a:srgbClr val="A31515"/>
                </a:solidFill>
                <a:latin typeface="Consolas" panose="020B0609020204030204" pitchFamily="49" charset="0"/>
              </a:rPr>
              <a:t>Pwd</a:t>
            </a:r>
            <a:r>
              <a:rPr lang="fr-FR" sz="2800" b="0" dirty="0">
                <a:solidFill>
                  <a:srgbClr val="A31515"/>
                </a:solidFill>
                <a:effectLst/>
                <a:latin typeface="Consolas" panose="020B0609020204030204" pitchFamily="49" charset="0"/>
              </a:rPr>
              <a:t> incorrect"</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b="0" dirty="0">
                <a:solidFill>
                  <a:srgbClr val="000000"/>
                </a:solidFill>
                <a:effectLst/>
                <a:latin typeface="Consolas" panose="020B0609020204030204" pitchFamily="49" charset="0"/>
              </a:rPr>
              <a:t>      }</a:t>
            </a:r>
            <a:r>
              <a:rPr lang="fr-FR" sz="2800" b="0" dirty="0" err="1">
                <a:solidFill>
                  <a:srgbClr val="AF00DB"/>
                </a:solidFill>
                <a:effectLst/>
                <a:latin typeface="Consolas" panose="020B0609020204030204" pitchFamily="49" charset="0"/>
              </a:rPr>
              <a:t>else</a:t>
            </a:r>
            <a:r>
              <a:rPr lang="fr-FR" sz="2800" b="0" dirty="0">
                <a:solidFill>
                  <a:srgbClr val="000000"/>
                </a:solidFill>
                <a:effectLst/>
                <a:latin typeface="Consolas" panose="020B0609020204030204" pitchFamily="49" charset="0"/>
              </a:rPr>
              <a:t>{</a:t>
            </a:r>
          </a:p>
          <a:p>
            <a:endParaRPr lang="fr-FR" sz="2800" b="0" dirty="0">
              <a:solidFill>
                <a:srgbClr val="000000"/>
              </a:solidFill>
              <a:effectLst/>
              <a:latin typeface="Consolas" panose="020B0609020204030204" pitchFamily="49" charset="0"/>
            </a:endParaRPr>
          </a:p>
          <a:p>
            <a:r>
              <a:rPr lang="fr-FR" sz="2800" dirty="0">
                <a:solidFill>
                  <a:srgbClr val="AF00DB"/>
                </a:solidFill>
                <a:latin typeface="Consolas" panose="020B0609020204030204" pitchFamily="49" charset="0"/>
              </a:rPr>
              <a:t>       	</a:t>
            </a:r>
            <a:r>
              <a:rPr lang="fr-FR" sz="2800" b="0" dirty="0" err="1">
                <a:solidFill>
                  <a:srgbClr val="001080"/>
                </a:solidFill>
                <a:effectLst/>
                <a:latin typeface="Consolas" panose="020B0609020204030204" pitchFamily="49" charset="0"/>
              </a:rPr>
              <a:t>res</a:t>
            </a:r>
            <a:r>
              <a:rPr lang="fr-FR" sz="2800" b="0" dirty="0" err="1">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status</a:t>
            </a:r>
            <a:r>
              <a:rPr lang="fr-FR" sz="2800" b="0" dirty="0">
                <a:solidFill>
                  <a:srgbClr val="000000"/>
                </a:solidFill>
                <a:effectLst/>
                <a:latin typeface="Consolas" panose="020B0609020204030204" pitchFamily="49" charset="0"/>
              </a:rPr>
              <a:t>(</a:t>
            </a:r>
            <a:r>
              <a:rPr lang="fr-FR" sz="2800" dirty="0">
                <a:solidFill>
                  <a:srgbClr val="098658"/>
                </a:solidFill>
                <a:latin typeface="Consolas" panose="020B0609020204030204" pitchFamily="49" charset="0"/>
              </a:rPr>
              <a:t>2</a:t>
            </a:r>
            <a:r>
              <a:rPr lang="fr-FR" sz="2800" b="0" dirty="0">
                <a:solidFill>
                  <a:srgbClr val="098658"/>
                </a:solidFill>
                <a:effectLst/>
                <a:latin typeface="Consolas" panose="020B0609020204030204" pitchFamily="49" charset="0"/>
              </a:rPr>
              <a:t>00</a:t>
            </a:r>
            <a:r>
              <a:rPr lang="fr-FR" sz="2800" b="0" dirty="0">
                <a:solidFill>
                  <a:srgbClr val="000000"/>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json</a:t>
            </a:r>
            <a:r>
              <a:rPr lang="fr-FR" sz="2800" b="0" dirty="0">
                <a:solidFill>
                  <a:srgbClr val="000000"/>
                </a:solidFill>
                <a:effectLst/>
                <a:latin typeface="Consolas" panose="020B0609020204030204" pitchFamily="49" charset="0"/>
              </a:rPr>
              <a:t>({</a:t>
            </a:r>
            <a:r>
              <a:rPr lang="fr-FR" sz="2800" b="0" dirty="0">
                <a:solidFill>
                  <a:srgbClr val="001080"/>
                </a:solidFill>
                <a:effectLst/>
                <a:latin typeface="Consolas" panose="020B0609020204030204" pitchFamily="49" charset="0"/>
              </a:rPr>
              <a:t>message:</a:t>
            </a:r>
            <a:r>
              <a:rPr lang="fr-FR" sz="2800" b="0" dirty="0">
                <a:solidFill>
                  <a:srgbClr val="A31515"/>
                </a:solidFill>
                <a:effectLst/>
                <a:latin typeface="Consolas" panose="020B0609020204030204" pitchFamily="49" charset="0"/>
              </a:rPr>
              <a:t>"</a:t>
            </a:r>
            <a:r>
              <a:rPr lang="fr-FR" sz="2800" b="0" dirty="0" err="1">
                <a:solidFill>
                  <a:srgbClr val="A31515"/>
                </a:solidFill>
                <a:effectLst/>
                <a:latin typeface="Consolas" panose="020B0609020204030204" pitchFamily="49" charset="0"/>
              </a:rPr>
              <a:t>Cnx</a:t>
            </a:r>
            <a:r>
              <a:rPr lang="fr-FR" sz="2800" b="0" dirty="0">
                <a:solidFill>
                  <a:srgbClr val="A31515"/>
                </a:solidFill>
                <a:effectLst/>
                <a:latin typeface="Consolas" panose="020B0609020204030204" pitchFamily="49" charset="0"/>
              </a:rPr>
              <a:t> réussie"</a:t>
            </a:r>
            <a:r>
              <a:rPr lang="fr-FR" sz="2800" b="0" dirty="0">
                <a:solidFill>
                  <a:srgbClr val="000000"/>
                </a:solidFill>
                <a:effectLst/>
                <a:latin typeface="Consolas" panose="020B0609020204030204" pitchFamily="49" charset="0"/>
              </a:rPr>
              <a:t>})</a:t>
            </a:r>
          </a:p>
          <a:p>
            <a:r>
              <a:rPr lang="fr-FR" sz="2800" dirty="0">
                <a:solidFill>
                  <a:srgbClr val="000000"/>
                </a:solidFill>
                <a:latin typeface="Consolas" panose="020B0609020204030204" pitchFamily="49" charset="0"/>
              </a:rPr>
              <a:t>      }</a:t>
            </a:r>
            <a:endParaRPr lang="fr-FR" sz="2800" b="0" dirty="0">
              <a:solidFill>
                <a:srgbClr val="000000"/>
              </a:solidFill>
              <a:effectLst/>
              <a:latin typeface="Consolas" panose="020B0609020204030204" pitchFamily="49" charset="0"/>
            </a:endParaRPr>
          </a:p>
          <a:p>
            <a:endParaRPr lang="fr-FR" sz="2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191997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E1B6F0-E7AB-45E6-AC11-ABD3F015512D}"/>
              </a:ext>
            </a:extLst>
          </p:cNvPr>
          <p:cNvSpPr>
            <a:spLocks noGrp="1"/>
          </p:cNvSpPr>
          <p:nvPr>
            <p:ph type="title"/>
          </p:nvPr>
        </p:nvSpPr>
        <p:spPr>
          <a:xfrm>
            <a:off x="1295400" y="0"/>
            <a:ext cx="9601200" cy="1485900"/>
          </a:xfrm>
        </p:spPr>
        <p:txBody>
          <a:bodyPr>
            <a:normAutofit/>
          </a:bodyPr>
          <a:lstStyle/>
          <a:p>
            <a:r>
              <a:rPr lang="fr-FR" sz="3600" dirty="0"/>
              <a:t>HASHER LE MOT DE PASSSE UTILISATEUR</a:t>
            </a:r>
          </a:p>
        </p:txBody>
      </p:sp>
      <p:sp>
        <p:nvSpPr>
          <p:cNvPr id="5" name="ZoneTexte 4">
            <a:extLst>
              <a:ext uri="{FF2B5EF4-FFF2-40B4-BE49-F238E27FC236}">
                <a16:creationId xmlns:a16="http://schemas.microsoft.com/office/drawing/2014/main" id="{8BD98D85-44DF-44B9-BE1F-26655A91D37B}"/>
              </a:ext>
            </a:extLst>
          </p:cNvPr>
          <p:cNvSpPr txBox="1"/>
          <p:nvPr/>
        </p:nvSpPr>
        <p:spPr>
          <a:xfrm>
            <a:off x="706679" y="593681"/>
            <a:ext cx="10353804" cy="313932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fr-FR" b="0" dirty="0" err="1">
                <a:effectLst/>
                <a:latin typeface="Consolas" panose="020B0609020204030204" pitchFamily="49" charset="0"/>
              </a:rPr>
              <a:t>bcrypt.hash</a:t>
            </a:r>
            <a:r>
              <a:rPr lang="fr-FR" b="0" dirty="0">
                <a:effectLst/>
                <a:latin typeface="Consolas" panose="020B0609020204030204" pitchFamily="49" charset="0"/>
              </a:rPr>
              <a:t>(</a:t>
            </a:r>
            <a:r>
              <a:rPr lang="fr-FR" b="0" dirty="0" err="1">
                <a:effectLst/>
                <a:latin typeface="Consolas" panose="020B0609020204030204" pitchFamily="49" charset="0"/>
              </a:rPr>
              <a:t>mot_passe</a:t>
            </a:r>
            <a:r>
              <a:rPr lang="fr-FR" b="0" dirty="0">
                <a:effectLst/>
                <a:latin typeface="Consolas" panose="020B0609020204030204" pitchFamily="49" charset="0"/>
              </a:rPr>
              <a:t>, 10, (</a:t>
            </a:r>
            <a:r>
              <a:rPr lang="fr-FR" b="0" dirty="0" err="1">
                <a:effectLst/>
                <a:latin typeface="Consolas" panose="020B0609020204030204" pitchFamily="49" charset="0"/>
              </a:rPr>
              <a:t>error,</a:t>
            </a:r>
            <a:r>
              <a:rPr lang="fr-FR" dirty="0" err="1">
                <a:latin typeface="Consolas" panose="020B0609020204030204" pitchFamily="49" charset="0"/>
              </a:rPr>
              <a:t>mot_passe_</a:t>
            </a:r>
            <a:r>
              <a:rPr lang="fr-FR" b="0" dirty="0" err="1">
                <a:effectLst/>
                <a:latin typeface="Consolas" panose="020B0609020204030204" pitchFamily="49" charset="0"/>
              </a:rPr>
              <a:t>hashe</a:t>
            </a:r>
            <a:r>
              <a:rPr lang="fr-FR" b="0" dirty="0">
                <a:effectLst/>
                <a:latin typeface="Consolas" panose="020B0609020204030204" pitchFamily="49" charset="0"/>
              </a:rPr>
              <a:t>)=&gt;{</a:t>
            </a:r>
          </a:p>
          <a:p>
            <a:r>
              <a:rPr lang="fr-FR" b="0" dirty="0">
                <a:effectLst/>
                <a:latin typeface="Consolas" panose="020B0609020204030204" pitchFamily="49" charset="0"/>
              </a:rPr>
              <a:t>               </a:t>
            </a:r>
          </a:p>
          <a:p>
            <a:r>
              <a:rPr lang="fr-FR" dirty="0">
                <a:latin typeface="Consolas" panose="020B0609020204030204" pitchFamily="49" charset="0"/>
              </a:rPr>
              <a:t>						</a:t>
            </a:r>
            <a:r>
              <a:rPr lang="fr-FR" b="0" dirty="0" err="1">
                <a:effectLst/>
                <a:latin typeface="Consolas" panose="020B0609020204030204" pitchFamily="49" charset="0"/>
              </a:rPr>
              <a:t>mot_passe</a:t>
            </a:r>
            <a:r>
              <a:rPr lang="fr-FR" b="0" dirty="0">
                <a:effectLst/>
                <a:latin typeface="Consolas" panose="020B0609020204030204" pitchFamily="49" charset="0"/>
              </a:rPr>
              <a:t>= </a:t>
            </a:r>
            <a:r>
              <a:rPr lang="fr-FR" dirty="0" err="1">
                <a:latin typeface="Consolas" panose="020B0609020204030204" pitchFamily="49" charset="0"/>
              </a:rPr>
              <a:t>mot_passe_</a:t>
            </a:r>
            <a:r>
              <a:rPr lang="fr-FR" b="0" dirty="0" err="1">
                <a:effectLst/>
                <a:latin typeface="Consolas" panose="020B0609020204030204" pitchFamily="49" charset="0"/>
              </a:rPr>
              <a:t>hashe</a:t>
            </a:r>
            <a:endParaRPr lang="fr-FR" b="0" dirty="0">
              <a:effectLst/>
              <a:latin typeface="Consolas" panose="020B0609020204030204" pitchFamily="49" charset="0"/>
            </a:endParaRPr>
          </a:p>
          <a:p>
            <a:endParaRPr lang="fr-FR" b="0" dirty="0">
              <a:effectLst/>
              <a:latin typeface="Consolas" panose="020B0609020204030204" pitchFamily="49" charset="0"/>
            </a:endParaRPr>
          </a:p>
          <a:p>
            <a:r>
              <a:rPr lang="fr-FR" b="0" dirty="0">
                <a:effectLst/>
                <a:latin typeface="Consolas" panose="020B0609020204030204" pitchFamily="49" charset="0"/>
              </a:rPr>
              <a:t>                </a:t>
            </a:r>
            <a:r>
              <a:rPr lang="fr-FR" b="0" dirty="0" err="1">
                <a:effectLst/>
                <a:latin typeface="Consolas" panose="020B0609020204030204" pitchFamily="49" charset="0"/>
              </a:rPr>
              <a:t>const</a:t>
            </a:r>
            <a:r>
              <a:rPr lang="fr-FR" b="0" dirty="0">
                <a:effectLst/>
                <a:latin typeface="Consolas" panose="020B0609020204030204" pitchFamily="49" charset="0"/>
              </a:rPr>
              <a:t> </a:t>
            </a:r>
            <a:r>
              <a:rPr lang="fr-FR" b="0" dirty="0" err="1">
                <a:effectLst/>
                <a:latin typeface="Consolas" panose="020B0609020204030204" pitchFamily="49" charset="0"/>
              </a:rPr>
              <a:t>newUser</a:t>
            </a:r>
            <a:r>
              <a:rPr lang="fr-FR" b="0" dirty="0">
                <a:effectLst/>
                <a:latin typeface="Consolas" panose="020B0609020204030204" pitchFamily="49" charset="0"/>
              </a:rPr>
              <a:t> = new Utilisateur({</a:t>
            </a:r>
          </a:p>
          <a:p>
            <a:r>
              <a:rPr lang="fr-FR" b="0" dirty="0">
                <a:effectLst/>
                <a:latin typeface="Consolas" panose="020B0609020204030204" pitchFamily="49" charset="0"/>
              </a:rPr>
              <a:t>                    nom,</a:t>
            </a:r>
          </a:p>
          <a:p>
            <a:r>
              <a:rPr lang="fr-FR" b="0" dirty="0">
                <a:effectLst/>
                <a:latin typeface="Consolas" panose="020B0609020204030204" pitchFamily="49" charset="0"/>
              </a:rPr>
              <a:t>                    email,</a:t>
            </a:r>
          </a:p>
          <a:p>
            <a:r>
              <a:rPr lang="fr-FR" b="0" dirty="0">
                <a:effectLst/>
                <a:latin typeface="Consolas" panose="020B0609020204030204" pitchFamily="49" charset="0"/>
              </a:rPr>
              <a:t>                    </a:t>
            </a:r>
            <a:r>
              <a:rPr lang="fr-FR" b="0" dirty="0" err="1">
                <a:effectLst/>
                <a:latin typeface="Consolas" panose="020B0609020204030204" pitchFamily="49" charset="0"/>
              </a:rPr>
              <a:t>mot_passe</a:t>
            </a:r>
            <a:endParaRPr lang="fr-FR" b="0" dirty="0">
              <a:effectLst/>
              <a:latin typeface="Consolas" panose="020B0609020204030204" pitchFamily="49" charset="0"/>
            </a:endParaRPr>
          </a:p>
          <a:p>
            <a:r>
              <a:rPr lang="fr-FR" b="0" dirty="0">
                <a:effectLst/>
                <a:latin typeface="Consolas" panose="020B0609020204030204" pitchFamily="49" charset="0"/>
              </a:rPr>
              <a:t>                  });</a:t>
            </a:r>
          </a:p>
          <a:p>
            <a:endParaRPr lang="fr-FR" b="0" dirty="0">
              <a:effectLst/>
              <a:latin typeface="Consolas" panose="020B0609020204030204" pitchFamily="49" charset="0"/>
            </a:endParaRPr>
          </a:p>
          <a:p>
            <a:r>
              <a:rPr lang="fr-FR" b="0" dirty="0">
                <a:effectLst/>
                <a:latin typeface="Consolas" panose="020B0609020204030204" pitchFamily="49" charset="0"/>
              </a:rPr>
              <a:t>                </a:t>
            </a:r>
            <a:r>
              <a:rPr lang="fr-FR" b="0" dirty="0" err="1">
                <a:effectLst/>
                <a:latin typeface="Consolas" panose="020B0609020204030204" pitchFamily="49" charset="0"/>
              </a:rPr>
              <a:t>newUser.save</a:t>
            </a:r>
            <a:r>
              <a:rPr lang="fr-FR" b="0" dirty="0">
                <a:effectLst/>
                <a:latin typeface="Consolas" panose="020B0609020204030204" pitchFamily="49" charset="0"/>
              </a:rPr>
              <a:t>(……………………..)                        </a:t>
            </a:r>
          </a:p>
        </p:txBody>
      </p:sp>
      <p:sp>
        <p:nvSpPr>
          <p:cNvPr id="6" name="ZoneTexte 5">
            <a:extLst>
              <a:ext uri="{FF2B5EF4-FFF2-40B4-BE49-F238E27FC236}">
                <a16:creationId xmlns:a16="http://schemas.microsoft.com/office/drawing/2014/main" id="{8781CAE7-CD07-44FD-B0DF-9FE8C26E1CA0}"/>
              </a:ext>
            </a:extLst>
          </p:cNvPr>
          <p:cNvSpPr txBox="1"/>
          <p:nvPr/>
        </p:nvSpPr>
        <p:spPr>
          <a:xfrm>
            <a:off x="604382" y="3944114"/>
            <a:ext cx="10558397"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b="0" dirty="0">
                <a:solidFill>
                  <a:srgbClr val="AF00DB"/>
                </a:solidFill>
                <a:effectLst/>
                <a:latin typeface="Consolas" panose="020B0609020204030204" pitchFamily="49" charset="0"/>
              </a:rPr>
              <a:t>if</a:t>
            </a:r>
            <a:r>
              <a:rPr lang="fr-FR" b="0" dirty="0">
                <a:solidFill>
                  <a:srgbClr val="000000"/>
                </a:solidFill>
                <a:effectLst/>
                <a:latin typeface="Consolas" panose="020B0609020204030204" pitchFamily="49" charset="0"/>
              </a:rPr>
              <a:t>(!</a:t>
            </a:r>
            <a:r>
              <a:rPr lang="fr-FR" b="0" dirty="0">
                <a:solidFill>
                  <a:srgbClr val="0070C1"/>
                </a:solidFill>
                <a:effectLst/>
                <a:latin typeface="Consolas" panose="020B0609020204030204" pitchFamily="49" charset="0"/>
              </a:rPr>
              <a:t>user</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a:solidFill>
                  <a:srgbClr val="AF00DB"/>
                </a:solidFill>
                <a:effectLst/>
                <a:latin typeface="Consolas" panose="020B0609020204030204" pitchFamily="49" charset="0"/>
              </a:rPr>
              <a:t>return</a:t>
            </a:r>
            <a:r>
              <a:rPr lang="fr-FR" b="0" dirty="0">
                <a:solidFill>
                  <a:srgbClr val="000000"/>
                </a:solidFill>
                <a:effectLst/>
                <a:latin typeface="Consolas" panose="020B0609020204030204" pitchFamily="49" charset="0"/>
              </a:rPr>
              <a:t> </a:t>
            </a:r>
            <a:r>
              <a:rPr lang="fr-FR" b="0" dirty="0" err="1">
                <a:solidFill>
                  <a:srgbClr val="001080"/>
                </a:solidFill>
                <a:effectLst/>
                <a:latin typeface="Consolas" panose="020B0609020204030204" pitchFamily="49" charset="0"/>
              </a:rPr>
              <a:t>res</a:t>
            </a:r>
            <a:r>
              <a:rPr lang="fr-FR" b="0" dirty="0" err="1">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json</a:t>
            </a:r>
            <a:r>
              <a:rPr lang="fr-FR" b="0" dirty="0">
                <a:solidFill>
                  <a:srgbClr val="000000"/>
                </a:solidFill>
                <a:effectLst/>
                <a:latin typeface="Consolas" panose="020B0609020204030204" pitchFamily="49" charset="0"/>
              </a:rPr>
              <a:t>({</a:t>
            </a:r>
            <a:r>
              <a:rPr lang="fr-FR" b="0" dirty="0" err="1">
                <a:solidFill>
                  <a:srgbClr val="001080"/>
                </a:solidFill>
                <a:effectLst/>
                <a:latin typeface="Consolas" panose="020B0609020204030204" pitchFamily="49" charset="0"/>
              </a:rPr>
              <a:t>message:</a:t>
            </a:r>
            <a:r>
              <a:rPr lang="fr-FR" b="0" dirty="0" err="1">
                <a:solidFill>
                  <a:srgbClr val="A31515"/>
                </a:solidFill>
                <a:effectLst/>
                <a:latin typeface="Consolas" panose="020B0609020204030204" pitchFamily="49" charset="0"/>
              </a:rPr>
              <a:t>"Utilisateur</a:t>
            </a:r>
            <a:r>
              <a:rPr lang="fr-FR" b="0" dirty="0">
                <a:solidFill>
                  <a:srgbClr val="A31515"/>
                </a:solidFill>
                <a:effectLst/>
                <a:latin typeface="Consolas" panose="020B0609020204030204" pitchFamily="49" charset="0"/>
              </a:rPr>
              <a:t> introuvable"</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err="1">
                <a:solidFill>
                  <a:srgbClr val="AF00DB"/>
                </a:solidFill>
                <a:effectLst/>
                <a:latin typeface="Consolas" panose="020B0609020204030204" pitchFamily="49" charset="0"/>
              </a:rPr>
              <a:t>else</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err="1">
                <a:solidFill>
                  <a:srgbClr val="001080"/>
                </a:solidFill>
                <a:effectLst/>
                <a:latin typeface="Consolas" panose="020B0609020204030204" pitchFamily="49" charset="0"/>
              </a:rPr>
              <a:t>bcrypt</a:t>
            </a:r>
            <a:r>
              <a:rPr lang="fr-FR" b="0" dirty="0" err="1">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compare</a:t>
            </a:r>
            <a:r>
              <a:rPr lang="fr-FR" b="0" dirty="0">
                <a:solidFill>
                  <a:srgbClr val="000000"/>
                </a:solidFill>
                <a:effectLst/>
                <a:latin typeface="Consolas" panose="020B0609020204030204" pitchFamily="49" charset="0"/>
              </a:rPr>
              <a:t>(</a:t>
            </a:r>
            <a:r>
              <a:rPr lang="fr-FR" b="0" dirty="0" err="1">
                <a:solidFill>
                  <a:srgbClr val="0070C1"/>
                </a:solidFill>
                <a:effectLst/>
                <a:latin typeface="Consolas" panose="020B0609020204030204" pitchFamily="49" charset="0"/>
              </a:rPr>
              <a:t>mot_passe</a:t>
            </a:r>
            <a:r>
              <a:rPr lang="fr-FR" b="0" dirty="0">
                <a:solidFill>
                  <a:srgbClr val="000000"/>
                </a:solidFill>
                <a:effectLst/>
                <a:latin typeface="Consolas" panose="020B0609020204030204" pitchFamily="49" charset="0"/>
              </a:rPr>
              <a:t>, </a:t>
            </a:r>
            <a:r>
              <a:rPr lang="fr-FR" b="0" dirty="0" err="1">
                <a:solidFill>
                  <a:srgbClr val="0070C1"/>
                </a:solidFill>
                <a:effectLst/>
                <a:latin typeface="Consolas" panose="020B0609020204030204" pitchFamily="49" charset="0"/>
              </a:rPr>
              <a:t>user</a:t>
            </a:r>
            <a:r>
              <a:rPr lang="fr-FR" b="0" dirty="0" err="1">
                <a:solidFill>
                  <a:srgbClr val="000000"/>
                </a:solidFill>
                <a:effectLst/>
                <a:latin typeface="Consolas" panose="020B0609020204030204" pitchFamily="49" charset="0"/>
              </a:rPr>
              <a:t>.</a:t>
            </a:r>
            <a:r>
              <a:rPr lang="fr-FR" b="0" dirty="0" err="1">
                <a:solidFill>
                  <a:srgbClr val="001080"/>
                </a:solidFill>
                <a:effectLst/>
                <a:latin typeface="Consolas" panose="020B0609020204030204" pitchFamily="49" charset="0"/>
              </a:rPr>
              <a:t>mot_passe</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err="1">
                <a:solidFill>
                  <a:srgbClr val="795E26"/>
                </a:solidFill>
                <a:effectLst/>
                <a:latin typeface="Consolas" panose="020B0609020204030204" pitchFamily="49" charset="0"/>
              </a:rPr>
              <a:t>then</a:t>
            </a:r>
            <a:r>
              <a:rPr lang="fr-FR" b="0" dirty="0">
                <a:solidFill>
                  <a:srgbClr val="000000"/>
                </a:solidFill>
                <a:effectLst/>
                <a:latin typeface="Consolas" panose="020B0609020204030204" pitchFamily="49" charset="0"/>
              </a:rPr>
              <a:t>(</a:t>
            </a:r>
            <a:r>
              <a:rPr lang="fr-FR" b="0" dirty="0" err="1">
                <a:solidFill>
                  <a:srgbClr val="001080"/>
                </a:solidFill>
                <a:effectLst/>
                <a:latin typeface="Consolas" panose="020B0609020204030204" pitchFamily="49" charset="0"/>
              </a:rPr>
              <a:t>resultat</a:t>
            </a:r>
            <a:r>
              <a:rPr lang="fr-FR" b="0" dirty="0">
                <a:solidFill>
                  <a:srgbClr val="0000FF"/>
                </a:solidFill>
                <a:effectLst/>
                <a:latin typeface="Consolas" panose="020B0609020204030204" pitchFamily="49" charset="0"/>
              </a:rPr>
              <a:t>=&gt;</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a:solidFill>
                  <a:srgbClr val="AF00DB"/>
                </a:solidFill>
                <a:effectLst/>
                <a:latin typeface="Consolas" panose="020B0609020204030204" pitchFamily="49" charset="0"/>
              </a:rPr>
              <a:t>if</a:t>
            </a:r>
            <a:r>
              <a:rPr lang="fr-FR" b="0" dirty="0">
                <a:solidFill>
                  <a:srgbClr val="000000"/>
                </a:solidFill>
                <a:effectLst/>
                <a:latin typeface="Consolas" panose="020B0609020204030204" pitchFamily="49" charset="0"/>
              </a:rPr>
              <a:t>(!</a:t>
            </a:r>
            <a:r>
              <a:rPr lang="fr-FR" b="0" dirty="0" err="1">
                <a:solidFill>
                  <a:srgbClr val="001080"/>
                </a:solidFill>
                <a:effectLst/>
                <a:latin typeface="Consolas" panose="020B0609020204030204" pitchFamily="49" charset="0"/>
              </a:rPr>
              <a:t>resultat</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a:solidFill>
                  <a:srgbClr val="AF00DB"/>
                </a:solidFill>
                <a:effectLst/>
                <a:latin typeface="Consolas" panose="020B0609020204030204" pitchFamily="49" charset="0"/>
              </a:rPr>
              <a:t>return</a:t>
            </a:r>
            <a:r>
              <a:rPr lang="fr-FR" b="0" dirty="0">
                <a:solidFill>
                  <a:srgbClr val="000000"/>
                </a:solidFill>
                <a:effectLst/>
                <a:latin typeface="Consolas" panose="020B0609020204030204" pitchFamily="49" charset="0"/>
              </a:rPr>
              <a:t> </a:t>
            </a:r>
            <a:r>
              <a:rPr lang="fr-FR" b="0" dirty="0" err="1">
                <a:solidFill>
                  <a:srgbClr val="001080"/>
                </a:solidFill>
                <a:effectLst/>
                <a:latin typeface="Consolas" panose="020B0609020204030204" pitchFamily="49" charset="0"/>
              </a:rPr>
              <a:t>res</a:t>
            </a:r>
            <a:r>
              <a:rPr lang="fr-FR" b="0" dirty="0" err="1">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status</a:t>
            </a:r>
            <a:r>
              <a:rPr lang="fr-FR" b="0" dirty="0">
                <a:solidFill>
                  <a:srgbClr val="000000"/>
                </a:solidFill>
                <a:effectLst/>
                <a:latin typeface="Consolas" panose="020B0609020204030204" pitchFamily="49" charset="0"/>
              </a:rPr>
              <a:t>(</a:t>
            </a:r>
            <a:r>
              <a:rPr lang="fr-FR" b="0" dirty="0">
                <a:solidFill>
                  <a:srgbClr val="098658"/>
                </a:solidFill>
                <a:effectLst/>
                <a:latin typeface="Consolas" panose="020B0609020204030204" pitchFamily="49" charset="0"/>
              </a:rPr>
              <a:t>400</a:t>
            </a:r>
            <a:r>
              <a:rPr lang="fr-FR" b="0" dirty="0">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json</a:t>
            </a:r>
            <a:r>
              <a:rPr lang="fr-FR" b="0" dirty="0">
                <a:solidFill>
                  <a:srgbClr val="000000"/>
                </a:solidFill>
                <a:effectLst/>
                <a:latin typeface="Consolas" panose="020B0609020204030204" pitchFamily="49" charset="0"/>
              </a:rPr>
              <a:t>({</a:t>
            </a:r>
            <a:r>
              <a:rPr lang="fr-FR" b="0" dirty="0" err="1">
                <a:solidFill>
                  <a:srgbClr val="001080"/>
                </a:solidFill>
                <a:effectLst/>
                <a:latin typeface="Consolas" panose="020B0609020204030204" pitchFamily="49" charset="0"/>
              </a:rPr>
              <a:t>message:</a:t>
            </a:r>
            <a:r>
              <a:rPr lang="fr-FR" b="0" dirty="0" err="1">
                <a:solidFill>
                  <a:srgbClr val="A31515"/>
                </a:solidFill>
                <a:effectLst/>
                <a:latin typeface="Consolas" panose="020B0609020204030204" pitchFamily="49" charset="0"/>
              </a:rPr>
              <a:t>"Mot</a:t>
            </a:r>
            <a:r>
              <a:rPr lang="fr-FR" b="0" dirty="0">
                <a:solidFill>
                  <a:srgbClr val="A31515"/>
                </a:solidFill>
                <a:effectLst/>
                <a:latin typeface="Consolas" panose="020B0609020204030204" pitchFamily="49" charset="0"/>
              </a:rPr>
              <a:t> de passe incorrect"</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err="1">
                <a:solidFill>
                  <a:srgbClr val="AF00DB"/>
                </a:solidFill>
                <a:effectLst/>
                <a:latin typeface="Consolas" panose="020B0609020204030204" pitchFamily="49" charset="0"/>
              </a:rPr>
              <a:t>else</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 					</a:t>
            </a:r>
            <a:r>
              <a:rPr lang="fr-FR" b="0" dirty="0">
                <a:solidFill>
                  <a:srgbClr val="AF00DB"/>
                </a:solidFill>
                <a:effectLst/>
                <a:latin typeface="Consolas" panose="020B0609020204030204" pitchFamily="49" charset="0"/>
              </a:rPr>
              <a:t>return</a:t>
            </a:r>
            <a:r>
              <a:rPr lang="fr-FR" b="0" dirty="0">
                <a:solidFill>
                  <a:srgbClr val="000000"/>
                </a:solidFill>
                <a:effectLst/>
                <a:latin typeface="Consolas" panose="020B0609020204030204" pitchFamily="49" charset="0"/>
              </a:rPr>
              <a:t> </a:t>
            </a:r>
            <a:r>
              <a:rPr lang="fr-FR" b="0" dirty="0" err="1">
                <a:solidFill>
                  <a:srgbClr val="001080"/>
                </a:solidFill>
                <a:effectLst/>
                <a:latin typeface="Consolas" panose="020B0609020204030204" pitchFamily="49" charset="0"/>
              </a:rPr>
              <a:t>res</a:t>
            </a:r>
            <a:r>
              <a:rPr lang="fr-FR" b="0" dirty="0" err="1">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status</a:t>
            </a:r>
            <a:r>
              <a:rPr lang="fr-FR" b="0" dirty="0">
                <a:solidFill>
                  <a:srgbClr val="000000"/>
                </a:solidFill>
                <a:effectLst/>
                <a:latin typeface="Consolas" panose="020B0609020204030204" pitchFamily="49" charset="0"/>
              </a:rPr>
              <a:t>(</a:t>
            </a:r>
            <a:r>
              <a:rPr lang="fr-FR" b="0" dirty="0">
                <a:solidFill>
                  <a:srgbClr val="098658"/>
                </a:solidFill>
                <a:effectLst/>
                <a:latin typeface="Consolas" panose="020B0609020204030204" pitchFamily="49" charset="0"/>
              </a:rPr>
              <a:t>400</a:t>
            </a:r>
            <a:r>
              <a:rPr lang="fr-FR" b="0" dirty="0">
                <a:solidFill>
                  <a:srgbClr val="000000"/>
                </a:solidFill>
                <a:effectLst/>
                <a:latin typeface="Consolas" panose="020B0609020204030204" pitchFamily="49" charset="0"/>
              </a:rPr>
              <a:t>).</a:t>
            </a:r>
            <a:r>
              <a:rPr lang="fr-FR" b="0" dirty="0" err="1">
                <a:solidFill>
                  <a:srgbClr val="795E26"/>
                </a:solidFill>
                <a:effectLst/>
                <a:latin typeface="Consolas" panose="020B0609020204030204" pitchFamily="49" charset="0"/>
              </a:rPr>
              <a:t>json</a:t>
            </a:r>
            <a:r>
              <a:rPr lang="fr-FR" b="0" dirty="0">
                <a:solidFill>
                  <a:srgbClr val="000000"/>
                </a:solidFill>
                <a:effectLst/>
                <a:latin typeface="Consolas" panose="020B0609020204030204" pitchFamily="49" charset="0"/>
              </a:rPr>
              <a:t>({</a:t>
            </a:r>
            <a:r>
              <a:rPr lang="fr-FR" b="0" dirty="0">
                <a:solidFill>
                  <a:srgbClr val="001080"/>
                </a:solidFill>
                <a:effectLst/>
                <a:latin typeface="Consolas" panose="020B0609020204030204" pitchFamily="49" charset="0"/>
              </a:rPr>
              <a:t>message:</a:t>
            </a:r>
            <a:r>
              <a:rPr lang="fr-FR" b="0" dirty="0">
                <a:solidFill>
                  <a:srgbClr val="A31515"/>
                </a:solidFill>
                <a:effectLst/>
                <a:latin typeface="Consolas" panose="020B0609020204030204" pitchFamily="49" charset="0"/>
              </a:rPr>
              <a:t>« Connexion réussie"</a:t>
            </a:r>
            <a:r>
              <a:rPr lang="fr-FR" b="0" dirty="0">
                <a:solidFill>
                  <a:srgbClr val="000000"/>
                </a:solidFill>
                <a:effectLst/>
                <a:latin typeface="Consolas" panose="020B0609020204030204" pitchFamily="49" charset="0"/>
              </a:rPr>
              <a:t>})</a:t>
            </a:r>
          </a:p>
          <a:p>
            <a:r>
              <a:rPr lang="fr-FR" b="0" dirty="0">
                <a:solidFill>
                  <a:srgbClr val="000000"/>
                </a:solidFill>
                <a:effectLst/>
                <a:latin typeface="Consolas" panose="020B0609020204030204" pitchFamily="49" charset="0"/>
              </a:rPr>
              <a:t>}</a:t>
            </a:r>
          </a:p>
        </p:txBody>
      </p:sp>
      <p:sp>
        <p:nvSpPr>
          <p:cNvPr id="4" name="ZoneTexte 3">
            <a:extLst>
              <a:ext uri="{FF2B5EF4-FFF2-40B4-BE49-F238E27FC236}">
                <a16:creationId xmlns:a16="http://schemas.microsoft.com/office/drawing/2014/main" id="{54124714-17C8-4163-8F11-3F6850AB310B}"/>
              </a:ext>
            </a:extLst>
          </p:cNvPr>
          <p:cNvSpPr txBox="1"/>
          <p:nvPr/>
        </p:nvSpPr>
        <p:spPr>
          <a:xfrm>
            <a:off x="10998893" y="1737377"/>
            <a:ext cx="1304794" cy="369332"/>
          </a:xfrm>
          <a:prstGeom prst="rect">
            <a:avLst/>
          </a:prstGeom>
          <a:noFill/>
        </p:spPr>
        <p:txBody>
          <a:bodyPr wrap="square" rtlCol="0">
            <a:spAutoFit/>
          </a:bodyPr>
          <a:lstStyle/>
          <a:p>
            <a:r>
              <a:rPr lang="fr-FR" dirty="0"/>
              <a:t>/</a:t>
            </a:r>
            <a:r>
              <a:rPr lang="fr-FR" b="1" dirty="0" err="1"/>
              <a:t>register</a:t>
            </a:r>
            <a:endParaRPr lang="fr-FR" b="1" dirty="0"/>
          </a:p>
        </p:txBody>
      </p:sp>
      <p:sp>
        <p:nvSpPr>
          <p:cNvPr id="7" name="ZoneTexte 6">
            <a:extLst>
              <a:ext uri="{FF2B5EF4-FFF2-40B4-BE49-F238E27FC236}">
                <a16:creationId xmlns:a16="http://schemas.microsoft.com/office/drawing/2014/main" id="{1CED6031-A1A9-4A7E-BD42-5D91F1E7D61D}"/>
              </a:ext>
            </a:extLst>
          </p:cNvPr>
          <p:cNvSpPr txBox="1"/>
          <p:nvPr/>
        </p:nvSpPr>
        <p:spPr>
          <a:xfrm>
            <a:off x="11074049" y="4876698"/>
            <a:ext cx="1304794" cy="369332"/>
          </a:xfrm>
          <a:prstGeom prst="rect">
            <a:avLst/>
          </a:prstGeom>
          <a:noFill/>
        </p:spPr>
        <p:txBody>
          <a:bodyPr wrap="square" rtlCol="0">
            <a:spAutoFit/>
          </a:bodyPr>
          <a:lstStyle/>
          <a:p>
            <a:r>
              <a:rPr lang="fr-FR" b="1" dirty="0"/>
              <a:t>/login</a:t>
            </a:r>
          </a:p>
        </p:txBody>
      </p:sp>
    </p:spTree>
    <p:extLst>
      <p:ext uri="{BB962C8B-B14F-4D97-AF65-F5344CB8AC3E}">
        <p14:creationId xmlns:p14="http://schemas.microsoft.com/office/powerpoint/2010/main" val="2216872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908990-8837-4EF5-A236-C2DA54063750}"/>
              </a:ext>
            </a:extLst>
          </p:cNvPr>
          <p:cNvSpPr>
            <a:spLocks noGrp="1"/>
          </p:cNvSpPr>
          <p:nvPr>
            <p:ph type="title"/>
          </p:nvPr>
        </p:nvSpPr>
        <p:spPr/>
        <p:txBody>
          <a:bodyPr/>
          <a:lstStyle/>
          <a:p>
            <a:r>
              <a:rPr lang="fr-FR" dirty="0"/>
              <a:t>La fonction login</a:t>
            </a:r>
          </a:p>
        </p:txBody>
      </p:sp>
      <p:sp>
        <p:nvSpPr>
          <p:cNvPr id="3" name="Espace réservé du contenu 2">
            <a:extLst>
              <a:ext uri="{FF2B5EF4-FFF2-40B4-BE49-F238E27FC236}">
                <a16:creationId xmlns:a16="http://schemas.microsoft.com/office/drawing/2014/main" id="{CD664B30-F0FC-431D-B85B-7D1080182375}"/>
              </a:ext>
            </a:extLst>
          </p:cNvPr>
          <p:cNvSpPr>
            <a:spLocks noGrp="1"/>
          </p:cNvSpPr>
          <p:nvPr>
            <p:ph idx="1"/>
          </p:nvPr>
        </p:nvSpPr>
        <p:spPr>
          <a:xfrm>
            <a:off x="838200" y="1545105"/>
            <a:ext cx="11138941" cy="4947770"/>
          </a:xfrm>
        </p:spPr>
        <p:txBody>
          <a:bodyPr>
            <a:normAutofit fontScale="85000" lnSpcReduction="20000"/>
          </a:bodyPr>
          <a:lstStyle/>
          <a:p>
            <a:r>
              <a:rPr lang="fr-FR" dirty="0"/>
              <a:t>Créer un </a:t>
            </a:r>
            <a:r>
              <a:rPr lang="fr-FR" dirty="0" err="1"/>
              <a:t>token</a:t>
            </a:r>
            <a:r>
              <a:rPr lang="fr-FR" dirty="0"/>
              <a:t> d’authentification</a:t>
            </a:r>
          </a:p>
          <a:p>
            <a:pPr marL="0" indent="0">
              <a:buNone/>
            </a:pPr>
            <a:endParaRPr lang="fr-FR" dirty="0"/>
          </a:p>
          <a:p>
            <a:r>
              <a:rPr lang="fr-FR" b="0" i="0" dirty="0">
                <a:solidFill>
                  <a:srgbClr val="271A38"/>
                </a:solidFill>
                <a:effectLst/>
                <a:latin typeface="Inter"/>
              </a:rPr>
              <a:t>Les </a:t>
            </a:r>
            <a:r>
              <a:rPr lang="fr-FR" b="0" i="1" dirty="0" err="1">
                <a:solidFill>
                  <a:srgbClr val="271A38"/>
                </a:solidFill>
                <a:effectLst/>
                <a:latin typeface="Inter"/>
              </a:rPr>
              <a:t>tokens</a:t>
            </a:r>
            <a:r>
              <a:rPr lang="fr-FR" b="0" i="0" dirty="0">
                <a:solidFill>
                  <a:srgbClr val="271A38"/>
                </a:solidFill>
                <a:effectLst/>
                <a:latin typeface="Inter"/>
              </a:rPr>
              <a:t> d'authentification permettent aux utilisateurs de se connecter une seule fois à leur compte. Au moment de se connecter, ils recevront leur </a:t>
            </a:r>
            <a:r>
              <a:rPr lang="fr-FR" b="0" i="1" dirty="0" err="1">
                <a:solidFill>
                  <a:srgbClr val="271A38"/>
                </a:solidFill>
                <a:effectLst/>
                <a:latin typeface="Inter"/>
              </a:rPr>
              <a:t>token</a:t>
            </a:r>
            <a:r>
              <a:rPr lang="fr-FR" b="0" i="0" dirty="0">
                <a:solidFill>
                  <a:srgbClr val="271A38"/>
                </a:solidFill>
                <a:effectLst/>
                <a:latin typeface="Inter"/>
              </a:rPr>
              <a:t> et le renverront automatiquement à chaque requête par la suite. Ceci permettra au </a:t>
            </a:r>
            <a:r>
              <a:rPr lang="fr-FR" b="0" i="0" dirty="0" err="1">
                <a:solidFill>
                  <a:srgbClr val="271A38"/>
                </a:solidFill>
                <a:effectLst/>
                <a:latin typeface="Inter"/>
              </a:rPr>
              <a:t>back-end</a:t>
            </a:r>
            <a:r>
              <a:rPr lang="fr-FR" b="0" i="0" dirty="0">
                <a:solidFill>
                  <a:srgbClr val="271A38"/>
                </a:solidFill>
                <a:effectLst/>
                <a:latin typeface="Inter"/>
              </a:rPr>
              <a:t> de vérifier que la requête est authentifiée.</a:t>
            </a:r>
          </a:p>
          <a:p>
            <a:r>
              <a:rPr lang="fr-FR" dirty="0"/>
              <a:t>Pour pouvoir créer et vérifier les </a:t>
            </a:r>
            <a:r>
              <a:rPr lang="fr-FR" dirty="0" err="1"/>
              <a:t>tokens</a:t>
            </a:r>
            <a:r>
              <a:rPr lang="fr-FR" dirty="0"/>
              <a:t> d'authentification, il nous faudra un nouveau package :</a:t>
            </a:r>
          </a:p>
          <a:p>
            <a:endParaRPr lang="fr-FR" dirty="0"/>
          </a:p>
          <a:p>
            <a:r>
              <a:rPr lang="fr-FR" dirty="0" err="1"/>
              <a:t>npm</a:t>
            </a:r>
            <a:r>
              <a:rPr lang="fr-FR" dirty="0"/>
              <a:t> </a:t>
            </a:r>
            <a:r>
              <a:rPr lang="fr-FR" dirty="0" err="1"/>
              <a:t>install</a:t>
            </a:r>
            <a:r>
              <a:rPr lang="fr-FR" dirty="0"/>
              <a:t> </a:t>
            </a:r>
            <a:r>
              <a:rPr lang="fr-FR" dirty="0" err="1"/>
              <a:t>jsonwebtoken</a:t>
            </a:r>
            <a:endParaRPr lang="fr-FR" dirty="0"/>
          </a:p>
          <a:p>
            <a:pPr marL="0" indent="0">
              <a:buNone/>
            </a:pPr>
            <a:r>
              <a:rPr lang="fr-FR" dirty="0"/>
              <a:t>Nous l'importerons ensuite dans notre contrôleur utilisateur :</a:t>
            </a:r>
          </a:p>
          <a:p>
            <a:endParaRPr lang="fr-FR" dirty="0"/>
          </a:p>
          <a:p>
            <a:r>
              <a:rPr lang="fr-FR" dirty="0" err="1"/>
              <a:t>const</a:t>
            </a:r>
            <a:r>
              <a:rPr lang="fr-FR" dirty="0"/>
              <a:t> </a:t>
            </a:r>
            <a:r>
              <a:rPr lang="fr-FR" dirty="0" err="1"/>
              <a:t>jwt</a:t>
            </a:r>
            <a:r>
              <a:rPr lang="fr-FR" dirty="0"/>
              <a:t> = </a:t>
            </a:r>
            <a:r>
              <a:rPr lang="fr-FR" dirty="0" err="1"/>
              <a:t>require</a:t>
            </a:r>
            <a:r>
              <a:rPr lang="fr-FR" dirty="0"/>
              <a:t>('</a:t>
            </a:r>
            <a:r>
              <a:rPr lang="fr-FR" dirty="0" err="1"/>
              <a:t>jsonwebtoken</a:t>
            </a:r>
            <a:r>
              <a:rPr lang="fr-FR" dirty="0"/>
              <a:t>');</a:t>
            </a:r>
          </a:p>
          <a:p>
            <a:pPr marL="0" indent="0">
              <a:buNone/>
            </a:pPr>
            <a:r>
              <a:rPr lang="fr-FR" dirty="0"/>
              <a:t>Enfin, nous l'utiliserons dans notre fonction login</a:t>
            </a:r>
          </a:p>
        </p:txBody>
      </p:sp>
    </p:spTree>
    <p:extLst>
      <p:ext uri="{BB962C8B-B14F-4D97-AF65-F5344CB8AC3E}">
        <p14:creationId xmlns:p14="http://schemas.microsoft.com/office/powerpoint/2010/main" val="1919551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5A4633-CAC6-4B97-B7D6-F7633E7C3186}"/>
              </a:ext>
            </a:extLst>
          </p:cNvPr>
          <p:cNvSpPr>
            <a:spLocks noGrp="1"/>
          </p:cNvSpPr>
          <p:nvPr>
            <p:ph type="title"/>
          </p:nvPr>
        </p:nvSpPr>
        <p:spPr/>
        <p:txBody>
          <a:bodyPr/>
          <a:lstStyle/>
          <a:p>
            <a:r>
              <a:rPr lang="fr-FR" dirty="0"/>
              <a:t>La fonction login</a:t>
            </a:r>
          </a:p>
        </p:txBody>
      </p:sp>
      <p:sp>
        <p:nvSpPr>
          <p:cNvPr id="3" name="Espace réservé du contenu 2">
            <a:extLst>
              <a:ext uri="{FF2B5EF4-FFF2-40B4-BE49-F238E27FC236}">
                <a16:creationId xmlns:a16="http://schemas.microsoft.com/office/drawing/2014/main" id="{5832D6D2-D163-4076-8CB0-0CC1CED5433E}"/>
              </a:ext>
            </a:extLst>
          </p:cNvPr>
          <p:cNvSpPr>
            <a:spLocks noGrp="1"/>
          </p:cNvSpPr>
          <p:nvPr>
            <p:ph idx="1"/>
          </p:nvPr>
        </p:nvSpPr>
        <p:spPr>
          <a:xfrm>
            <a:off x="1019331" y="1753849"/>
            <a:ext cx="10463134" cy="4976734"/>
          </a:xfrm>
        </p:spPr>
        <p:txBody>
          <a:bodyPr>
            <a:normAutofit/>
          </a:bodyPr>
          <a:lstStyle/>
          <a:p>
            <a:pPr marL="0" indent="0">
              <a:buNone/>
            </a:pPr>
            <a:r>
              <a:rPr lang="fr-FR" sz="2400" dirty="0"/>
              <a:t>Nous utilisons la fonction </a:t>
            </a:r>
            <a:r>
              <a:rPr lang="fr-FR" i="1" dirty="0" err="1"/>
              <a:t>sign</a:t>
            </a:r>
            <a:r>
              <a:rPr lang="fr-FR" sz="2400" dirty="0"/>
              <a:t> de </a:t>
            </a:r>
            <a:r>
              <a:rPr lang="fr-FR" sz="2400" dirty="0" err="1"/>
              <a:t>jsonwebtoken</a:t>
            </a:r>
            <a:r>
              <a:rPr lang="fr-FR" sz="2400" dirty="0"/>
              <a:t> pour chiffrer un nouveau </a:t>
            </a:r>
            <a:r>
              <a:rPr lang="fr-FR" sz="2400" dirty="0" err="1"/>
              <a:t>token</a:t>
            </a:r>
            <a:r>
              <a:rPr lang="fr-FR" sz="2400" dirty="0"/>
              <a:t>.</a:t>
            </a:r>
          </a:p>
          <a:p>
            <a:endParaRPr lang="fr-FR" sz="2400" dirty="0"/>
          </a:p>
          <a:p>
            <a:r>
              <a:rPr lang="fr-FR" sz="2400" dirty="0"/>
              <a:t>Ce </a:t>
            </a:r>
            <a:r>
              <a:rPr lang="fr-FR" sz="2400" dirty="0" err="1"/>
              <a:t>token</a:t>
            </a:r>
            <a:r>
              <a:rPr lang="fr-FR" sz="2400" dirty="0"/>
              <a:t> contient l'ID de l'utilisateur en tant que </a:t>
            </a:r>
            <a:r>
              <a:rPr lang="fr-FR" sz="2800" u="sng" dirty="0" err="1">
                <a:solidFill>
                  <a:srgbClr val="FF0000"/>
                </a:solidFill>
              </a:rPr>
              <a:t>payload</a:t>
            </a:r>
            <a:r>
              <a:rPr lang="fr-FR" sz="2400" dirty="0"/>
              <a:t> (les données encodées dans le </a:t>
            </a:r>
            <a:r>
              <a:rPr lang="fr-FR" sz="2400" dirty="0" err="1"/>
              <a:t>token</a:t>
            </a:r>
            <a:r>
              <a:rPr lang="fr-FR" sz="2400" dirty="0"/>
              <a:t>).</a:t>
            </a:r>
          </a:p>
          <a:p>
            <a:endParaRPr lang="fr-FR" sz="2400" dirty="0"/>
          </a:p>
          <a:p>
            <a:r>
              <a:rPr lang="fr-FR" sz="2400" dirty="0"/>
              <a:t>Nous utilisons une chaîne secrète de développement temporaire RANDOM_SECRET_KEY pour crypter notre </a:t>
            </a:r>
            <a:r>
              <a:rPr lang="fr-FR" sz="2400" dirty="0" err="1"/>
              <a:t>token</a:t>
            </a:r>
            <a:r>
              <a:rPr lang="fr-FR" sz="2400" dirty="0"/>
              <a:t> (à remplacer par une chaîne aléatoire beaucoup plus longue pour la production).</a:t>
            </a:r>
          </a:p>
          <a:p>
            <a:r>
              <a:rPr lang="fr-FR" sz="2400" dirty="0" err="1"/>
              <a:t>expiresIn:Détermine</a:t>
            </a:r>
            <a:r>
              <a:rPr lang="fr-FR" sz="2400" dirty="0"/>
              <a:t> la date d’expiration ("2 </a:t>
            </a:r>
            <a:r>
              <a:rPr lang="fr-FR" sz="2400" dirty="0" err="1"/>
              <a:t>days</a:t>
            </a:r>
            <a:r>
              <a:rPr lang="fr-FR" sz="2400" dirty="0"/>
              <a:t>", "10h« , ’’60’’) Sinon les millisecondes sont utilisés par défaut.</a:t>
            </a:r>
          </a:p>
        </p:txBody>
      </p:sp>
    </p:spTree>
    <p:extLst>
      <p:ext uri="{BB962C8B-B14F-4D97-AF65-F5344CB8AC3E}">
        <p14:creationId xmlns:p14="http://schemas.microsoft.com/office/powerpoint/2010/main" val="987865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5A4633-CAC6-4B97-B7D6-F7633E7C3186}"/>
              </a:ext>
            </a:extLst>
          </p:cNvPr>
          <p:cNvSpPr>
            <a:spLocks noGrp="1"/>
          </p:cNvSpPr>
          <p:nvPr>
            <p:ph type="title"/>
          </p:nvPr>
        </p:nvSpPr>
        <p:spPr/>
        <p:txBody>
          <a:bodyPr/>
          <a:lstStyle/>
          <a:p>
            <a:r>
              <a:rPr lang="fr-FR" dirty="0"/>
              <a:t>La fonction login</a:t>
            </a:r>
          </a:p>
        </p:txBody>
      </p:sp>
      <p:sp>
        <p:nvSpPr>
          <p:cNvPr id="3" name="Espace réservé du contenu 2">
            <a:extLst>
              <a:ext uri="{FF2B5EF4-FFF2-40B4-BE49-F238E27FC236}">
                <a16:creationId xmlns:a16="http://schemas.microsoft.com/office/drawing/2014/main" id="{5832D6D2-D163-4076-8CB0-0CC1CED5433E}"/>
              </a:ext>
            </a:extLst>
          </p:cNvPr>
          <p:cNvSpPr>
            <a:spLocks noGrp="1"/>
          </p:cNvSpPr>
          <p:nvPr>
            <p:ph idx="1"/>
          </p:nvPr>
        </p:nvSpPr>
        <p:spPr>
          <a:xfrm>
            <a:off x="1079292" y="1678898"/>
            <a:ext cx="10403173" cy="5051685"/>
          </a:xfrm>
        </p:spPr>
        <p:txBody>
          <a:bodyPr>
            <a:normAutofit/>
          </a:bodyPr>
          <a:lstStyle/>
          <a:p>
            <a:r>
              <a:rPr lang="fr-FR" sz="2400" dirty="0"/>
              <a:t>Puisque cette chaîne sert de clé pour le chiffrement et le déchiffrement du </a:t>
            </a:r>
            <a:r>
              <a:rPr lang="fr-FR" sz="2400" dirty="0" err="1"/>
              <a:t>token</a:t>
            </a:r>
            <a:r>
              <a:rPr lang="fr-FR" sz="2400" dirty="0"/>
              <a:t>, elle doit être difficile à deviner, sinon n’importe qui pourrait générer un </a:t>
            </a:r>
            <a:r>
              <a:rPr lang="fr-FR" sz="2400" dirty="0" err="1"/>
              <a:t>token</a:t>
            </a:r>
            <a:r>
              <a:rPr lang="fr-FR" sz="2400" dirty="0"/>
              <a:t> en se faisant passer pour notre serveur.</a:t>
            </a:r>
          </a:p>
          <a:p>
            <a:endParaRPr lang="fr-FR" sz="2400" dirty="0"/>
          </a:p>
          <a:p>
            <a:r>
              <a:rPr lang="fr-FR" sz="2400" dirty="0"/>
              <a:t>Nous définissons la durée de validité du </a:t>
            </a:r>
            <a:r>
              <a:rPr lang="fr-FR" sz="2400" dirty="0" err="1"/>
              <a:t>token</a:t>
            </a:r>
            <a:r>
              <a:rPr lang="fr-FR" sz="2400" dirty="0"/>
              <a:t> à 24 heures. L'utilisateur devra donc se reconnecter au bout de 24 heures.</a:t>
            </a:r>
          </a:p>
          <a:p>
            <a:pPr marL="0" indent="0">
              <a:buNone/>
            </a:pPr>
            <a:endParaRPr lang="fr-FR" sz="2400" dirty="0"/>
          </a:p>
        </p:txBody>
      </p:sp>
    </p:spTree>
    <p:extLst>
      <p:ext uri="{BB962C8B-B14F-4D97-AF65-F5344CB8AC3E}">
        <p14:creationId xmlns:p14="http://schemas.microsoft.com/office/powerpoint/2010/main" val="2215417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97D8156-35DC-49E9-81C6-9B25DC1C7E73}"/>
              </a:ext>
            </a:extLst>
          </p:cNvPr>
          <p:cNvSpPr txBox="1"/>
          <p:nvPr/>
        </p:nvSpPr>
        <p:spPr>
          <a:xfrm>
            <a:off x="0" y="797510"/>
            <a:ext cx="12589864" cy="5262979"/>
          </a:xfrm>
          <a:prstGeom prst="rect">
            <a:avLst/>
          </a:prstGeom>
          <a:noFill/>
        </p:spPr>
        <p:txBody>
          <a:bodyPr wrap="square">
            <a:spAutoFit/>
          </a:bodyPr>
          <a:lstStyle/>
          <a:p>
            <a:r>
              <a:rPr lang="fr-FR" sz="2400" b="0" dirty="0">
                <a:solidFill>
                  <a:srgbClr val="008000"/>
                </a:solidFill>
                <a:effectLst/>
                <a:latin typeface="Consolas" panose="020B0609020204030204" pitchFamily="49" charset="0"/>
              </a:rPr>
              <a:t>//Générer le </a:t>
            </a:r>
            <a:r>
              <a:rPr lang="fr-FR" sz="2400" b="0" dirty="0" err="1">
                <a:solidFill>
                  <a:srgbClr val="008000"/>
                </a:solidFill>
                <a:effectLst/>
                <a:latin typeface="Consolas" panose="020B0609020204030204" pitchFamily="49" charset="0"/>
              </a:rPr>
              <a:t>token</a:t>
            </a:r>
            <a:endParaRPr lang="fr-FR" sz="2400" b="0" dirty="0">
              <a:solidFill>
                <a:srgbClr val="3B3B3B"/>
              </a:solidFill>
              <a:effectLst/>
              <a:latin typeface="Consolas" panose="020B0609020204030204" pitchFamily="49" charset="0"/>
            </a:endParaRPr>
          </a:p>
          <a:p>
            <a:r>
              <a:rPr lang="fr-FR" sz="2400" b="0" dirty="0">
                <a:solidFill>
                  <a:srgbClr val="3B3B3B"/>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const</a:t>
            </a:r>
            <a:r>
              <a:rPr lang="fr-FR" sz="2400" b="0" dirty="0">
                <a:solidFill>
                  <a:srgbClr val="3B3B3B"/>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data_a_envoyer</a:t>
            </a:r>
            <a:r>
              <a:rPr lang="fr-FR" sz="2400" b="0" dirty="0">
                <a:solidFill>
                  <a:srgbClr val="00000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email:email</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nom:</a:t>
            </a:r>
            <a:r>
              <a:rPr lang="fr-FR" sz="2400" b="0" dirty="0" err="1">
                <a:solidFill>
                  <a:srgbClr val="0070C1"/>
                </a:solidFill>
                <a:effectLst/>
                <a:latin typeface="Consolas" panose="020B0609020204030204" pitchFamily="49" charset="0"/>
              </a:rPr>
              <a:t>user</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nom</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jwt</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sign</a:t>
            </a:r>
            <a:r>
              <a:rPr lang="fr-FR" sz="2400" b="0" dirty="0">
                <a:solidFill>
                  <a:srgbClr val="3B3B3B"/>
                </a:solidFill>
                <a:effectLst/>
                <a:latin typeface="Consolas" panose="020B0609020204030204" pitchFamily="49" charset="0"/>
              </a:rPr>
              <a:t>(</a:t>
            </a:r>
            <a:r>
              <a:rPr lang="fr-FR" sz="2400" b="0" dirty="0" err="1">
                <a:solidFill>
                  <a:srgbClr val="0070C1"/>
                </a:solidFill>
                <a:effectLst/>
                <a:latin typeface="Consolas" panose="020B0609020204030204" pitchFamily="49" charset="0"/>
              </a:rPr>
              <a:t>data_a_envoyer</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a:solidFill>
                  <a:srgbClr val="A31515"/>
                </a:solidFill>
                <a:effectLst/>
                <a:latin typeface="Consolas" panose="020B0609020204030204" pitchFamily="49" charset="0"/>
              </a:rPr>
              <a:t>"RANDOM_TOKEN_SECRET"</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expiresIn</a:t>
            </a:r>
            <a:r>
              <a:rPr lang="fr-FR" sz="2400" b="0" dirty="0">
                <a:solidFill>
                  <a:srgbClr val="00108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a:solidFill>
                  <a:srgbClr val="A31515"/>
                </a:solidFill>
                <a:effectLst/>
                <a:latin typeface="Consolas" panose="020B0609020204030204" pitchFamily="49" charset="0"/>
              </a:rPr>
              <a:t>"2h"</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err</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token</a:t>
            </a:r>
            <a:r>
              <a:rPr lang="fr-FR" sz="2400" b="0" dirty="0">
                <a:solidFill>
                  <a:srgbClr val="3B3B3B"/>
                </a:solidFill>
                <a:effectLst/>
                <a:latin typeface="Consolas" panose="020B0609020204030204" pitchFamily="49" charset="0"/>
              </a:rPr>
              <a:t>)</a:t>
            </a:r>
            <a:r>
              <a:rPr lang="fr-FR" sz="2400" b="0" dirty="0">
                <a:solidFill>
                  <a:srgbClr val="0000FF"/>
                </a:solidFill>
                <a:effectLst/>
                <a:latin typeface="Consolas" panose="020B0609020204030204" pitchFamily="49" charset="0"/>
              </a:rPr>
              <a:t>=&gt;</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a:solidFill>
                  <a:srgbClr val="001080"/>
                </a:solidFill>
                <a:effectLst/>
                <a:latin typeface="Consolas" panose="020B0609020204030204" pitchFamily="49" charset="0"/>
              </a:rPr>
              <a:t>console</a:t>
            </a:r>
            <a:r>
              <a:rPr lang="fr-FR" sz="2400" b="0" dirty="0">
                <a:solidFill>
                  <a:srgbClr val="3B3B3B"/>
                </a:solidFill>
                <a:effectLst/>
                <a:latin typeface="Consolas" panose="020B0609020204030204" pitchFamily="49" charset="0"/>
              </a:rPr>
              <a:t>.</a:t>
            </a:r>
            <a:r>
              <a:rPr lang="fr-FR" sz="2400" b="0" dirty="0">
                <a:solidFill>
                  <a:srgbClr val="795E26"/>
                </a:solidFill>
                <a:effectLst/>
                <a:latin typeface="Consolas" panose="020B0609020204030204" pitchFamily="49" charset="0"/>
              </a:rPr>
              <a:t>log</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else</a:t>
            </a:r>
            <a:endParaRPr lang="fr-FR" sz="2400" b="0" dirty="0">
              <a:solidFill>
                <a:srgbClr val="3B3B3B"/>
              </a:solidFill>
              <a:effectLst/>
              <a:latin typeface="Consolas" panose="020B0609020204030204" pitchFamily="49" charset="0"/>
            </a:endParaRP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3B3B3B"/>
                </a:solidFill>
                <a:effectLst/>
                <a:latin typeface="Consolas" panose="020B0609020204030204" pitchFamily="49" charset="0"/>
              </a:rPr>
              <a:t>(</a:t>
            </a:r>
            <a:r>
              <a:rPr lang="fr-FR" sz="2400" b="0" dirty="0">
                <a:solidFill>
                  <a:srgbClr val="098658"/>
                </a:solidFill>
                <a:effectLst/>
                <a:latin typeface="Consolas" panose="020B0609020204030204" pitchFamily="49" charset="0"/>
              </a:rPr>
              <a:t>201</a:t>
            </a:r>
            <a:r>
              <a:rPr lang="fr-FR" sz="2400" b="0" dirty="0">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json</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token:token</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838588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B1A745-4BB5-4A6B-8F3B-A11B328255EB}"/>
              </a:ext>
            </a:extLst>
          </p:cNvPr>
          <p:cNvSpPr>
            <a:spLocks noGrp="1"/>
          </p:cNvSpPr>
          <p:nvPr>
            <p:ph type="title"/>
          </p:nvPr>
        </p:nvSpPr>
        <p:spPr/>
        <p:txBody>
          <a:bodyPr/>
          <a:lstStyle/>
          <a:p>
            <a:r>
              <a:rPr lang="fr-FR" b="1" i="0" dirty="0">
                <a:solidFill>
                  <a:srgbClr val="271A38"/>
                </a:solidFill>
                <a:effectLst/>
                <a:latin typeface="Inter"/>
              </a:rPr>
              <a:t>Implémentez le </a:t>
            </a:r>
            <a:r>
              <a:rPr lang="fr-FR" b="1" i="1" dirty="0">
                <a:solidFill>
                  <a:srgbClr val="271A38"/>
                </a:solidFill>
                <a:effectLst/>
                <a:latin typeface="Inter"/>
              </a:rPr>
              <a:t>middleware</a:t>
            </a:r>
            <a:r>
              <a:rPr lang="fr-FR" b="1" i="0" dirty="0">
                <a:solidFill>
                  <a:srgbClr val="271A38"/>
                </a:solidFill>
                <a:effectLst/>
                <a:latin typeface="Inter"/>
              </a:rPr>
              <a:t> d'authentification</a:t>
            </a:r>
            <a:endParaRPr lang="fr-FR" dirty="0"/>
          </a:p>
        </p:txBody>
      </p:sp>
      <p:sp>
        <p:nvSpPr>
          <p:cNvPr id="3" name="Espace réservé du contenu 2">
            <a:extLst>
              <a:ext uri="{FF2B5EF4-FFF2-40B4-BE49-F238E27FC236}">
                <a16:creationId xmlns:a16="http://schemas.microsoft.com/office/drawing/2014/main" id="{A1983726-FDFA-4071-865F-4C585C3F4703}"/>
              </a:ext>
            </a:extLst>
          </p:cNvPr>
          <p:cNvSpPr>
            <a:spLocks noGrp="1"/>
          </p:cNvSpPr>
          <p:nvPr>
            <p:ph idx="1"/>
          </p:nvPr>
        </p:nvSpPr>
        <p:spPr>
          <a:xfrm>
            <a:off x="1371599" y="2315981"/>
            <a:ext cx="10650511" cy="4572000"/>
          </a:xfrm>
        </p:spPr>
        <p:txBody>
          <a:bodyPr>
            <a:normAutofit/>
          </a:bodyPr>
          <a:lstStyle/>
          <a:p>
            <a:pPr marL="0" indent="0">
              <a:buNone/>
            </a:pPr>
            <a:r>
              <a:rPr lang="fr-FR" sz="2800" dirty="0"/>
              <a:t>Nous extrayons le </a:t>
            </a:r>
            <a:r>
              <a:rPr lang="fr-FR" sz="2800" dirty="0" err="1"/>
              <a:t>token</a:t>
            </a:r>
            <a:r>
              <a:rPr lang="fr-FR" sz="2800" dirty="0"/>
              <a:t> du header </a:t>
            </a:r>
            <a:r>
              <a:rPr lang="fr-FR" sz="2800" i="1" dirty="0" err="1"/>
              <a:t>Authorization</a:t>
            </a:r>
            <a:r>
              <a:rPr lang="fr-FR" sz="2800" dirty="0"/>
              <a:t> de la requête entrante. Il contiendra également le mot-clé </a:t>
            </a:r>
            <a:r>
              <a:rPr lang="fr-FR" sz="2800" i="1" dirty="0" err="1"/>
              <a:t>Bearer</a:t>
            </a:r>
            <a:r>
              <a:rPr lang="fr-FR" sz="2800" dirty="0"/>
              <a:t>.</a:t>
            </a:r>
          </a:p>
          <a:p>
            <a:pPr marL="0" indent="0">
              <a:buNone/>
            </a:pPr>
            <a:endParaRPr lang="fr-FR" sz="2800" dirty="0"/>
          </a:p>
          <a:p>
            <a:r>
              <a:rPr lang="fr-FR" sz="2800" dirty="0"/>
              <a:t>Nous utilisons donc la fonction split pour tout récupérer après l'espace dans le header. </a:t>
            </a:r>
          </a:p>
          <a:p>
            <a:endParaRPr lang="fr-FR" sz="2800" dirty="0"/>
          </a:p>
          <a:p>
            <a:r>
              <a:rPr lang="fr-FR" sz="2800" dirty="0"/>
              <a:t>Nous utilisons ensuite la fonction </a:t>
            </a:r>
            <a:r>
              <a:rPr lang="fr-FR" sz="2800" b="1" i="1" dirty="0" err="1"/>
              <a:t>verify</a:t>
            </a:r>
            <a:r>
              <a:rPr lang="fr-FR" sz="2800" dirty="0"/>
              <a:t> pour décoder notre </a:t>
            </a:r>
            <a:r>
              <a:rPr lang="fr-FR" sz="2800" dirty="0" err="1"/>
              <a:t>token</a:t>
            </a:r>
            <a:r>
              <a:rPr lang="fr-FR" sz="2800" dirty="0"/>
              <a:t>. Si celui-ci n'est pas valide, une erreur sera générée.</a:t>
            </a:r>
          </a:p>
          <a:p>
            <a:endParaRPr lang="fr-FR" sz="2800" dirty="0"/>
          </a:p>
        </p:txBody>
      </p:sp>
    </p:spTree>
    <p:extLst>
      <p:ext uri="{BB962C8B-B14F-4D97-AF65-F5344CB8AC3E}">
        <p14:creationId xmlns:p14="http://schemas.microsoft.com/office/powerpoint/2010/main" val="3289126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B1A745-4BB5-4A6B-8F3B-A11B328255EB}"/>
              </a:ext>
            </a:extLst>
          </p:cNvPr>
          <p:cNvSpPr>
            <a:spLocks noGrp="1"/>
          </p:cNvSpPr>
          <p:nvPr>
            <p:ph type="title"/>
          </p:nvPr>
        </p:nvSpPr>
        <p:spPr/>
        <p:txBody>
          <a:bodyPr/>
          <a:lstStyle/>
          <a:p>
            <a:r>
              <a:rPr lang="fr-FR" b="1" i="0" dirty="0">
                <a:solidFill>
                  <a:srgbClr val="271A38"/>
                </a:solidFill>
                <a:effectLst/>
                <a:latin typeface="Inter"/>
              </a:rPr>
              <a:t>Implémentez le </a:t>
            </a:r>
            <a:r>
              <a:rPr lang="fr-FR" b="1" i="1" dirty="0">
                <a:solidFill>
                  <a:srgbClr val="271A38"/>
                </a:solidFill>
                <a:effectLst/>
                <a:latin typeface="Inter"/>
              </a:rPr>
              <a:t>middleware</a:t>
            </a:r>
            <a:r>
              <a:rPr lang="fr-FR" b="1" i="0" dirty="0">
                <a:solidFill>
                  <a:srgbClr val="271A38"/>
                </a:solidFill>
                <a:effectLst/>
                <a:latin typeface="Inter"/>
              </a:rPr>
              <a:t> d'authentification</a:t>
            </a:r>
            <a:endParaRPr lang="fr-FR" dirty="0"/>
          </a:p>
        </p:txBody>
      </p:sp>
      <p:sp>
        <p:nvSpPr>
          <p:cNvPr id="3" name="Espace réservé du contenu 2">
            <a:extLst>
              <a:ext uri="{FF2B5EF4-FFF2-40B4-BE49-F238E27FC236}">
                <a16:creationId xmlns:a16="http://schemas.microsoft.com/office/drawing/2014/main" id="{A1983726-FDFA-4071-865F-4C585C3F4703}"/>
              </a:ext>
            </a:extLst>
          </p:cNvPr>
          <p:cNvSpPr>
            <a:spLocks noGrp="1"/>
          </p:cNvSpPr>
          <p:nvPr>
            <p:ph idx="1"/>
          </p:nvPr>
        </p:nvSpPr>
        <p:spPr>
          <a:xfrm>
            <a:off x="1371599" y="2286000"/>
            <a:ext cx="10650511" cy="4572000"/>
          </a:xfrm>
        </p:spPr>
        <p:txBody>
          <a:bodyPr>
            <a:normAutofit/>
          </a:bodyPr>
          <a:lstStyle/>
          <a:p>
            <a:pPr marL="0" indent="0">
              <a:buNone/>
            </a:pPr>
            <a:endParaRPr lang="fr-FR" sz="2800" dirty="0"/>
          </a:p>
          <a:p>
            <a:r>
              <a:rPr lang="fr-FR" sz="2800" dirty="0"/>
              <a:t>Nous extrayons l'ID utilisateur de notre </a:t>
            </a:r>
            <a:r>
              <a:rPr lang="fr-FR" sz="2800" dirty="0" err="1"/>
              <a:t>token</a:t>
            </a:r>
            <a:r>
              <a:rPr lang="fr-FR" sz="2800" dirty="0"/>
              <a:t> et le rajoutons à l’objet </a:t>
            </a:r>
            <a:r>
              <a:rPr lang="fr-FR" sz="2800" dirty="0" err="1"/>
              <a:t>Request</a:t>
            </a:r>
            <a:r>
              <a:rPr lang="fr-FR" sz="2800" dirty="0"/>
              <a:t> afin que nos différentes routes puissent l’exploiter.</a:t>
            </a:r>
          </a:p>
          <a:p>
            <a:endParaRPr lang="fr-FR" sz="2800" dirty="0"/>
          </a:p>
          <a:p>
            <a:r>
              <a:rPr lang="fr-FR" sz="2800" dirty="0"/>
              <a:t>Dans le cas contraire, tout fonctionne et notre utilisateur est authentifié. Nous passons à l'exécution à l'aide de la fonction </a:t>
            </a:r>
            <a:r>
              <a:rPr lang="fr-FR" sz="2800" dirty="0" err="1"/>
              <a:t>next</a:t>
            </a:r>
            <a:r>
              <a:rPr lang="fr-FR" sz="2800" dirty="0"/>
              <a:t>().</a:t>
            </a:r>
          </a:p>
        </p:txBody>
      </p:sp>
    </p:spTree>
    <p:extLst>
      <p:ext uri="{BB962C8B-B14F-4D97-AF65-F5344CB8AC3E}">
        <p14:creationId xmlns:p14="http://schemas.microsoft.com/office/powerpoint/2010/main" val="170714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29232F-629C-406C-A060-2AEA4C8106CD}"/>
              </a:ext>
            </a:extLst>
          </p:cNvPr>
          <p:cNvSpPr>
            <a:spLocks noGrp="1"/>
          </p:cNvSpPr>
          <p:nvPr>
            <p:ph type="title"/>
          </p:nvPr>
        </p:nvSpPr>
        <p:spPr/>
        <p:txBody>
          <a:bodyPr>
            <a:normAutofit/>
          </a:bodyPr>
          <a:lstStyle/>
          <a:p>
            <a:r>
              <a:rPr lang="fr-FR" b="1" i="0" dirty="0">
                <a:solidFill>
                  <a:srgbClr val="271A38"/>
                </a:solidFill>
                <a:effectLst/>
                <a:latin typeface="Inter"/>
              </a:rPr>
              <a:t>Implémentez le </a:t>
            </a:r>
            <a:r>
              <a:rPr lang="fr-FR" b="1" i="1" dirty="0">
                <a:solidFill>
                  <a:srgbClr val="271A38"/>
                </a:solidFill>
                <a:effectLst/>
                <a:latin typeface="Inter"/>
              </a:rPr>
              <a:t>middleware</a:t>
            </a:r>
            <a:r>
              <a:rPr lang="fr-FR" b="1" i="0" dirty="0">
                <a:solidFill>
                  <a:srgbClr val="271A38"/>
                </a:solidFill>
                <a:effectLst/>
                <a:latin typeface="Inter"/>
              </a:rPr>
              <a:t> d'authentification</a:t>
            </a:r>
            <a:endParaRPr lang="fr-FR" dirty="0"/>
          </a:p>
        </p:txBody>
      </p:sp>
      <p:sp>
        <p:nvSpPr>
          <p:cNvPr id="3" name="Espace réservé du contenu 2">
            <a:extLst>
              <a:ext uri="{FF2B5EF4-FFF2-40B4-BE49-F238E27FC236}">
                <a16:creationId xmlns:a16="http://schemas.microsoft.com/office/drawing/2014/main" id="{BDE08641-044B-4D3B-A981-A07A769D2F40}"/>
              </a:ext>
            </a:extLst>
          </p:cNvPr>
          <p:cNvSpPr>
            <a:spLocks noGrp="1"/>
          </p:cNvSpPr>
          <p:nvPr>
            <p:ph idx="1"/>
          </p:nvPr>
        </p:nvSpPr>
        <p:spPr/>
        <p:txBody>
          <a:bodyPr/>
          <a:lstStyle/>
          <a:p>
            <a:r>
              <a:rPr lang="fr-FR" dirty="0"/>
              <a:t>Nous allons à présent créer le middleware qui va vérifier que l’utilisateur est bien connecté et transmettre les informations de connexion aux différentes méthodes qui vont gérer les requêtes.</a:t>
            </a:r>
          </a:p>
          <a:p>
            <a:endParaRPr lang="fr-FR" dirty="0"/>
          </a:p>
          <a:p>
            <a:r>
              <a:rPr lang="fr-FR" dirty="0"/>
              <a:t>Créez un dossier middleware et un fichier auth.js à l'intérieur :</a:t>
            </a:r>
          </a:p>
        </p:txBody>
      </p:sp>
      <p:grpSp>
        <p:nvGrpSpPr>
          <p:cNvPr id="7" name="Groupe 6">
            <a:extLst>
              <a:ext uri="{FF2B5EF4-FFF2-40B4-BE49-F238E27FC236}">
                <a16:creationId xmlns:a16="http://schemas.microsoft.com/office/drawing/2014/main" id="{7DF4AA95-1BA9-4648-80C5-184C3E704F6C}"/>
              </a:ext>
            </a:extLst>
          </p:cNvPr>
          <p:cNvGrpSpPr/>
          <p:nvPr/>
        </p:nvGrpSpPr>
        <p:grpSpPr>
          <a:xfrm>
            <a:off x="3263442" y="4360985"/>
            <a:ext cx="4619831" cy="2297428"/>
            <a:chOff x="1020726" y="2697259"/>
            <a:chExt cx="8910083" cy="3967369"/>
          </a:xfrm>
        </p:grpSpPr>
        <p:cxnSp>
          <p:nvCxnSpPr>
            <p:cNvPr id="8" name="Connecteur droit avec flèche 7">
              <a:extLst>
                <a:ext uri="{FF2B5EF4-FFF2-40B4-BE49-F238E27FC236}">
                  <a16:creationId xmlns:a16="http://schemas.microsoft.com/office/drawing/2014/main" id="{5A31AEAE-F0EE-4AEC-92CD-476044A566FD}"/>
                </a:ext>
              </a:extLst>
            </p:cNvPr>
            <p:cNvCxnSpPr>
              <a:cxnSpLocks/>
            </p:cNvCxnSpPr>
            <p:nvPr/>
          </p:nvCxnSpPr>
          <p:spPr>
            <a:xfrm flipV="1">
              <a:off x="2186494" y="4460345"/>
              <a:ext cx="2107771" cy="13599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9" name="Groupe 8">
              <a:extLst>
                <a:ext uri="{FF2B5EF4-FFF2-40B4-BE49-F238E27FC236}">
                  <a16:creationId xmlns:a16="http://schemas.microsoft.com/office/drawing/2014/main" id="{E6F7C580-0940-4309-BE0A-7533897FD0ED}"/>
                </a:ext>
              </a:extLst>
            </p:cNvPr>
            <p:cNvGrpSpPr/>
            <p:nvPr/>
          </p:nvGrpSpPr>
          <p:grpSpPr>
            <a:xfrm>
              <a:off x="1020726" y="2697259"/>
              <a:ext cx="8910083" cy="3967369"/>
              <a:chOff x="1020726" y="2697259"/>
              <a:chExt cx="8910083" cy="3967369"/>
            </a:xfrm>
          </p:grpSpPr>
          <p:grpSp>
            <p:nvGrpSpPr>
              <p:cNvPr id="10" name="Groupe 9">
                <a:extLst>
                  <a:ext uri="{FF2B5EF4-FFF2-40B4-BE49-F238E27FC236}">
                    <a16:creationId xmlns:a16="http://schemas.microsoft.com/office/drawing/2014/main" id="{B53C2EE9-B8AD-423F-AE72-5A5A95E71F4A}"/>
                  </a:ext>
                </a:extLst>
              </p:cNvPr>
              <p:cNvGrpSpPr/>
              <p:nvPr/>
            </p:nvGrpSpPr>
            <p:grpSpPr>
              <a:xfrm>
                <a:off x="1020726" y="3693980"/>
                <a:ext cx="8910083" cy="2970648"/>
                <a:chOff x="1020726" y="2972831"/>
                <a:chExt cx="8910083" cy="2970648"/>
              </a:xfrm>
            </p:grpSpPr>
            <p:sp>
              <p:nvSpPr>
                <p:cNvPr id="13" name="Rectangle 12">
                  <a:extLst>
                    <a:ext uri="{FF2B5EF4-FFF2-40B4-BE49-F238E27FC236}">
                      <a16:creationId xmlns:a16="http://schemas.microsoft.com/office/drawing/2014/main" id="{2BC4D652-0CEB-46C5-A943-55AE12161568}"/>
                    </a:ext>
                  </a:extLst>
                </p:cNvPr>
                <p:cNvSpPr/>
                <p:nvPr/>
              </p:nvSpPr>
              <p:spPr>
                <a:xfrm>
                  <a:off x="8187071" y="4685782"/>
                  <a:ext cx="1743738" cy="8387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000" dirty="0"/>
                    <a:t>Produit -service</a:t>
                  </a:r>
                </a:p>
              </p:txBody>
            </p:sp>
            <p:sp>
              <p:nvSpPr>
                <p:cNvPr id="14" name="Rectangle 13">
                  <a:extLst>
                    <a:ext uri="{FF2B5EF4-FFF2-40B4-BE49-F238E27FC236}">
                      <a16:creationId xmlns:a16="http://schemas.microsoft.com/office/drawing/2014/main" id="{AD7A0BA4-EEF6-4317-BAEE-E013E5E786F8}"/>
                    </a:ext>
                  </a:extLst>
                </p:cNvPr>
                <p:cNvSpPr/>
                <p:nvPr/>
              </p:nvSpPr>
              <p:spPr>
                <a:xfrm>
                  <a:off x="8187070" y="3219055"/>
                  <a:ext cx="1743739" cy="74427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000" dirty="0"/>
                    <a:t>Commande -service</a:t>
                  </a:r>
                </a:p>
              </p:txBody>
            </p:sp>
            <p:sp>
              <p:nvSpPr>
                <p:cNvPr id="15" name="Rectangle 14">
                  <a:extLst>
                    <a:ext uri="{FF2B5EF4-FFF2-40B4-BE49-F238E27FC236}">
                      <a16:creationId xmlns:a16="http://schemas.microsoft.com/office/drawing/2014/main" id="{68891091-A98F-443C-9F19-1DCECFE76282}"/>
                    </a:ext>
                  </a:extLst>
                </p:cNvPr>
                <p:cNvSpPr/>
                <p:nvPr/>
              </p:nvSpPr>
              <p:spPr>
                <a:xfrm>
                  <a:off x="3708782" y="2972831"/>
                  <a:ext cx="1743739" cy="74427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dirty="0"/>
                    <a:t>Authentification- service</a:t>
                  </a:r>
                </a:p>
              </p:txBody>
            </p:sp>
            <p:sp>
              <p:nvSpPr>
                <p:cNvPr id="16" name="Rectangle : coins arrondis 15">
                  <a:extLst>
                    <a:ext uri="{FF2B5EF4-FFF2-40B4-BE49-F238E27FC236}">
                      <a16:creationId xmlns:a16="http://schemas.microsoft.com/office/drawing/2014/main" id="{4E8B835F-8D05-44BA-B5D3-DDAA6DF93D63}"/>
                    </a:ext>
                  </a:extLst>
                </p:cNvPr>
                <p:cNvSpPr/>
                <p:nvPr/>
              </p:nvSpPr>
              <p:spPr>
                <a:xfrm>
                  <a:off x="1020726" y="4742121"/>
                  <a:ext cx="1452155" cy="66985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000" dirty="0"/>
                    <a:t>Client</a:t>
                  </a:r>
                </a:p>
              </p:txBody>
            </p:sp>
            <p:cxnSp>
              <p:nvCxnSpPr>
                <p:cNvPr id="17" name="Connecteur droit avec flèche 16">
                  <a:extLst>
                    <a:ext uri="{FF2B5EF4-FFF2-40B4-BE49-F238E27FC236}">
                      <a16:creationId xmlns:a16="http://schemas.microsoft.com/office/drawing/2014/main" id="{48B4894F-98C4-44E3-8BAB-C321217E87FD}"/>
                    </a:ext>
                  </a:extLst>
                </p:cNvPr>
                <p:cNvCxnSpPr>
                  <a:cxnSpLocks/>
                  <a:stCxn id="15" idx="1"/>
                  <a:endCxn id="16" idx="0"/>
                </p:cNvCxnSpPr>
                <p:nvPr/>
              </p:nvCxnSpPr>
              <p:spPr>
                <a:xfrm flipH="1">
                  <a:off x="1746804" y="3344971"/>
                  <a:ext cx="1961978" cy="139715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8" name="ZoneTexte 17">
                  <a:extLst>
                    <a:ext uri="{FF2B5EF4-FFF2-40B4-BE49-F238E27FC236}">
                      <a16:creationId xmlns:a16="http://schemas.microsoft.com/office/drawing/2014/main" id="{DE990BD9-C838-41A3-A185-5CFD23CB5308}"/>
                    </a:ext>
                  </a:extLst>
                </p:cNvPr>
                <p:cNvSpPr txBox="1"/>
                <p:nvPr/>
              </p:nvSpPr>
              <p:spPr>
                <a:xfrm rot="19564369">
                  <a:off x="2343044" y="3885983"/>
                  <a:ext cx="1961978" cy="425192"/>
                </a:xfrm>
                <a:prstGeom prst="rect">
                  <a:avLst/>
                </a:prstGeom>
                <a:noFill/>
              </p:spPr>
              <p:txBody>
                <a:bodyPr wrap="square" rtlCol="0">
                  <a:spAutoFit/>
                </a:bodyPr>
                <a:lstStyle/>
                <a:p>
                  <a:r>
                    <a:rPr lang="fr-FR" sz="1000" dirty="0"/>
                    <a:t>1. S’authentifier</a:t>
                  </a:r>
                </a:p>
              </p:txBody>
            </p:sp>
            <p:sp>
              <p:nvSpPr>
                <p:cNvPr id="19" name="ZoneTexte 18">
                  <a:extLst>
                    <a:ext uri="{FF2B5EF4-FFF2-40B4-BE49-F238E27FC236}">
                      <a16:creationId xmlns:a16="http://schemas.microsoft.com/office/drawing/2014/main" id="{19A08B0D-6805-4F7A-8612-214D7D909F46}"/>
                    </a:ext>
                  </a:extLst>
                </p:cNvPr>
                <p:cNvSpPr txBox="1"/>
                <p:nvPr/>
              </p:nvSpPr>
              <p:spPr>
                <a:xfrm rot="19564369">
                  <a:off x="1928251" y="3504513"/>
                  <a:ext cx="1961978" cy="425192"/>
                </a:xfrm>
                <a:prstGeom prst="rect">
                  <a:avLst/>
                </a:prstGeom>
                <a:noFill/>
              </p:spPr>
              <p:txBody>
                <a:bodyPr wrap="square" rtlCol="0">
                  <a:spAutoFit/>
                </a:bodyPr>
                <a:lstStyle/>
                <a:p>
                  <a:r>
                    <a:rPr lang="fr-FR" sz="1000" dirty="0"/>
                    <a:t>3. </a:t>
                  </a:r>
                  <a:r>
                    <a:rPr lang="fr-FR" sz="1000" dirty="0" err="1"/>
                    <a:t>Token</a:t>
                  </a:r>
                  <a:r>
                    <a:rPr lang="fr-FR" sz="1000" dirty="0"/>
                    <a:t> JWT</a:t>
                  </a:r>
                </a:p>
              </p:txBody>
            </p:sp>
            <p:cxnSp>
              <p:nvCxnSpPr>
                <p:cNvPr id="20" name="Connecteur droit avec flèche 19">
                  <a:extLst>
                    <a:ext uri="{FF2B5EF4-FFF2-40B4-BE49-F238E27FC236}">
                      <a16:creationId xmlns:a16="http://schemas.microsoft.com/office/drawing/2014/main" id="{A07C51E4-C2E8-4671-9995-265EA4BB1F26}"/>
                    </a:ext>
                  </a:extLst>
                </p:cNvPr>
                <p:cNvCxnSpPr>
                  <a:cxnSpLocks/>
                  <a:stCxn id="16" idx="3"/>
                  <a:endCxn id="14" idx="1"/>
                </p:cNvCxnSpPr>
                <p:nvPr/>
              </p:nvCxnSpPr>
              <p:spPr>
                <a:xfrm flipV="1">
                  <a:off x="2472881" y="3591195"/>
                  <a:ext cx="5714189" cy="14858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1" name="ZoneTexte 20">
                  <a:extLst>
                    <a:ext uri="{FF2B5EF4-FFF2-40B4-BE49-F238E27FC236}">
                      <a16:creationId xmlns:a16="http://schemas.microsoft.com/office/drawing/2014/main" id="{2E2145D0-3CC0-403A-B3D6-221BABF8BC2F}"/>
                    </a:ext>
                  </a:extLst>
                </p:cNvPr>
                <p:cNvSpPr txBox="1"/>
                <p:nvPr/>
              </p:nvSpPr>
              <p:spPr>
                <a:xfrm rot="20767956">
                  <a:off x="5334718" y="3709144"/>
                  <a:ext cx="1961978" cy="425192"/>
                </a:xfrm>
                <a:prstGeom prst="rect">
                  <a:avLst/>
                </a:prstGeom>
                <a:noFill/>
              </p:spPr>
              <p:txBody>
                <a:bodyPr wrap="square" rtlCol="0">
                  <a:spAutoFit/>
                </a:bodyPr>
                <a:lstStyle/>
                <a:p>
                  <a:r>
                    <a:rPr lang="fr-FR" sz="1000" dirty="0"/>
                    <a:t>4. </a:t>
                  </a:r>
                  <a:r>
                    <a:rPr lang="fr-FR" sz="1000" dirty="0" err="1"/>
                    <a:t>Token</a:t>
                  </a:r>
                  <a:r>
                    <a:rPr lang="fr-FR" sz="1000" dirty="0"/>
                    <a:t> JWT</a:t>
                  </a:r>
                </a:p>
              </p:txBody>
            </p:sp>
            <p:cxnSp>
              <p:nvCxnSpPr>
                <p:cNvPr id="22" name="Connecteur droit avec flèche 21">
                  <a:extLst>
                    <a:ext uri="{FF2B5EF4-FFF2-40B4-BE49-F238E27FC236}">
                      <a16:creationId xmlns:a16="http://schemas.microsoft.com/office/drawing/2014/main" id="{2FBE73C1-3743-4F39-B358-1D87CD174E2A}"/>
                    </a:ext>
                  </a:extLst>
                </p:cNvPr>
                <p:cNvCxnSpPr>
                  <a:cxnSpLocks/>
                  <a:endCxn id="13" idx="1"/>
                </p:cNvCxnSpPr>
                <p:nvPr/>
              </p:nvCxnSpPr>
              <p:spPr>
                <a:xfrm flipV="1">
                  <a:off x="2465644" y="5105181"/>
                  <a:ext cx="5721427" cy="611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3" name="ZoneTexte 22">
                  <a:extLst>
                    <a:ext uri="{FF2B5EF4-FFF2-40B4-BE49-F238E27FC236}">
                      <a16:creationId xmlns:a16="http://schemas.microsoft.com/office/drawing/2014/main" id="{9C514F15-6A99-472E-AE34-8F162ED7D688}"/>
                    </a:ext>
                  </a:extLst>
                </p:cNvPr>
                <p:cNvSpPr txBox="1"/>
                <p:nvPr/>
              </p:nvSpPr>
              <p:spPr>
                <a:xfrm>
                  <a:off x="5348151" y="4825460"/>
                  <a:ext cx="1961978" cy="425192"/>
                </a:xfrm>
                <a:prstGeom prst="rect">
                  <a:avLst/>
                </a:prstGeom>
                <a:noFill/>
              </p:spPr>
              <p:txBody>
                <a:bodyPr wrap="square" rtlCol="0">
                  <a:spAutoFit/>
                </a:bodyPr>
                <a:lstStyle/>
                <a:p>
                  <a:r>
                    <a:rPr lang="fr-FR" sz="1000" dirty="0"/>
                    <a:t>4. </a:t>
                  </a:r>
                  <a:r>
                    <a:rPr lang="fr-FR" sz="1000" dirty="0" err="1"/>
                    <a:t>Token</a:t>
                  </a:r>
                  <a:r>
                    <a:rPr lang="fr-FR" sz="1000" dirty="0"/>
                    <a:t> JWT</a:t>
                  </a:r>
                </a:p>
              </p:txBody>
            </p:sp>
            <p:sp>
              <p:nvSpPr>
                <p:cNvPr id="24" name="Hexagone 23">
                  <a:extLst>
                    <a:ext uri="{FF2B5EF4-FFF2-40B4-BE49-F238E27FC236}">
                      <a16:creationId xmlns:a16="http://schemas.microsoft.com/office/drawing/2014/main" id="{D70F9ED7-3C6D-432F-A362-E0813F6D7FA8}"/>
                    </a:ext>
                  </a:extLst>
                </p:cNvPr>
                <p:cNvSpPr/>
                <p:nvPr/>
              </p:nvSpPr>
              <p:spPr>
                <a:xfrm>
                  <a:off x="7145799" y="3848266"/>
                  <a:ext cx="1995486"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dirty="0"/>
                    <a:t>Validation </a:t>
                  </a:r>
                  <a:r>
                    <a:rPr lang="fr-FR" sz="900" b="1" dirty="0"/>
                    <a:t>du</a:t>
                  </a:r>
                  <a:r>
                    <a:rPr lang="fr-FR" sz="1000" b="1" dirty="0"/>
                    <a:t> </a:t>
                  </a:r>
                  <a:r>
                    <a:rPr lang="fr-FR" sz="1000" b="1" dirty="0" err="1"/>
                    <a:t>Token</a:t>
                  </a:r>
                  <a:endParaRPr lang="fr-FR" sz="1000" b="1" dirty="0"/>
                </a:p>
              </p:txBody>
            </p:sp>
            <p:sp>
              <p:nvSpPr>
                <p:cNvPr id="25" name="Hexagone 24">
                  <a:extLst>
                    <a:ext uri="{FF2B5EF4-FFF2-40B4-BE49-F238E27FC236}">
                      <a16:creationId xmlns:a16="http://schemas.microsoft.com/office/drawing/2014/main" id="{65A65B09-2BF9-4152-A815-84BDE4FAB485}"/>
                    </a:ext>
                  </a:extLst>
                </p:cNvPr>
                <p:cNvSpPr/>
                <p:nvPr/>
              </p:nvSpPr>
              <p:spPr>
                <a:xfrm>
                  <a:off x="7164706" y="5366710"/>
                  <a:ext cx="1995482"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dirty="0"/>
                    <a:t>Validation du </a:t>
                  </a:r>
                  <a:r>
                    <a:rPr lang="fr-FR" sz="1000" b="1" dirty="0" err="1"/>
                    <a:t>Token</a:t>
                  </a:r>
                  <a:endParaRPr lang="fr-FR" sz="1000" b="1" dirty="0"/>
                </a:p>
              </p:txBody>
            </p:sp>
          </p:grpSp>
          <p:sp>
            <p:nvSpPr>
              <p:cNvPr id="11" name="Cylindre 10">
                <a:extLst>
                  <a:ext uri="{FF2B5EF4-FFF2-40B4-BE49-F238E27FC236}">
                    <a16:creationId xmlns:a16="http://schemas.microsoft.com/office/drawing/2014/main" id="{01B320B2-6C53-4677-A631-EE5770160514}"/>
                  </a:ext>
                </a:extLst>
              </p:cNvPr>
              <p:cNvSpPr/>
              <p:nvPr/>
            </p:nvSpPr>
            <p:spPr>
              <a:xfrm>
                <a:off x="5452518" y="2697259"/>
                <a:ext cx="2379066" cy="638465"/>
              </a:xfrm>
              <a:prstGeom prst="ca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dirty="0"/>
                  <a:t>Base de donnés « utilisateurs »</a:t>
                </a:r>
              </a:p>
            </p:txBody>
          </p:sp>
          <p:cxnSp>
            <p:nvCxnSpPr>
              <p:cNvPr id="12" name="Connecteur droit avec flèche 11">
                <a:extLst>
                  <a:ext uri="{FF2B5EF4-FFF2-40B4-BE49-F238E27FC236}">
                    <a16:creationId xmlns:a16="http://schemas.microsoft.com/office/drawing/2014/main" id="{17589292-D694-46E1-AAE5-B83927141053}"/>
                  </a:ext>
                </a:extLst>
              </p:cNvPr>
              <p:cNvCxnSpPr>
                <a:cxnSpLocks/>
                <a:stCxn id="11" idx="2"/>
                <a:endCxn id="15" idx="0"/>
              </p:cNvCxnSpPr>
              <p:nvPr/>
            </p:nvCxnSpPr>
            <p:spPr>
              <a:xfrm flipH="1">
                <a:off x="4580652" y="3016492"/>
                <a:ext cx="871866" cy="677489"/>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grpSp>
      </p:grpSp>
      <p:sp>
        <p:nvSpPr>
          <p:cNvPr id="26" name="ZoneTexte 25">
            <a:extLst>
              <a:ext uri="{FF2B5EF4-FFF2-40B4-BE49-F238E27FC236}">
                <a16:creationId xmlns:a16="http://schemas.microsoft.com/office/drawing/2014/main" id="{3277646E-38D8-4FF1-8065-3635DC2ECDB6}"/>
              </a:ext>
            </a:extLst>
          </p:cNvPr>
          <p:cNvSpPr txBox="1"/>
          <p:nvPr/>
        </p:nvSpPr>
        <p:spPr>
          <a:xfrm rot="19434634">
            <a:off x="4759019" y="4229584"/>
            <a:ext cx="1008178" cy="415498"/>
          </a:xfrm>
          <a:prstGeom prst="rect">
            <a:avLst/>
          </a:prstGeom>
          <a:noFill/>
        </p:spPr>
        <p:txBody>
          <a:bodyPr wrap="square" rtlCol="0">
            <a:spAutoFit/>
          </a:bodyPr>
          <a:lstStyle/>
          <a:p>
            <a:r>
              <a:rPr lang="fr-FR" sz="700" dirty="0"/>
              <a:t>2. Vérification des données d’authentification</a:t>
            </a:r>
          </a:p>
        </p:txBody>
      </p:sp>
      <p:sp>
        <p:nvSpPr>
          <p:cNvPr id="27" name="Rectangle 26">
            <a:extLst>
              <a:ext uri="{FF2B5EF4-FFF2-40B4-BE49-F238E27FC236}">
                <a16:creationId xmlns:a16="http://schemas.microsoft.com/office/drawing/2014/main" id="{E3751705-134E-4F0E-A529-1D70911335E9}"/>
              </a:ext>
            </a:extLst>
          </p:cNvPr>
          <p:cNvSpPr/>
          <p:nvPr/>
        </p:nvSpPr>
        <p:spPr>
          <a:xfrm>
            <a:off x="6395015" y="5334218"/>
            <a:ext cx="1123138" cy="140828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95373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29232F-629C-406C-A060-2AEA4C8106CD}"/>
              </a:ext>
            </a:extLst>
          </p:cNvPr>
          <p:cNvSpPr>
            <a:spLocks noGrp="1"/>
          </p:cNvSpPr>
          <p:nvPr>
            <p:ph type="title"/>
          </p:nvPr>
        </p:nvSpPr>
        <p:spPr/>
        <p:txBody>
          <a:bodyPr>
            <a:normAutofit/>
          </a:bodyPr>
          <a:lstStyle/>
          <a:p>
            <a:r>
              <a:rPr lang="fr-FR" b="1" i="0" dirty="0">
                <a:solidFill>
                  <a:srgbClr val="271A38"/>
                </a:solidFill>
                <a:effectLst/>
                <a:latin typeface="Inter"/>
              </a:rPr>
              <a:t>le </a:t>
            </a:r>
            <a:r>
              <a:rPr lang="fr-FR" b="1" i="1" dirty="0">
                <a:solidFill>
                  <a:srgbClr val="271A38"/>
                </a:solidFill>
                <a:effectLst/>
                <a:latin typeface="Inter"/>
              </a:rPr>
              <a:t>middleware</a:t>
            </a:r>
            <a:r>
              <a:rPr lang="fr-FR" b="1" i="0" dirty="0">
                <a:solidFill>
                  <a:srgbClr val="271A38"/>
                </a:solidFill>
                <a:effectLst/>
                <a:latin typeface="Inter"/>
              </a:rPr>
              <a:t> d'authentification</a:t>
            </a:r>
            <a:endParaRPr lang="fr-FR" dirty="0"/>
          </a:p>
        </p:txBody>
      </p:sp>
      <p:grpSp>
        <p:nvGrpSpPr>
          <p:cNvPr id="7" name="Groupe 6">
            <a:extLst>
              <a:ext uri="{FF2B5EF4-FFF2-40B4-BE49-F238E27FC236}">
                <a16:creationId xmlns:a16="http://schemas.microsoft.com/office/drawing/2014/main" id="{7DF4AA95-1BA9-4648-80C5-184C3E704F6C}"/>
              </a:ext>
            </a:extLst>
          </p:cNvPr>
          <p:cNvGrpSpPr/>
          <p:nvPr/>
        </p:nvGrpSpPr>
        <p:grpSpPr>
          <a:xfrm>
            <a:off x="2431403" y="1380613"/>
            <a:ext cx="8818630" cy="5324288"/>
            <a:chOff x="1020726" y="2697259"/>
            <a:chExt cx="8910083" cy="3967369"/>
          </a:xfrm>
        </p:grpSpPr>
        <p:cxnSp>
          <p:nvCxnSpPr>
            <p:cNvPr id="8" name="Connecteur droit avec flèche 7">
              <a:extLst>
                <a:ext uri="{FF2B5EF4-FFF2-40B4-BE49-F238E27FC236}">
                  <a16:creationId xmlns:a16="http://schemas.microsoft.com/office/drawing/2014/main" id="{5A31AEAE-F0EE-4AEC-92CD-476044A566FD}"/>
                </a:ext>
              </a:extLst>
            </p:cNvPr>
            <p:cNvCxnSpPr>
              <a:cxnSpLocks/>
            </p:cNvCxnSpPr>
            <p:nvPr/>
          </p:nvCxnSpPr>
          <p:spPr>
            <a:xfrm flipV="1">
              <a:off x="2186494" y="4460345"/>
              <a:ext cx="2107771" cy="135993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9" name="Groupe 8">
              <a:extLst>
                <a:ext uri="{FF2B5EF4-FFF2-40B4-BE49-F238E27FC236}">
                  <a16:creationId xmlns:a16="http://schemas.microsoft.com/office/drawing/2014/main" id="{E6F7C580-0940-4309-BE0A-7533897FD0ED}"/>
                </a:ext>
              </a:extLst>
            </p:cNvPr>
            <p:cNvGrpSpPr/>
            <p:nvPr/>
          </p:nvGrpSpPr>
          <p:grpSpPr>
            <a:xfrm>
              <a:off x="1020726" y="2697259"/>
              <a:ext cx="8910083" cy="3967369"/>
              <a:chOff x="1020726" y="2697259"/>
              <a:chExt cx="8910083" cy="3967369"/>
            </a:xfrm>
          </p:grpSpPr>
          <p:grpSp>
            <p:nvGrpSpPr>
              <p:cNvPr id="10" name="Groupe 9">
                <a:extLst>
                  <a:ext uri="{FF2B5EF4-FFF2-40B4-BE49-F238E27FC236}">
                    <a16:creationId xmlns:a16="http://schemas.microsoft.com/office/drawing/2014/main" id="{B53C2EE9-B8AD-423F-AE72-5A5A95E71F4A}"/>
                  </a:ext>
                </a:extLst>
              </p:cNvPr>
              <p:cNvGrpSpPr/>
              <p:nvPr/>
            </p:nvGrpSpPr>
            <p:grpSpPr>
              <a:xfrm>
                <a:off x="1020726" y="3693980"/>
                <a:ext cx="8910083" cy="2970648"/>
                <a:chOff x="1020726" y="2972831"/>
                <a:chExt cx="8910083" cy="2970648"/>
              </a:xfrm>
            </p:grpSpPr>
            <p:sp>
              <p:nvSpPr>
                <p:cNvPr id="13" name="Rectangle 12">
                  <a:extLst>
                    <a:ext uri="{FF2B5EF4-FFF2-40B4-BE49-F238E27FC236}">
                      <a16:creationId xmlns:a16="http://schemas.microsoft.com/office/drawing/2014/main" id="{2BC4D652-0CEB-46C5-A943-55AE12161568}"/>
                    </a:ext>
                  </a:extLst>
                </p:cNvPr>
                <p:cNvSpPr/>
                <p:nvPr/>
              </p:nvSpPr>
              <p:spPr>
                <a:xfrm>
                  <a:off x="8187071" y="4685782"/>
                  <a:ext cx="1743738" cy="83879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600" dirty="0"/>
                    <a:t>Produit -service</a:t>
                  </a:r>
                </a:p>
              </p:txBody>
            </p:sp>
            <p:sp>
              <p:nvSpPr>
                <p:cNvPr id="14" name="Rectangle 13">
                  <a:extLst>
                    <a:ext uri="{FF2B5EF4-FFF2-40B4-BE49-F238E27FC236}">
                      <a16:creationId xmlns:a16="http://schemas.microsoft.com/office/drawing/2014/main" id="{AD7A0BA4-EEF6-4317-BAEE-E013E5E786F8}"/>
                    </a:ext>
                  </a:extLst>
                </p:cNvPr>
                <p:cNvSpPr/>
                <p:nvPr/>
              </p:nvSpPr>
              <p:spPr>
                <a:xfrm>
                  <a:off x="8187070" y="3219055"/>
                  <a:ext cx="1743739" cy="74427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fr-FR" sz="1400" dirty="0"/>
                    <a:t>Commande -service</a:t>
                  </a:r>
                </a:p>
              </p:txBody>
            </p:sp>
            <p:sp>
              <p:nvSpPr>
                <p:cNvPr id="15" name="Rectangle 14">
                  <a:extLst>
                    <a:ext uri="{FF2B5EF4-FFF2-40B4-BE49-F238E27FC236}">
                      <a16:creationId xmlns:a16="http://schemas.microsoft.com/office/drawing/2014/main" id="{68891091-A98F-443C-9F19-1DCECFE76282}"/>
                    </a:ext>
                  </a:extLst>
                </p:cNvPr>
                <p:cNvSpPr/>
                <p:nvPr/>
              </p:nvSpPr>
              <p:spPr>
                <a:xfrm>
                  <a:off x="3708782" y="2972831"/>
                  <a:ext cx="1743739" cy="74427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dirty="0"/>
                    <a:t>Authentification- service</a:t>
                  </a:r>
                </a:p>
              </p:txBody>
            </p:sp>
            <p:sp>
              <p:nvSpPr>
                <p:cNvPr id="16" name="Rectangle : coins arrondis 15">
                  <a:extLst>
                    <a:ext uri="{FF2B5EF4-FFF2-40B4-BE49-F238E27FC236}">
                      <a16:creationId xmlns:a16="http://schemas.microsoft.com/office/drawing/2014/main" id="{4E8B835F-8D05-44BA-B5D3-DDAA6DF93D63}"/>
                    </a:ext>
                  </a:extLst>
                </p:cNvPr>
                <p:cNvSpPr/>
                <p:nvPr/>
              </p:nvSpPr>
              <p:spPr>
                <a:xfrm>
                  <a:off x="1020726" y="4742121"/>
                  <a:ext cx="1452155" cy="669851"/>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fr-FR" sz="1000" dirty="0"/>
                    <a:t>Client</a:t>
                  </a:r>
                </a:p>
              </p:txBody>
            </p:sp>
            <p:cxnSp>
              <p:nvCxnSpPr>
                <p:cNvPr id="17" name="Connecteur droit avec flèche 16">
                  <a:extLst>
                    <a:ext uri="{FF2B5EF4-FFF2-40B4-BE49-F238E27FC236}">
                      <a16:creationId xmlns:a16="http://schemas.microsoft.com/office/drawing/2014/main" id="{48B4894F-98C4-44E3-8BAB-C321217E87FD}"/>
                    </a:ext>
                  </a:extLst>
                </p:cNvPr>
                <p:cNvCxnSpPr>
                  <a:cxnSpLocks/>
                  <a:stCxn id="15" idx="1"/>
                  <a:endCxn id="16" idx="0"/>
                </p:cNvCxnSpPr>
                <p:nvPr/>
              </p:nvCxnSpPr>
              <p:spPr>
                <a:xfrm flipH="1">
                  <a:off x="1746804" y="3344971"/>
                  <a:ext cx="1961978" cy="139715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8" name="ZoneTexte 17">
                  <a:extLst>
                    <a:ext uri="{FF2B5EF4-FFF2-40B4-BE49-F238E27FC236}">
                      <a16:creationId xmlns:a16="http://schemas.microsoft.com/office/drawing/2014/main" id="{DE990BD9-C838-41A3-A185-5CFD23CB5308}"/>
                    </a:ext>
                  </a:extLst>
                </p:cNvPr>
                <p:cNvSpPr txBox="1"/>
                <p:nvPr/>
              </p:nvSpPr>
              <p:spPr>
                <a:xfrm rot="19564369">
                  <a:off x="2278018" y="4164728"/>
                  <a:ext cx="1961978" cy="229339"/>
                </a:xfrm>
                <a:prstGeom prst="rect">
                  <a:avLst/>
                </a:prstGeom>
                <a:noFill/>
              </p:spPr>
              <p:txBody>
                <a:bodyPr wrap="square" rtlCol="0">
                  <a:spAutoFit/>
                </a:bodyPr>
                <a:lstStyle/>
                <a:p>
                  <a:r>
                    <a:rPr lang="fr-FR" sz="1400" dirty="0"/>
                    <a:t>1. S’authentifier</a:t>
                  </a:r>
                </a:p>
              </p:txBody>
            </p:sp>
            <p:sp>
              <p:nvSpPr>
                <p:cNvPr id="19" name="ZoneTexte 18">
                  <a:extLst>
                    <a:ext uri="{FF2B5EF4-FFF2-40B4-BE49-F238E27FC236}">
                      <a16:creationId xmlns:a16="http://schemas.microsoft.com/office/drawing/2014/main" id="{19A08B0D-6805-4F7A-8612-214D7D909F46}"/>
                    </a:ext>
                  </a:extLst>
                </p:cNvPr>
                <p:cNvSpPr txBox="1"/>
                <p:nvPr/>
              </p:nvSpPr>
              <p:spPr>
                <a:xfrm rot="19564369">
                  <a:off x="1763603" y="3826529"/>
                  <a:ext cx="1961978" cy="206405"/>
                </a:xfrm>
                <a:prstGeom prst="rect">
                  <a:avLst/>
                </a:prstGeom>
                <a:noFill/>
              </p:spPr>
              <p:txBody>
                <a:bodyPr wrap="square" rtlCol="0">
                  <a:spAutoFit/>
                </a:bodyPr>
                <a:lstStyle/>
                <a:p>
                  <a:r>
                    <a:rPr lang="fr-FR" sz="1200" dirty="0"/>
                    <a:t>3. </a:t>
                  </a:r>
                  <a:r>
                    <a:rPr lang="fr-FR" sz="1200" dirty="0" err="1"/>
                    <a:t>Token</a:t>
                  </a:r>
                  <a:r>
                    <a:rPr lang="fr-FR" sz="1200" dirty="0"/>
                    <a:t> JWT</a:t>
                  </a:r>
                </a:p>
              </p:txBody>
            </p:sp>
            <p:cxnSp>
              <p:nvCxnSpPr>
                <p:cNvPr id="20" name="Connecteur droit avec flèche 19">
                  <a:extLst>
                    <a:ext uri="{FF2B5EF4-FFF2-40B4-BE49-F238E27FC236}">
                      <a16:creationId xmlns:a16="http://schemas.microsoft.com/office/drawing/2014/main" id="{A07C51E4-C2E8-4671-9995-265EA4BB1F26}"/>
                    </a:ext>
                  </a:extLst>
                </p:cNvPr>
                <p:cNvCxnSpPr>
                  <a:cxnSpLocks/>
                  <a:stCxn id="16" idx="3"/>
                  <a:endCxn id="14" idx="1"/>
                </p:cNvCxnSpPr>
                <p:nvPr/>
              </p:nvCxnSpPr>
              <p:spPr>
                <a:xfrm flipV="1">
                  <a:off x="2472881" y="3591195"/>
                  <a:ext cx="5714189" cy="14858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1" name="ZoneTexte 20">
                  <a:extLst>
                    <a:ext uri="{FF2B5EF4-FFF2-40B4-BE49-F238E27FC236}">
                      <a16:creationId xmlns:a16="http://schemas.microsoft.com/office/drawing/2014/main" id="{2E2145D0-3CC0-403A-B3D6-221BABF8BC2F}"/>
                    </a:ext>
                  </a:extLst>
                </p:cNvPr>
                <p:cNvSpPr txBox="1"/>
                <p:nvPr/>
              </p:nvSpPr>
              <p:spPr>
                <a:xfrm rot="20767956">
                  <a:off x="5334718" y="3818537"/>
                  <a:ext cx="1961978" cy="206405"/>
                </a:xfrm>
                <a:prstGeom prst="rect">
                  <a:avLst/>
                </a:prstGeom>
                <a:noFill/>
              </p:spPr>
              <p:txBody>
                <a:bodyPr wrap="square" rtlCol="0">
                  <a:spAutoFit/>
                </a:bodyPr>
                <a:lstStyle/>
                <a:p>
                  <a:r>
                    <a:rPr lang="fr-FR" sz="1200" dirty="0"/>
                    <a:t>4. </a:t>
                  </a:r>
                  <a:r>
                    <a:rPr lang="fr-FR" sz="1200" dirty="0" err="1"/>
                    <a:t>Token</a:t>
                  </a:r>
                  <a:r>
                    <a:rPr lang="fr-FR" sz="1200" dirty="0"/>
                    <a:t> JWT</a:t>
                  </a:r>
                </a:p>
              </p:txBody>
            </p:sp>
            <p:cxnSp>
              <p:nvCxnSpPr>
                <p:cNvPr id="22" name="Connecteur droit avec flèche 21">
                  <a:extLst>
                    <a:ext uri="{FF2B5EF4-FFF2-40B4-BE49-F238E27FC236}">
                      <a16:creationId xmlns:a16="http://schemas.microsoft.com/office/drawing/2014/main" id="{2FBE73C1-3743-4F39-B358-1D87CD174E2A}"/>
                    </a:ext>
                  </a:extLst>
                </p:cNvPr>
                <p:cNvCxnSpPr>
                  <a:cxnSpLocks/>
                  <a:endCxn id="13" idx="1"/>
                </p:cNvCxnSpPr>
                <p:nvPr/>
              </p:nvCxnSpPr>
              <p:spPr>
                <a:xfrm flipV="1">
                  <a:off x="2465644" y="5105181"/>
                  <a:ext cx="5721427" cy="6114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3" name="ZoneTexte 22">
                  <a:extLst>
                    <a:ext uri="{FF2B5EF4-FFF2-40B4-BE49-F238E27FC236}">
                      <a16:creationId xmlns:a16="http://schemas.microsoft.com/office/drawing/2014/main" id="{9C514F15-6A99-472E-AE34-8F162ED7D688}"/>
                    </a:ext>
                  </a:extLst>
                </p:cNvPr>
                <p:cNvSpPr txBox="1"/>
                <p:nvPr/>
              </p:nvSpPr>
              <p:spPr>
                <a:xfrm>
                  <a:off x="5416748" y="4867633"/>
                  <a:ext cx="1961978" cy="206405"/>
                </a:xfrm>
                <a:prstGeom prst="rect">
                  <a:avLst/>
                </a:prstGeom>
                <a:noFill/>
              </p:spPr>
              <p:txBody>
                <a:bodyPr wrap="square" rtlCol="0">
                  <a:spAutoFit/>
                </a:bodyPr>
                <a:lstStyle/>
                <a:p>
                  <a:r>
                    <a:rPr lang="fr-FR" sz="1200" dirty="0"/>
                    <a:t>4. </a:t>
                  </a:r>
                  <a:r>
                    <a:rPr lang="fr-FR" sz="1200" dirty="0" err="1"/>
                    <a:t>Token</a:t>
                  </a:r>
                  <a:r>
                    <a:rPr lang="fr-FR" sz="1200" dirty="0"/>
                    <a:t> JWT</a:t>
                  </a:r>
                </a:p>
              </p:txBody>
            </p:sp>
            <p:sp>
              <p:nvSpPr>
                <p:cNvPr id="24" name="Hexagone 23">
                  <a:extLst>
                    <a:ext uri="{FF2B5EF4-FFF2-40B4-BE49-F238E27FC236}">
                      <a16:creationId xmlns:a16="http://schemas.microsoft.com/office/drawing/2014/main" id="{D70F9ED7-3C6D-432F-A362-E0813F6D7FA8}"/>
                    </a:ext>
                  </a:extLst>
                </p:cNvPr>
                <p:cNvSpPr/>
                <p:nvPr/>
              </p:nvSpPr>
              <p:spPr>
                <a:xfrm>
                  <a:off x="7145799" y="3848266"/>
                  <a:ext cx="1995486"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dirty="0"/>
                    <a:t>Validation </a:t>
                  </a:r>
                  <a:r>
                    <a:rPr lang="fr-FR" sz="900" b="1" dirty="0"/>
                    <a:t>du</a:t>
                  </a:r>
                  <a:r>
                    <a:rPr lang="fr-FR" sz="1000" b="1" dirty="0"/>
                    <a:t> </a:t>
                  </a:r>
                  <a:r>
                    <a:rPr lang="fr-FR" sz="1000" b="1" dirty="0" err="1"/>
                    <a:t>Token</a:t>
                  </a:r>
                  <a:endParaRPr lang="fr-FR" sz="1000" b="1" dirty="0"/>
                </a:p>
              </p:txBody>
            </p:sp>
            <p:sp>
              <p:nvSpPr>
                <p:cNvPr id="25" name="Hexagone 24">
                  <a:extLst>
                    <a:ext uri="{FF2B5EF4-FFF2-40B4-BE49-F238E27FC236}">
                      <a16:creationId xmlns:a16="http://schemas.microsoft.com/office/drawing/2014/main" id="{65A65B09-2BF9-4152-A815-84BDE4FAB485}"/>
                    </a:ext>
                  </a:extLst>
                </p:cNvPr>
                <p:cNvSpPr/>
                <p:nvPr/>
              </p:nvSpPr>
              <p:spPr>
                <a:xfrm>
                  <a:off x="7164706" y="5366710"/>
                  <a:ext cx="1995482" cy="576769"/>
                </a:xfrm>
                <a:prstGeom prst="hexag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000" b="1" dirty="0"/>
                    <a:t>Validation du </a:t>
                  </a:r>
                  <a:r>
                    <a:rPr lang="fr-FR" sz="1000" b="1" dirty="0" err="1"/>
                    <a:t>Token</a:t>
                  </a:r>
                  <a:endParaRPr lang="fr-FR" sz="1000" b="1" dirty="0"/>
                </a:p>
              </p:txBody>
            </p:sp>
          </p:grpSp>
          <p:sp>
            <p:nvSpPr>
              <p:cNvPr id="11" name="Cylindre 10">
                <a:extLst>
                  <a:ext uri="{FF2B5EF4-FFF2-40B4-BE49-F238E27FC236}">
                    <a16:creationId xmlns:a16="http://schemas.microsoft.com/office/drawing/2014/main" id="{01B320B2-6C53-4677-A631-EE5770160514}"/>
                  </a:ext>
                </a:extLst>
              </p:cNvPr>
              <p:cNvSpPr/>
              <p:nvPr/>
            </p:nvSpPr>
            <p:spPr>
              <a:xfrm>
                <a:off x="5452518" y="2697259"/>
                <a:ext cx="2379066" cy="638465"/>
              </a:xfrm>
              <a:prstGeom prst="ca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r-FR" sz="1000" dirty="0"/>
                  <a:t>Base de donnés « utilisateurs »</a:t>
                </a:r>
              </a:p>
            </p:txBody>
          </p:sp>
          <p:cxnSp>
            <p:nvCxnSpPr>
              <p:cNvPr id="12" name="Connecteur droit avec flèche 11">
                <a:extLst>
                  <a:ext uri="{FF2B5EF4-FFF2-40B4-BE49-F238E27FC236}">
                    <a16:creationId xmlns:a16="http://schemas.microsoft.com/office/drawing/2014/main" id="{17589292-D694-46E1-AAE5-B83927141053}"/>
                  </a:ext>
                </a:extLst>
              </p:cNvPr>
              <p:cNvCxnSpPr>
                <a:cxnSpLocks/>
                <a:stCxn id="11" idx="2"/>
                <a:endCxn id="15" idx="0"/>
              </p:cNvCxnSpPr>
              <p:nvPr/>
            </p:nvCxnSpPr>
            <p:spPr>
              <a:xfrm flipH="1">
                <a:off x="4580652" y="3016492"/>
                <a:ext cx="871866" cy="677489"/>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grpSp>
      </p:grpSp>
      <p:sp>
        <p:nvSpPr>
          <p:cNvPr id="26" name="ZoneTexte 25">
            <a:extLst>
              <a:ext uri="{FF2B5EF4-FFF2-40B4-BE49-F238E27FC236}">
                <a16:creationId xmlns:a16="http://schemas.microsoft.com/office/drawing/2014/main" id="{3277646E-38D8-4FF1-8065-3635DC2ECDB6}"/>
              </a:ext>
            </a:extLst>
          </p:cNvPr>
          <p:cNvSpPr txBox="1"/>
          <p:nvPr/>
        </p:nvSpPr>
        <p:spPr>
          <a:xfrm rot="19434634">
            <a:off x="5371906" y="1732530"/>
            <a:ext cx="1924475" cy="369332"/>
          </a:xfrm>
          <a:prstGeom prst="rect">
            <a:avLst/>
          </a:prstGeom>
          <a:noFill/>
        </p:spPr>
        <p:txBody>
          <a:bodyPr wrap="square" rtlCol="0">
            <a:spAutoFit/>
          </a:bodyPr>
          <a:lstStyle/>
          <a:p>
            <a:r>
              <a:rPr lang="fr-FR" sz="900" dirty="0"/>
              <a:t>2. Vérification des données d’authentification</a:t>
            </a:r>
          </a:p>
        </p:txBody>
      </p:sp>
      <p:sp>
        <p:nvSpPr>
          <p:cNvPr id="27" name="Rectangle 26">
            <a:extLst>
              <a:ext uri="{FF2B5EF4-FFF2-40B4-BE49-F238E27FC236}">
                <a16:creationId xmlns:a16="http://schemas.microsoft.com/office/drawing/2014/main" id="{E3751705-134E-4F0E-A529-1D70911335E9}"/>
              </a:ext>
            </a:extLst>
          </p:cNvPr>
          <p:cNvSpPr/>
          <p:nvPr/>
        </p:nvSpPr>
        <p:spPr>
          <a:xfrm>
            <a:off x="8296318" y="3852145"/>
            <a:ext cx="2369584" cy="295819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18456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177F3E-FD89-469B-BB5E-844341AD2D83}"/>
              </a:ext>
            </a:extLst>
          </p:cNvPr>
          <p:cNvSpPr>
            <a:spLocks noGrp="1"/>
          </p:cNvSpPr>
          <p:nvPr>
            <p:ph type="title"/>
          </p:nvPr>
        </p:nvSpPr>
        <p:spPr/>
        <p:txBody>
          <a:bodyPr/>
          <a:lstStyle/>
          <a:p>
            <a:r>
              <a:rPr lang="fr-FR" b="1" i="0" dirty="0">
                <a:solidFill>
                  <a:srgbClr val="271A38"/>
                </a:solidFill>
                <a:effectLst/>
                <a:latin typeface="Inter"/>
              </a:rPr>
              <a:t>Implémentez le </a:t>
            </a:r>
            <a:r>
              <a:rPr lang="fr-FR" b="1" i="1" dirty="0">
                <a:solidFill>
                  <a:srgbClr val="271A38"/>
                </a:solidFill>
                <a:effectLst/>
                <a:latin typeface="Inter"/>
              </a:rPr>
              <a:t>middleware</a:t>
            </a:r>
            <a:r>
              <a:rPr lang="fr-FR" b="1" i="0" dirty="0">
                <a:solidFill>
                  <a:srgbClr val="271A38"/>
                </a:solidFill>
                <a:effectLst/>
                <a:latin typeface="Inter"/>
              </a:rPr>
              <a:t> d'authentification</a:t>
            </a:r>
            <a:endParaRPr lang="fr-FR" dirty="0"/>
          </a:p>
        </p:txBody>
      </p:sp>
      <p:sp>
        <p:nvSpPr>
          <p:cNvPr id="3" name="Espace réservé du contenu 2">
            <a:extLst>
              <a:ext uri="{FF2B5EF4-FFF2-40B4-BE49-F238E27FC236}">
                <a16:creationId xmlns:a16="http://schemas.microsoft.com/office/drawing/2014/main" id="{D1A5277C-86DF-43BA-8327-7E3BE22C5E3D}"/>
              </a:ext>
            </a:extLst>
          </p:cNvPr>
          <p:cNvSpPr>
            <a:spLocks noGrp="1"/>
          </p:cNvSpPr>
          <p:nvPr>
            <p:ph idx="1"/>
          </p:nvPr>
        </p:nvSpPr>
        <p:spPr/>
        <p:txBody>
          <a:bodyPr>
            <a:normAutofit/>
          </a:bodyPr>
          <a:lstStyle/>
          <a:p>
            <a:r>
              <a:rPr lang="fr-FR" sz="2800" dirty="0"/>
              <a:t>Maintenant, nous devons appliquer ce middleware à nos routes </a:t>
            </a:r>
            <a:r>
              <a:rPr lang="fr-FR" sz="2800" dirty="0" err="1"/>
              <a:t>stuff</a:t>
            </a:r>
            <a:r>
              <a:rPr lang="fr-FR" sz="2800" dirty="0"/>
              <a:t>, qui sont celles à protéger. </a:t>
            </a:r>
          </a:p>
          <a:p>
            <a:endParaRPr lang="fr-FR" sz="2800" dirty="0"/>
          </a:p>
          <a:p>
            <a:r>
              <a:rPr lang="fr-FR" sz="2800" dirty="0"/>
              <a:t>Dans notre routeur </a:t>
            </a:r>
            <a:r>
              <a:rPr lang="fr-FR" sz="2800" dirty="0" err="1"/>
              <a:t>stuff</a:t>
            </a:r>
            <a:r>
              <a:rPr lang="fr-FR" sz="2800" dirty="0"/>
              <a:t>, nous importons notre middleware et le passons comme argument aux routes à protéger :</a:t>
            </a:r>
          </a:p>
        </p:txBody>
      </p:sp>
    </p:spTree>
    <p:extLst>
      <p:ext uri="{BB962C8B-B14F-4D97-AF65-F5344CB8AC3E}">
        <p14:creationId xmlns:p14="http://schemas.microsoft.com/office/powerpoint/2010/main" val="306848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ADFDD0B8-CC35-433F-813F-6B5E62542A3E}"/>
              </a:ext>
            </a:extLst>
          </p:cNvPr>
          <p:cNvSpPr txBox="1"/>
          <p:nvPr/>
        </p:nvSpPr>
        <p:spPr>
          <a:xfrm>
            <a:off x="0" y="0"/>
            <a:ext cx="11617377" cy="6740307"/>
          </a:xfrm>
          <a:prstGeom prst="rect">
            <a:avLst/>
          </a:prstGeom>
          <a:noFill/>
        </p:spPr>
        <p:txBody>
          <a:bodyPr wrap="square">
            <a:spAutoFit/>
          </a:bodyPr>
          <a:lstStyle/>
          <a:p>
            <a:r>
              <a:rPr lang="fr-FR" sz="2400" b="0" dirty="0" err="1">
                <a:solidFill>
                  <a:srgbClr val="0000FF"/>
                </a:solidFill>
                <a:effectLst/>
                <a:latin typeface="Consolas" panose="020B0609020204030204" pitchFamily="49" charset="0"/>
              </a:rPr>
              <a:t>const</a:t>
            </a:r>
            <a:r>
              <a:rPr lang="fr-FR" sz="2400" b="0" dirty="0">
                <a:solidFill>
                  <a:srgbClr val="000000"/>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jwt</a:t>
            </a:r>
            <a:r>
              <a:rPr lang="fr-FR" sz="2400" b="0" dirty="0">
                <a:solidFill>
                  <a:srgbClr val="000000"/>
                </a:solidFill>
                <a:effectLst/>
                <a:latin typeface="Consolas" panose="020B0609020204030204" pitchFamily="49" charset="0"/>
              </a:rPr>
              <a:t> = </a:t>
            </a:r>
            <a:r>
              <a:rPr lang="fr-FR" sz="2400" b="0" dirty="0" err="1">
                <a:solidFill>
                  <a:srgbClr val="795E26"/>
                </a:solidFill>
                <a:effectLst/>
                <a:latin typeface="Consolas" panose="020B0609020204030204" pitchFamily="49" charset="0"/>
              </a:rPr>
              <a:t>require</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jsonwebtoken</a:t>
            </a:r>
            <a:r>
              <a:rPr lang="fr-FR" sz="2400" b="0" dirty="0">
                <a:solidFill>
                  <a:srgbClr val="A31515"/>
                </a:solidFill>
                <a:effectLst/>
                <a:latin typeface="Consolas" panose="020B0609020204030204" pitchFamily="49" charset="0"/>
              </a:rPr>
              <a:t>'</a:t>
            </a:r>
            <a:r>
              <a:rPr lang="fr-FR" sz="2400" b="0" dirty="0">
                <a:solidFill>
                  <a:srgbClr val="000000"/>
                </a:solidFill>
                <a:effectLst/>
                <a:latin typeface="Consolas" panose="020B0609020204030204" pitchFamily="49" charset="0"/>
              </a:rPr>
              <a:t>);</a:t>
            </a:r>
          </a:p>
          <a:p>
            <a:r>
              <a:rPr lang="fr-FR" sz="2400" b="0" dirty="0" err="1">
                <a:solidFill>
                  <a:srgbClr val="0000FF"/>
                </a:solidFill>
                <a:effectLst/>
                <a:latin typeface="Consolas" panose="020B0609020204030204" pitchFamily="49" charset="0"/>
              </a:rPr>
              <a:t>const</a:t>
            </a:r>
            <a:r>
              <a:rPr lang="fr-FR" sz="2400" b="0" dirty="0">
                <a:solidFill>
                  <a:srgbClr val="000000"/>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verifyToken</a:t>
            </a:r>
            <a:r>
              <a:rPr lang="fr-FR" sz="2400" b="0" dirty="0">
                <a:solidFill>
                  <a:srgbClr val="000000"/>
                </a:solidFill>
                <a:effectLst/>
                <a:latin typeface="Consolas" panose="020B0609020204030204" pitchFamily="49" charset="0"/>
              </a:rPr>
              <a:t> = </a:t>
            </a:r>
            <a:r>
              <a:rPr lang="fr-FR" sz="2400" b="0" dirty="0" err="1">
                <a:solidFill>
                  <a:srgbClr val="0000FF"/>
                </a:solidFill>
                <a:effectLst/>
                <a:latin typeface="Consolas" panose="020B0609020204030204" pitchFamily="49" charset="0"/>
              </a:rPr>
              <a:t>async</a:t>
            </a:r>
            <a:r>
              <a:rPr lang="fr-FR" sz="2400" b="0" dirty="0">
                <a:solidFill>
                  <a:srgbClr val="000000"/>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function</a:t>
            </a:r>
            <a:r>
              <a:rPr lang="fr-FR" sz="2400" b="0" dirty="0">
                <a:solidFill>
                  <a:srgbClr val="000000"/>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isAuthenticated</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req</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next</a:t>
            </a:r>
            <a:r>
              <a:rPr lang="fr-FR" sz="2400" b="0" dirty="0">
                <a:solidFill>
                  <a:srgbClr val="000000"/>
                </a:solidFill>
                <a:effectLst/>
                <a:latin typeface="Consolas" panose="020B0609020204030204" pitchFamily="49" charset="0"/>
              </a:rPr>
              <a:t>) {        </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req</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headers</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authorization</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000000"/>
                </a:solidFill>
                <a:effectLst/>
                <a:latin typeface="Consolas" panose="020B0609020204030204" pitchFamily="49" charset="0"/>
              </a:rPr>
              <a:t>(</a:t>
            </a:r>
            <a:r>
              <a:rPr lang="fr-FR" sz="2400" b="0" dirty="0">
                <a:solidFill>
                  <a:srgbClr val="098658"/>
                </a:solidFill>
                <a:effectLst/>
                <a:latin typeface="Consolas" panose="020B0609020204030204" pitchFamily="49" charset="0"/>
              </a:rPr>
              <a:t>403</a:t>
            </a:r>
            <a:r>
              <a:rPr lang="fr-FR" sz="2400" b="0" dirty="0">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send</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"A </a:t>
            </a:r>
            <a:r>
              <a:rPr lang="fr-FR" sz="2400" b="0" dirty="0" err="1">
                <a:solidFill>
                  <a:srgbClr val="A31515"/>
                </a:solidFill>
                <a:effectLst/>
                <a:latin typeface="Consolas" panose="020B0609020204030204" pitchFamily="49" charset="0"/>
              </a:rPr>
              <a:t>token</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is</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required</a:t>
            </a:r>
            <a:r>
              <a:rPr lang="fr-FR" sz="2400" b="0" dirty="0">
                <a:solidFill>
                  <a:srgbClr val="A31515"/>
                </a:solidFill>
                <a:effectLst/>
                <a:latin typeface="Consolas" panose="020B0609020204030204" pitchFamily="49" charset="0"/>
              </a:rPr>
              <a:t>"</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const</a:t>
            </a:r>
            <a:r>
              <a:rPr lang="fr-FR" sz="2400" b="0" dirty="0">
                <a:solidFill>
                  <a:srgbClr val="000000"/>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token</a:t>
            </a:r>
            <a:r>
              <a:rPr lang="fr-FR" sz="2400" b="0" dirty="0">
                <a:solidFill>
                  <a:srgbClr val="000000"/>
                </a:solidFill>
                <a:effectLst/>
                <a:latin typeface="Consolas" panose="020B0609020204030204" pitchFamily="49" charset="0"/>
              </a:rPr>
              <a:t> = </a:t>
            </a:r>
            <a:r>
              <a:rPr lang="fr-FR" sz="2400" b="0" dirty="0" err="1">
                <a:solidFill>
                  <a:srgbClr val="001080"/>
                </a:solidFill>
                <a:effectLst/>
                <a:latin typeface="Consolas" panose="020B0609020204030204" pitchFamily="49" charset="0"/>
              </a:rPr>
              <a:t>req</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headers</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authorization</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split</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r>
              <a:rPr lang="fr-FR" sz="2400" b="0" dirty="0">
                <a:solidFill>
                  <a:srgbClr val="098658"/>
                </a:solidFill>
                <a:effectLst/>
                <a:latin typeface="Consolas" panose="020B0609020204030204" pitchFamily="49" charset="0"/>
              </a:rPr>
              <a:t>1</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000000"/>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token</a:t>
            </a:r>
            <a:r>
              <a:rPr lang="fr-FR" sz="2400" b="0" dirty="0">
                <a:solidFill>
                  <a:srgbClr val="000000"/>
                </a:solidFill>
                <a:effectLst/>
                <a:latin typeface="Consolas" panose="020B0609020204030204" pitchFamily="49" charset="0"/>
              </a:rPr>
              <a:t>) {</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000000"/>
                </a:solidFill>
                <a:effectLst/>
                <a:latin typeface="Consolas" panose="020B0609020204030204" pitchFamily="49" charset="0"/>
              </a:rPr>
              <a:t>(</a:t>
            </a:r>
            <a:r>
              <a:rPr lang="fr-FR" sz="2400" b="0" dirty="0">
                <a:solidFill>
                  <a:srgbClr val="098658"/>
                </a:solidFill>
                <a:effectLst/>
                <a:latin typeface="Consolas" panose="020B0609020204030204" pitchFamily="49" charset="0"/>
              </a:rPr>
              <a:t>403</a:t>
            </a:r>
            <a:r>
              <a:rPr lang="fr-FR" sz="2400" b="0" dirty="0">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send</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"A </a:t>
            </a:r>
            <a:r>
              <a:rPr lang="fr-FR" sz="2400" b="0" dirty="0" err="1">
                <a:solidFill>
                  <a:srgbClr val="A31515"/>
                </a:solidFill>
                <a:effectLst/>
                <a:latin typeface="Consolas" panose="020B0609020204030204" pitchFamily="49" charset="0"/>
              </a:rPr>
              <a:t>token</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is</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required</a:t>
            </a:r>
            <a:r>
              <a:rPr lang="fr-FR" sz="2400" b="0" dirty="0">
                <a:solidFill>
                  <a:srgbClr val="A31515"/>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p>
          <a:p>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jwt</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verify</a:t>
            </a:r>
            <a:r>
              <a:rPr lang="fr-FR" sz="2400" b="0" dirty="0">
                <a:solidFill>
                  <a:srgbClr val="000000"/>
                </a:solidFill>
                <a:effectLst/>
                <a:latin typeface="Consolas" panose="020B0609020204030204" pitchFamily="49" charset="0"/>
              </a:rPr>
              <a:t>(</a:t>
            </a:r>
            <a:r>
              <a:rPr lang="fr-FR" sz="2400" b="0" dirty="0" err="1">
                <a:solidFill>
                  <a:srgbClr val="0070C1"/>
                </a:solidFill>
                <a:effectLst/>
                <a:latin typeface="Consolas" panose="020B0609020204030204" pitchFamily="49" charset="0"/>
              </a:rPr>
              <a:t>token</a:t>
            </a:r>
            <a:r>
              <a:rPr lang="fr-FR" sz="2400" b="0" dirty="0">
                <a:solidFill>
                  <a:srgbClr val="000000"/>
                </a:solidFill>
                <a:effectLst/>
                <a:latin typeface="Consolas" panose="020B0609020204030204" pitchFamily="49" charset="0"/>
              </a:rPr>
              <a:t>, </a:t>
            </a:r>
            <a:r>
              <a:rPr lang="fr-FR" sz="2400" b="0" dirty="0">
                <a:solidFill>
                  <a:srgbClr val="A31515"/>
                </a:solidFill>
                <a:effectLst/>
                <a:latin typeface="Consolas" panose="020B0609020204030204" pitchFamily="49" charset="0"/>
              </a:rPr>
              <a:t>"RANDOM_TOKEN_SECRET"</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infos</a:t>
            </a:r>
            <a:r>
              <a:rPr lang="fr-FR" sz="2400" b="0" dirty="0">
                <a:solidFill>
                  <a:srgbClr val="000000"/>
                </a:solidFill>
                <a:effectLst/>
                <a:latin typeface="Consolas" panose="020B0609020204030204" pitchFamily="49" charset="0"/>
              </a:rPr>
              <a:t>)</a:t>
            </a:r>
            <a:r>
              <a:rPr lang="fr-FR" sz="2400" b="0" dirty="0">
                <a:solidFill>
                  <a:srgbClr val="0000FF"/>
                </a:solidFill>
                <a:effectLst/>
                <a:latin typeface="Consolas" panose="020B0609020204030204" pitchFamily="49" charset="0"/>
              </a:rPr>
              <a:t>=&gt;</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000000"/>
                </a:solidFill>
                <a:effectLst/>
                <a:latin typeface="Consolas" panose="020B0609020204030204" pitchFamily="49" charset="0"/>
              </a:rPr>
              <a:t>(</a:t>
            </a:r>
            <a:r>
              <a:rPr lang="fr-FR" sz="2400" b="0" dirty="0">
                <a:solidFill>
                  <a:srgbClr val="098658"/>
                </a:solidFill>
                <a:effectLst/>
                <a:latin typeface="Consolas" panose="020B0609020204030204" pitchFamily="49" charset="0"/>
              </a:rPr>
              <a:t>401</a:t>
            </a:r>
            <a:r>
              <a:rPr lang="fr-FR" sz="2400" b="0" dirty="0">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json</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else</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req</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infos_user</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 infos</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next</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p>
          <a:p>
            <a:r>
              <a:rPr lang="fr-FR" sz="2400" b="0" dirty="0">
                <a:solidFill>
                  <a:srgbClr val="000000"/>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module</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exports</a:t>
            </a:r>
            <a:r>
              <a:rPr lang="fr-FR" sz="2400" b="0" dirty="0">
                <a:solidFill>
                  <a:srgbClr val="000000"/>
                </a:solidFill>
                <a:effectLst/>
                <a:latin typeface="Consolas" panose="020B0609020204030204" pitchFamily="49" charset="0"/>
              </a:rPr>
              <a:t> = </a:t>
            </a:r>
            <a:r>
              <a:rPr lang="fr-FR" sz="2400" b="0" dirty="0" err="1">
                <a:solidFill>
                  <a:srgbClr val="795E26"/>
                </a:solidFill>
                <a:effectLst/>
                <a:latin typeface="Consolas" panose="020B0609020204030204" pitchFamily="49" charset="0"/>
              </a:rPr>
              <a:t>verifyToken</a:t>
            </a:r>
            <a:endParaRPr lang="fr-FR" sz="2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59807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07053EB-1297-425B-AFCE-D976CCC4562A}"/>
              </a:ext>
            </a:extLst>
          </p:cNvPr>
          <p:cNvSpPr txBox="1"/>
          <p:nvPr/>
        </p:nvSpPr>
        <p:spPr>
          <a:xfrm>
            <a:off x="1" y="0"/>
            <a:ext cx="12192000" cy="6970426"/>
          </a:xfrm>
          <a:prstGeom prst="rect">
            <a:avLst/>
          </a:prstGeom>
          <a:noFill/>
        </p:spPr>
        <p:txBody>
          <a:bodyPr wrap="square">
            <a:spAutoFit/>
          </a:bodyPr>
          <a:lstStyle/>
          <a:p>
            <a:r>
              <a:rPr lang="fr-FR" sz="2400" b="0" dirty="0" err="1">
                <a:solidFill>
                  <a:srgbClr val="0000FF"/>
                </a:solidFill>
                <a:effectLst/>
                <a:latin typeface="Consolas" panose="020B0609020204030204" pitchFamily="49" charset="0"/>
              </a:rPr>
              <a:t>const</a:t>
            </a:r>
            <a:r>
              <a:rPr lang="fr-FR" sz="2400" b="0" dirty="0">
                <a:solidFill>
                  <a:srgbClr val="3B3B3B"/>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jwt</a:t>
            </a:r>
            <a:r>
              <a:rPr lang="fr-FR" sz="2400" b="0" dirty="0">
                <a:solidFill>
                  <a:srgbClr val="3B3B3B"/>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require</a:t>
            </a:r>
            <a:r>
              <a:rPr lang="fr-FR" sz="2400" b="0" dirty="0">
                <a:solidFill>
                  <a:srgbClr val="3B3B3B"/>
                </a:solidFill>
                <a:effectLst/>
                <a:latin typeface="Consolas" panose="020B0609020204030204" pitchFamily="49" charset="0"/>
              </a:rPr>
              <a:t>(</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jsonwebtoken</a:t>
            </a:r>
            <a:r>
              <a:rPr lang="fr-FR" sz="2400" b="0" dirty="0">
                <a:solidFill>
                  <a:srgbClr val="A31515"/>
                </a:solidFill>
                <a:effectLst/>
                <a:latin typeface="Consolas" panose="020B0609020204030204" pitchFamily="49" charset="0"/>
              </a:rPr>
              <a:t>'</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const</a:t>
            </a:r>
            <a:r>
              <a:rPr lang="fr-FR" sz="2400" b="0" dirty="0">
                <a:solidFill>
                  <a:srgbClr val="3B3B3B"/>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verifyToken</a:t>
            </a:r>
            <a:r>
              <a:rPr lang="fr-FR" sz="2400" b="0" dirty="0">
                <a:solidFill>
                  <a:srgbClr val="3B3B3B"/>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async</a:t>
            </a:r>
            <a:r>
              <a:rPr lang="fr-FR" sz="2400" b="0" dirty="0">
                <a:solidFill>
                  <a:srgbClr val="3B3B3B"/>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function</a:t>
            </a:r>
            <a:r>
              <a:rPr lang="fr-FR" sz="2400" b="0" dirty="0">
                <a:solidFill>
                  <a:srgbClr val="3B3B3B"/>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isAuthenticated</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req</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next</a:t>
            </a:r>
            <a:r>
              <a:rPr lang="fr-FR" sz="2400" b="0" dirty="0">
                <a:solidFill>
                  <a:srgbClr val="3B3B3B"/>
                </a:solidFill>
                <a:effectLst/>
                <a:latin typeface="Consolas" panose="020B0609020204030204" pitchFamily="49" charset="0"/>
              </a:rPr>
              <a:t>) {        </a:t>
            </a: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3B3B3B"/>
                </a:solidFill>
                <a:effectLst/>
                <a:latin typeface="Consolas" panose="020B0609020204030204" pitchFamily="49" charset="0"/>
              </a:rPr>
              <a:t>(</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req</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headers</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authorization</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3B3B3B"/>
                </a:solidFill>
                <a:effectLst/>
                <a:latin typeface="Consolas" panose="020B0609020204030204" pitchFamily="49" charset="0"/>
              </a:rPr>
              <a:t>(</a:t>
            </a:r>
            <a:r>
              <a:rPr lang="fr-FR" sz="2400" b="0" dirty="0">
                <a:solidFill>
                  <a:srgbClr val="098658"/>
                </a:solidFill>
                <a:effectLst/>
                <a:latin typeface="Consolas" panose="020B0609020204030204" pitchFamily="49" charset="0"/>
              </a:rPr>
              <a:t>403</a:t>
            </a:r>
            <a:r>
              <a:rPr lang="fr-FR" sz="2400" b="0" dirty="0">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send</a:t>
            </a:r>
            <a:r>
              <a:rPr lang="fr-FR" sz="2400" b="0" dirty="0">
                <a:solidFill>
                  <a:srgbClr val="3B3B3B"/>
                </a:solidFill>
                <a:effectLst/>
                <a:latin typeface="Consolas" panose="020B0609020204030204" pitchFamily="49" charset="0"/>
              </a:rPr>
              <a:t>(</a:t>
            </a:r>
            <a:r>
              <a:rPr lang="fr-FR" sz="2400" b="0" dirty="0">
                <a:solidFill>
                  <a:srgbClr val="A31515"/>
                </a:solidFill>
                <a:effectLst/>
                <a:latin typeface="Consolas" panose="020B0609020204030204" pitchFamily="49" charset="0"/>
              </a:rPr>
              <a:t>"Le </a:t>
            </a:r>
            <a:r>
              <a:rPr lang="fr-FR" sz="2400" b="0" dirty="0" err="1">
                <a:solidFill>
                  <a:srgbClr val="A31515"/>
                </a:solidFill>
                <a:effectLst/>
                <a:latin typeface="Consolas" panose="020B0609020204030204" pitchFamily="49" charset="0"/>
              </a:rPr>
              <a:t>token</a:t>
            </a:r>
            <a:r>
              <a:rPr lang="fr-FR" sz="2400" b="0" dirty="0">
                <a:solidFill>
                  <a:srgbClr val="A31515"/>
                </a:solidFill>
                <a:effectLst/>
                <a:latin typeface="Consolas" panose="020B0609020204030204" pitchFamily="49" charset="0"/>
              </a:rPr>
              <a:t> n'existe pas"</a:t>
            </a:r>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else</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const</a:t>
            </a:r>
            <a:r>
              <a:rPr lang="fr-FR" sz="2400" b="0" dirty="0">
                <a:solidFill>
                  <a:srgbClr val="3B3B3B"/>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token</a:t>
            </a:r>
            <a:r>
              <a:rPr lang="fr-FR" sz="2400" b="0" dirty="0">
                <a:solidFill>
                  <a:srgbClr val="3B3B3B"/>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req</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headers</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authorization</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split</a:t>
            </a:r>
            <a:r>
              <a:rPr lang="fr-FR" sz="2400" b="0" dirty="0">
                <a:solidFill>
                  <a:srgbClr val="3B3B3B"/>
                </a:solidFill>
                <a:effectLst/>
                <a:latin typeface="Consolas" panose="020B0609020204030204" pitchFamily="49" charset="0"/>
              </a:rPr>
              <a:t>(</a:t>
            </a:r>
            <a:r>
              <a:rPr lang="fr-FR" sz="2400" b="0" dirty="0">
                <a:solidFill>
                  <a:srgbClr val="A31515"/>
                </a:solidFill>
                <a:effectLst/>
                <a:latin typeface="Consolas" panose="020B0609020204030204" pitchFamily="49" charset="0"/>
              </a:rPr>
              <a:t>' '</a:t>
            </a:r>
            <a:r>
              <a:rPr lang="fr-FR" sz="2400" b="0" dirty="0">
                <a:solidFill>
                  <a:srgbClr val="3B3B3B"/>
                </a:solidFill>
                <a:effectLst/>
                <a:latin typeface="Consolas" panose="020B0609020204030204" pitchFamily="49" charset="0"/>
              </a:rPr>
              <a:t>)[</a:t>
            </a:r>
            <a:r>
              <a:rPr lang="fr-FR" sz="2400" b="0" dirty="0">
                <a:solidFill>
                  <a:srgbClr val="098658"/>
                </a:solidFill>
                <a:effectLst/>
                <a:latin typeface="Consolas" panose="020B0609020204030204" pitchFamily="49" charset="0"/>
              </a:rPr>
              <a:t>1</a:t>
            </a:r>
            <a:r>
              <a:rPr lang="fr-FR" sz="2400" b="0" dirty="0">
                <a:solidFill>
                  <a:srgbClr val="3B3B3B"/>
                </a:solidFill>
                <a:effectLst/>
                <a:latin typeface="Consolas" panose="020B0609020204030204" pitchFamily="49" charset="0"/>
              </a:rPr>
              <a:t>];</a:t>
            </a:r>
            <a:br>
              <a:rPr lang="fr-FR" sz="2400" b="0" dirty="0">
                <a:solidFill>
                  <a:srgbClr val="3B3B3B"/>
                </a:solidFill>
                <a:effectLst/>
                <a:latin typeface="Consolas" panose="020B0609020204030204" pitchFamily="49" charset="0"/>
              </a:rPr>
            </a:b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jwt</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verify</a:t>
            </a:r>
            <a:r>
              <a:rPr lang="fr-FR" sz="2400" b="0" dirty="0">
                <a:solidFill>
                  <a:srgbClr val="3B3B3B"/>
                </a:solidFill>
                <a:effectLst/>
                <a:latin typeface="Consolas" panose="020B0609020204030204" pitchFamily="49" charset="0"/>
              </a:rPr>
              <a:t>(</a:t>
            </a:r>
            <a:r>
              <a:rPr lang="fr-FR" sz="2400" b="0" dirty="0" err="1">
                <a:solidFill>
                  <a:srgbClr val="0070C1"/>
                </a:solidFill>
                <a:effectLst/>
                <a:latin typeface="Consolas" panose="020B0609020204030204" pitchFamily="49" charset="0"/>
              </a:rPr>
              <a:t>token</a:t>
            </a:r>
            <a:r>
              <a:rPr lang="fr-FR" sz="2400" b="0" dirty="0">
                <a:solidFill>
                  <a:srgbClr val="3B3B3B"/>
                </a:solidFill>
                <a:effectLst/>
                <a:latin typeface="Consolas" panose="020B0609020204030204" pitchFamily="49" charset="0"/>
              </a:rPr>
              <a:t>, </a:t>
            </a:r>
            <a:r>
              <a:rPr lang="fr-FR" sz="2400" b="0" dirty="0">
                <a:solidFill>
                  <a:srgbClr val="A31515"/>
                </a:solidFill>
                <a:effectLst/>
                <a:latin typeface="Consolas" panose="020B0609020204030204" pitchFamily="49" charset="0"/>
              </a:rPr>
              <a:t>"RANDOM_TOKEN_SECRET"</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payload</a:t>
            </a:r>
            <a:r>
              <a:rPr lang="fr-FR" sz="2400" b="0" dirty="0">
                <a:solidFill>
                  <a:srgbClr val="3B3B3B"/>
                </a:solidFill>
                <a:effectLst/>
                <a:latin typeface="Consolas" panose="020B0609020204030204" pitchFamily="49" charset="0"/>
              </a:rPr>
              <a:t>)</a:t>
            </a:r>
            <a:r>
              <a:rPr lang="fr-FR" sz="2400" b="0" dirty="0">
                <a:solidFill>
                  <a:srgbClr val="0000FF"/>
                </a:solidFill>
                <a:effectLst/>
                <a:latin typeface="Consolas" panose="020B0609020204030204" pitchFamily="49" charset="0"/>
              </a:rPr>
              <a:t>=&gt;</a:t>
            </a:r>
            <a:endParaRPr lang="fr-FR" sz="2400" b="0" dirty="0">
              <a:solidFill>
                <a:srgbClr val="3B3B3B"/>
              </a:solidFill>
              <a:effectLst/>
              <a:latin typeface="Consolas" panose="020B0609020204030204" pitchFamily="49" charset="0"/>
            </a:endParaRP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if</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a:solidFill>
                  <a:srgbClr val="AF00DB"/>
                </a:solidFill>
                <a:effectLst/>
                <a:latin typeface="Consolas" panose="020B0609020204030204" pitchFamily="49" charset="0"/>
              </a:rPr>
              <a:t>return</a:t>
            </a:r>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res</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status</a:t>
            </a:r>
            <a:r>
              <a:rPr lang="fr-FR" sz="2400" b="0" dirty="0">
                <a:solidFill>
                  <a:srgbClr val="3B3B3B"/>
                </a:solidFill>
                <a:effectLst/>
                <a:latin typeface="Consolas" panose="020B0609020204030204" pitchFamily="49" charset="0"/>
              </a:rPr>
              <a:t>(</a:t>
            </a:r>
            <a:r>
              <a:rPr lang="fr-FR" sz="2400" b="0" dirty="0">
                <a:solidFill>
                  <a:srgbClr val="098658"/>
                </a:solidFill>
                <a:effectLst/>
                <a:latin typeface="Consolas" panose="020B0609020204030204" pitchFamily="49" charset="0"/>
              </a:rPr>
              <a:t>401</a:t>
            </a:r>
            <a:r>
              <a:rPr lang="fr-FR" sz="2400" b="0" dirty="0">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json</a:t>
            </a:r>
            <a:r>
              <a:rPr lang="fr-FR" sz="2400" b="0" dirty="0">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err</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else</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req</a:t>
            </a:r>
            <a:r>
              <a:rPr lang="fr-FR" sz="2400" b="0" dirty="0" err="1">
                <a:solidFill>
                  <a:srgbClr val="3B3B3B"/>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data</a:t>
            </a:r>
            <a:r>
              <a:rPr lang="fr-FR" sz="2400" b="0" dirty="0">
                <a:solidFill>
                  <a:srgbClr val="000000"/>
                </a:solidFill>
                <a:effectLst/>
                <a:latin typeface="Consolas" panose="020B0609020204030204" pitchFamily="49" charset="0"/>
              </a:rPr>
              <a:t>=</a:t>
            </a:r>
            <a:r>
              <a:rPr lang="fr-FR" sz="2400" dirty="0" err="1">
                <a:solidFill>
                  <a:srgbClr val="001080"/>
                </a:solidFill>
                <a:latin typeface="Consolas" panose="020B0609020204030204" pitchFamily="49" charset="0"/>
              </a:rPr>
              <a:t>payload</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next</a:t>
            </a:r>
            <a:r>
              <a:rPr lang="fr-FR" sz="2400" b="0" dirty="0">
                <a:solidFill>
                  <a:srgbClr val="3B3B3B"/>
                </a:solidFill>
                <a:effectLst/>
                <a:latin typeface="Consolas" panose="020B0609020204030204" pitchFamily="49" charset="0"/>
              </a:rPr>
              <a:t>();</a:t>
            </a:r>
          </a:p>
          <a:p>
            <a:r>
              <a:rPr lang="fr-FR" sz="2400" b="0" dirty="0">
                <a:solidFill>
                  <a:srgbClr val="3B3B3B"/>
                </a:solidFill>
                <a:effectLst/>
                <a:latin typeface="Consolas" panose="020B0609020204030204" pitchFamily="49" charset="0"/>
              </a:rPr>
              <a:t>       } });</a:t>
            </a:r>
          </a:p>
          <a:p>
            <a:r>
              <a:rPr lang="fr-FR" sz="2400" b="0" dirty="0">
                <a:solidFill>
                  <a:srgbClr val="3B3B3B"/>
                </a:solidFill>
                <a:effectLst/>
                <a:latin typeface="Consolas" panose="020B0609020204030204" pitchFamily="49" charset="0"/>
              </a:rPr>
              <a:t>     }};</a:t>
            </a:r>
          </a:p>
          <a:p>
            <a:r>
              <a:rPr lang="fr-FR" sz="2400" b="0" dirty="0">
                <a:solidFill>
                  <a:srgbClr val="3B3B3B"/>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module</a:t>
            </a:r>
            <a:r>
              <a:rPr lang="fr-FR" sz="2400" b="0" dirty="0" err="1">
                <a:solidFill>
                  <a:srgbClr val="3B3B3B"/>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exports</a:t>
            </a:r>
            <a:r>
              <a:rPr lang="fr-FR" sz="2400" b="0" dirty="0">
                <a:solidFill>
                  <a:srgbClr val="3B3B3B"/>
                </a:solidFill>
                <a:effectLst/>
                <a:latin typeface="Consolas" panose="020B0609020204030204" pitchFamily="49" charset="0"/>
              </a:rPr>
              <a:t> </a:t>
            </a:r>
            <a:r>
              <a:rPr lang="fr-FR" sz="2400" b="0" dirty="0">
                <a:solidFill>
                  <a:srgbClr val="000000"/>
                </a:solidFill>
                <a:effectLst/>
                <a:latin typeface="Consolas" panose="020B0609020204030204" pitchFamily="49" charset="0"/>
              </a:rPr>
              <a:t>=</a:t>
            </a:r>
            <a:r>
              <a:rPr lang="fr-FR" sz="2400" b="0" dirty="0">
                <a:solidFill>
                  <a:srgbClr val="3B3B3B"/>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verifyToken</a:t>
            </a:r>
            <a:endParaRPr lang="fr-FR" sz="24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4078109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7EB23C-ADB9-4E7D-8348-C30CB1C1736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ECBA983-0EA4-45C3-8C37-4407AC25B916}"/>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67D280A4-33AC-41B1-8A95-AD855094CF03}"/>
              </a:ext>
            </a:extLst>
          </p:cNvPr>
          <p:cNvPicPr>
            <a:picLocks noChangeAspect="1"/>
          </p:cNvPicPr>
          <p:nvPr/>
        </p:nvPicPr>
        <p:blipFill>
          <a:blip r:embed="rId3"/>
          <a:stretch>
            <a:fillRect/>
          </a:stretch>
        </p:blipFill>
        <p:spPr>
          <a:xfrm>
            <a:off x="0" y="29708"/>
            <a:ext cx="12674323" cy="6743552"/>
          </a:xfrm>
          <a:prstGeom prst="rect">
            <a:avLst/>
          </a:prstGeom>
        </p:spPr>
      </p:pic>
    </p:spTree>
    <p:extLst>
      <p:ext uri="{BB962C8B-B14F-4D97-AF65-F5344CB8AC3E}">
        <p14:creationId xmlns:p14="http://schemas.microsoft.com/office/powerpoint/2010/main" val="997193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59A93A-DADB-40EC-8ADB-2339E2AA1713}"/>
              </a:ext>
            </a:extLst>
          </p:cNvPr>
          <p:cNvSpPr>
            <a:spLocks noGrp="1"/>
          </p:cNvSpPr>
          <p:nvPr>
            <p:ph type="title"/>
          </p:nvPr>
        </p:nvSpPr>
        <p:spPr/>
        <p:txBody>
          <a:bodyPr/>
          <a:lstStyle/>
          <a:p>
            <a:r>
              <a:rPr lang="fr-FR" dirty="0"/>
              <a:t>Pour </a:t>
            </a:r>
            <a:r>
              <a:rPr lang="fr-FR" dirty="0" err="1"/>
              <a:t>recupérer</a:t>
            </a:r>
            <a:r>
              <a:rPr lang="fr-FR" dirty="0"/>
              <a:t> le nom du client</a:t>
            </a:r>
          </a:p>
        </p:txBody>
      </p:sp>
      <p:sp>
        <p:nvSpPr>
          <p:cNvPr id="3" name="Espace réservé du contenu 2">
            <a:extLst>
              <a:ext uri="{FF2B5EF4-FFF2-40B4-BE49-F238E27FC236}">
                <a16:creationId xmlns:a16="http://schemas.microsoft.com/office/drawing/2014/main" id="{A67E1A07-1317-4F3A-8941-4107A78F5762}"/>
              </a:ext>
            </a:extLst>
          </p:cNvPr>
          <p:cNvSpPr>
            <a:spLocks noGrp="1"/>
          </p:cNvSpPr>
          <p:nvPr>
            <p:ph idx="1"/>
          </p:nvPr>
        </p:nvSpPr>
        <p:spPr/>
        <p:txBody>
          <a:bodyPr>
            <a:normAutofit/>
          </a:bodyPr>
          <a:lstStyle/>
          <a:p>
            <a:r>
              <a:rPr lang="fr-FR" dirty="0"/>
              <a:t>Dans le middleware, on a stocké les données dans un objet qui sera envoyés dans le </a:t>
            </a:r>
            <a:r>
              <a:rPr lang="fr-FR" dirty="0" err="1"/>
              <a:t>request</a:t>
            </a:r>
            <a:r>
              <a:rPr lang="fr-FR" dirty="0"/>
              <a:t>:</a:t>
            </a:r>
          </a:p>
          <a:p>
            <a:endParaRPr lang="fr-FR" dirty="0"/>
          </a:p>
          <a:p>
            <a:pPr marL="0" indent="0">
              <a:buNone/>
            </a:pPr>
            <a:r>
              <a:rPr lang="fr-FR" b="0" dirty="0">
                <a:solidFill>
                  <a:srgbClr val="3B3B3B"/>
                </a:solidFill>
                <a:effectLst/>
                <a:latin typeface="Consolas" panose="020B0609020204030204" pitchFamily="49" charset="0"/>
              </a:rPr>
              <a:t> </a:t>
            </a:r>
            <a:r>
              <a:rPr lang="fr-FR" b="0" dirty="0" err="1">
                <a:solidFill>
                  <a:srgbClr val="001080"/>
                </a:solidFill>
                <a:effectLst/>
                <a:latin typeface="Consolas" panose="020B0609020204030204" pitchFamily="49" charset="0"/>
              </a:rPr>
              <a:t>req</a:t>
            </a:r>
            <a:r>
              <a:rPr lang="fr-FR" b="0" dirty="0" err="1">
                <a:solidFill>
                  <a:srgbClr val="3B3B3B"/>
                </a:solidFill>
                <a:effectLst/>
                <a:latin typeface="Consolas" panose="020B0609020204030204" pitchFamily="49" charset="0"/>
              </a:rPr>
              <a:t>.</a:t>
            </a:r>
            <a:r>
              <a:rPr lang="fr-FR" b="0" dirty="0" err="1">
                <a:solidFill>
                  <a:srgbClr val="001080"/>
                </a:solidFill>
                <a:effectLst/>
                <a:latin typeface="Consolas" panose="020B0609020204030204" pitchFamily="49" charset="0"/>
              </a:rPr>
              <a:t>data</a:t>
            </a:r>
            <a:r>
              <a:rPr lang="fr-FR" b="0" dirty="0">
                <a:solidFill>
                  <a:srgbClr val="000000"/>
                </a:solidFill>
                <a:effectLst/>
                <a:latin typeface="Consolas" panose="020B0609020204030204" pitchFamily="49" charset="0"/>
              </a:rPr>
              <a:t>=</a:t>
            </a:r>
            <a:r>
              <a:rPr lang="fr-FR" b="0" dirty="0">
                <a:solidFill>
                  <a:srgbClr val="001080"/>
                </a:solidFill>
                <a:effectLst/>
                <a:latin typeface="Consolas" panose="020B0609020204030204" pitchFamily="49" charset="0"/>
              </a:rPr>
              <a:t>user</a:t>
            </a:r>
            <a:r>
              <a:rPr lang="fr-FR" b="0" dirty="0">
                <a:solidFill>
                  <a:srgbClr val="3B3B3B"/>
                </a:solidFill>
                <a:effectLst/>
                <a:latin typeface="Consolas" panose="020B0609020204030204" pitchFamily="49" charset="0"/>
              </a:rPr>
              <a:t>;</a:t>
            </a:r>
          </a:p>
          <a:p>
            <a:r>
              <a:rPr lang="fr-FR" dirty="0"/>
              <a:t>Data contient toutes les informations envoyées dans le </a:t>
            </a:r>
            <a:r>
              <a:rPr lang="fr-FR" dirty="0" err="1"/>
              <a:t>token</a:t>
            </a:r>
            <a:r>
              <a:rPr lang="fr-FR" dirty="0"/>
              <a:t>.</a:t>
            </a:r>
          </a:p>
          <a:p>
            <a:endParaRPr lang="fr-FR" dirty="0"/>
          </a:p>
          <a:p>
            <a:r>
              <a:rPr lang="fr-FR" dirty="0"/>
              <a:t>Pour les récupérer c’est simple:</a:t>
            </a:r>
          </a:p>
          <a:p>
            <a:pPr marL="0" indent="0">
              <a:buNone/>
            </a:pPr>
            <a:r>
              <a:rPr lang="en-US" b="0" dirty="0">
                <a:solidFill>
                  <a:srgbClr val="0000FF"/>
                </a:solidFill>
                <a:effectLst/>
                <a:latin typeface="Consolas" panose="020B0609020204030204" pitchFamily="49" charset="0"/>
              </a:rPr>
              <a:t>let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username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req</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data</a:t>
            </a:r>
            <a:r>
              <a:rPr lang="en-US" b="0" dirty="0" err="1">
                <a:solidFill>
                  <a:srgbClr val="3B3B3B"/>
                </a:solidFill>
                <a:effectLst/>
                <a:latin typeface="Consolas" panose="020B0609020204030204" pitchFamily="49" charset="0"/>
              </a:rPr>
              <a:t>.</a:t>
            </a:r>
            <a:r>
              <a:rPr lang="en-US" dirty="0" err="1">
                <a:solidFill>
                  <a:srgbClr val="001080"/>
                </a:solidFill>
                <a:latin typeface="Consolas" panose="020B0609020204030204" pitchFamily="49" charset="0"/>
              </a:rPr>
              <a:t>username</a:t>
            </a:r>
            <a:r>
              <a:rPr lang="en-US" dirty="0">
                <a:solidFill>
                  <a:srgbClr val="001080"/>
                </a:solidFill>
                <a:latin typeface="Consolas" panose="020B0609020204030204" pitchFamily="49" charset="0"/>
              </a:rPr>
              <a:t> dans le route get du service </a:t>
            </a:r>
            <a:r>
              <a:rPr lang="en-US" dirty="0" err="1">
                <a:solidFill>
                  <a:srgbClr val="001080"/>
                </a:solidFill>
                <a:latin typeface="Consolas" panose="020B0609020204030204" pitchFamily="49" charset="0"/>
              </a:rPr>
              <a:t>commande</a:t>
            </a:r>
            <a:r>
              <a:rPr lang="en-US" dirty="0">
                <a:solidFill>
                  <a:srgbClr val="001080"/>
                </a:solidFill>
                <a:latin typeface="Consolas" panose="020B0609020204030204" pitchFamily="49" charset="0"/>
              </a:rPr>
              <a:t>.</a:t>
            </a:r>
            <a:endParaRPr lang="en-US" b="0" dirty="0">
              <a:solidFill>
                <a:srgbClr val="3B3B3B"/>
              </a:solidFill>
              <a:effectLst/>
              <a:latin typeface="Consolas" panose="020B0609020204030204" pitchFamily="49" charset="0"/>
            </a:endParaRPr>
          </a:p>
          <a:p>
            <a:endParaRPr lang="fr-FR" dirty="0"/>
          </a:p>
        </p:txBody>
      </p:sp>
    </p:spTree>
    <p:extLst>
      <p:ext uri="{BB962C8B-B14F-4D97-AF65-F5344CB8AC3E}">
        <p14:creationId xmlns:p14="http://schemas.microsoft.com/office/powerpoint/2010/main" val="152918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3217E8-A238-4465-8099-AD707CE1780D}"/>
              </a:ext>
            </a:extLst>
          </p:cNvPr>
          <p:cNvSpPr>
            <a:spLocks noGrp="1"/>
          </p:cNvSpPr>
          <p:nvPr>
            <p:ph type="title"/>
          </p:nvPr>
        </p:nvSpPr>
        <p:spPr/>
        <p:txBody>
          <a:bodyPr/>
          <a:lstStyle/>
          <a:p>
            <a:r>
              <a:rPr lang="fr-FR" dirty="0"/>
              <a:t>Communication entre </a:t>
            </a:r>
            <a:r>
              <a:rPr lang="fr-FR" dirty="0" err="1"/>
              <a:t>microservices</a:t>
            </a:r>
            <a:endParaRPr lang="fr-FR" dirty="0"/>
          </a:p>
        </p:txBody>
      </p:sp>
      <p:sp>
        <p:nvSpPr>
          <p:cNvPr id="3" name="Espace réservé du contenu 2">
            <a:extLst>
              <a:ext uri="{FF2B5EF4-FFF2-40B4-BE49-F238E27FC236}">
                <a16:creationId xmlns:a16="http://schemas.microsoft.com/office/drawing/2014/main" id="{B6737E62-63C3-425A-AA39-EC0B014D9DE7}"/>
              </a:ext>
            </a:extLst>
          </p:cNvPr>
          <p:cNvSpPr>
            <a:spLocks noGrp="1"/>
          </p:cNvSpPr>
          <p:nvPr>
            <p:ph idx="1"/>
          </p:nvPr>
        </p:nvSpPr>
        <p:spPr/>
        <p:txBody>
          <a:bodyPr/>
          <a:lstStyle/>
          <a:p>
            <a:r>
              <a:rPr lang="fr-FR" dirty="0"/>
              <a:t>Pour récupérer les informations des produits:</a:t>
            </a:r>
          </a:p>
          <a:p>
            <a:endParaRPr lang="fr-FR" dirty="0"/>
          </a:p>
          <a:p>
            <a:pPr marL="0" indent="0">
              <a:buNone/>
            </a:pPr>
            <a:r>
              <a:rPr lang="fr-FR" b="0" dirty="0" err="1">
                <a:solidFill>
                  <a:srgbClr val="0000FF"/>
                </a:solidFill>
                <a:effectLst/>
                <a:latin typeface="Consolas" panose="020B0609020204030204" pitchFamily="49" charset="0"/>
              </a:rPr>
              <a:t>const</a:t>
            </a:r>
            <a:r>
              <a:rPr lang="fr-FR" b="0" dirty="0">
                <a:solidFill>
                  <a:srgbClr val="3B3B3B"/>
                </a:solidFill>
                <a:effectLst/>
                <a:latin typeface="Consolas" panose="020B0609020204030204" pitchFamily="49" charset="0"/>
              </a:rPr>
              <a:t> </a:t>
            </a:r>
            <a:r>
              <a:rPr lang="fr-FR" b="0" dirty="0">
                <a:solidFill>
                  <a:srgbClr val="0070C1"/>
                </a:solidFill>
                <a:effectLst/>
                <a:latin typeface="Consolas" panose="020B0609020204030204" pitchFamily="49" charset="0"/>
              </a:rPr>
              <a:t>url</a:t>
            </a:r>
            <a:r>
              <a:rPr lang="fr-FR" b="0" dirty="0">
                <a:solidFill>
                  <a:srgbClr val="3B3B3B"/>
                </a:solidFill>
                <a:effectLst/>
                <a:latin typeface="Consolas" panose="020B0609020204030204" pitchFamily="49" charset="0"/>
              </a:rPr>
              <a:t> </a:t>
            </a:r>
            <a:r>
              <a:rPr lang="fr-FR" b="0" dirty="0">
                <a:solidFill>
                  <a:srgbClr val="000000"/>
                </a:solidFill>
                <a:effectLst/>
                <a:latin typeface="Consolas" panose="020B0609020204030204" pitchFamily="49" charset="0"/>
              </a:rPr>
              <a:t>=</a:t>
            </a:r>
            <a:r>
              <a:rPr lang="fr-FR" b="0" dirty="0">
                <a:solidFill>
                  <a:srgbClr val="A31515"/>
                </a:solidFill>
                <a:effectLst/>
                <a:latin typeface="Consolas" panose="020B0609020204030204" pitchFamily="49" charset="0"/>
              </a:rPr>
              <a:t>"http://localhost:4000/produit/chercher"</a:t>
            </a:r>
            <a:endParaRPr lang="fr-FR" b="0" dirty="0">
              <a:solidFill>
                <a:srgbClr val="3B3B3B"/>
              </a:solidFill>
              <a:effectLst/>
              <a:latin typeface="Consolas" panose="020B0609020204030204" pitchFamily="49" charset="0"/>
            </a:endParaRPr>
          </a:p>
          <a:p>
            <a:pPr marL="0" indent="0">
              <a:buNone/>
            </a:pPr>
            <a:br>
              <a:rPr lang="fr-FR" b="0" dirty="0">
                <a:solidFill>
                  <a:srgbClr val="3B3B3B"/>
                </a:solidFill>
                <a:effectLst/>
                <a:latin typeface="Consolas" panose="020B0609020204030204" pitchFamily="49" charset="0"/>
              </a:rPr>
            </a:br>
            <a:r>
              <a:rPr lang="fr-FR" b="0" dirty="0">
                <a:solidFill>
                  <a:srgbClr val="3B3B3B"/>
                </a:solidFill>
                <a:effectLst/>
                <a:latin typeface="Consolas" panose="020B0609020204030204" pitchFamily="49" charset="0"/>
              </a:rPr>
              <a:t>  </a:t>
            </a:r>
            <a:r>
              <a:rPr lang="fr-FR" b="0" dirty="0" err="1">
                <a:solidFill>
                  <a:srgbClr val="0000FF"/>
                </a:solidFill>
                <a:effectLst/>
                <a:latin typeface="Consolas" panose="020B0609020204030204" pitchFamily="49" charset="0"/>
              </a:rPr>
              <a:t>const</a:t>
            </a:r>
            <a:r>
              <a:rPr lang="fr-FR" b="0" dirty="0">
                <a:solidFill>
                  <a:srgbClr val="3B3B3B"/>
                </a:solidFill>
                <a:effectLst/>
                <a:latin typeface="Consolas" panose="020B0609020204030204" pitchFamily="49" charset="0"/>
              </a:rPr>
              <a:t> </a:t>
            </a:r>
            <a:r>
              <a:rPr lang="fr-FR" b="0" dirty="0" err="1">
                <a:solidFill>
                  <a:srgbClr val="0070C1"/>
                </a:solidFill>
                <a:effectLst/>
                <a:latin typeface="Consolas" panose="020B0609020204030204" pitchFamily="49" charset="0"/>
              </a:rPr>
              <a:t>response</a:t>
            </a:r>
            <a:r>
              <a:rPr lang="fr-FR" b="0" dirty="0">
                <a:solidFill>
                  <a:srgbClr val="000000"/>
                </a:solidFill>
                <a:effectLst/>
                <a:latin typeface="Consolas" panose="020B0609020204030204" pitchFamily="49" charset="0"/>
              </a:rPr>
              <a:t>=</a:t>
            </a:r>
            <a:r>
              <a:rPr lang="fr-FR" b="0" dirty="0">
                <a:solidFill>
                  <a:srgbClr val="3B3B3B"/>
                </a:solidFill>
                <a:effectLst/>
                <a:latin typeface="Consolas" panose="020B0609020204030204" pitchFamily="49" charset="0"/>
              </a:rPr>
              <a:t> </a:t>
            </a:r>
            <a:r>
              <a:rPr lang="fr-FR" b="0" dirty="0" err="1">
                <a:solidFill>
                  <a:srgbClr val="AF00DB"/>
                </a:solidFill>
                <a:effectLst/>
                <a:latin typeface="Consolas" panose="020B0609020204030204" pitchFamily="49" charset="0"/>
              </a:rPr>
              <a:t>await</a:t>
            </a:r>
            <a:r>
              <a:rPr lang="fr-FR" b="0" dirty="0">
                <a:solidFill>
                  <a:srgbClr val="3B3B3B"/>
                </a:solidFill>
                <a:effectLst/>
                <a:latin typeface="Consolas" panose="020B0609020204030204" pitchFamily="49" charset="0"/>
              </a:rPr>
              <a:t> </a:t>
            </a:r>
            <a:r>
              <a:rPr lang="fr-FR" b="0" dirty="0" err="1">
                <a:solidFill>
                  <a:srgbClr val="0070C1"/>
                </a:solidFill>
                <a:effectLst/>
                <a:latin typeface="Consolas" panose="020B0609020204030204" pitchFamily="49" charset="0"/>
              </a:rPr>
              <a:t>axios</a:t>
            </a:r>
            <a:r>
              <a:rPr lang="fr-FR" b="0" dirty="0" err="1">
                <a:solidFill>
                  <a:srgbClr val="3B3B3B"/>
                </a:solidFill>
                <a:effectLst/>
                <a:latin typeface="Consolas" panose="020B0609020204030204" pitchFamily="49" charset="0"/>
              </a:rPr>
              <a:t>.</a:t>
            </a:r>
            <a:r>
              <a:rPr lang="fr-FR" b="0" dirty="0" err="1">
                <a:solidFill>
                  <a:srgbClr val="795E26"/>
                </a:solidFill>
                <a:effectLst/>
                <a:latin typeface="Consolas" panose="020B0609020204030204" pitchFamily="49" charset="0"/>
              </a:rPr>
              <a:t>post</a:t>
            </a:r>
            <a:r>
              <a:rPr lang="fr-FR" b="0" dirty="0">
                <a:solidFill>
                  <a:srgbClr val="3B3B3B"/>
                </a:solidFill>
                <a:effectLst/>
                <a:latin typeface="Consolas" panose="020B0609020204030204" pitchFamily="49" charset="0"/>
              </a:rPr>
              <a:t>(</a:t>
            </a:r>
            <a:r>
              <a:rPr lang="fr-FR" b="0" dirty="0">
                <a:solidFill>
                  <a:srgbClr val="0070C1"/>
                </a:solidFill>
                <a:effectLst/>
                <a:latin typeface="Consolas" panose="020B0609020204030204" pitchFamily="49" charset="0"/>
              </a:rPr>
              <a:t>url</a:t>
            </a:r>
            <a:r>
              <a:rPr lang="fr-FR" b="0" dirty="0">
                <a:solidFill>
                  <a:srgbClr val="3B3B3B"/>
                </a:solidFill>
                <a:effectLst/>
                <a:latin typeface="Consolas" panose="020B0609020204030204" pitchFamily="49" charset="0"/>
              </a:rPr>
              <a:t>,{</a:t>
            </a:r>
            <a:r>
              <a:rPr lang="fr-FR" b="0" dirty="0" err="1">
                <a:solidFill>
                  <a:srgbClr val="001080"/>
                </a:solidFill>
                <a:effectLst/>
                <a:latin typeface="Consolas" panose="020B0609020204030204" pitchFamily="49" charset="0"/>
              </a:rPr>
              <a:t>noms:noms</a:t>
            </a:r>
            <a:r>
              <a:rPr lang="fr-FR" b="0" dirty="0">
                <a:solidFill>
                  <a:srgbClr val="3B3B3B"/>
                </a:solidFill>
                <a:effectLst/>
                <a:latin typeface="Consolas" panose="020B0609020204030204" pitchFamily="49" charset="0"/>
              </a:rPr>
              <a:t>})</a:t>
            </a:r>
          </a:p>
          <a:p>
            <a:pPr marL="0" indent="0">
              <a:buNone/>
            </a:pPr>
            <a:r>
              <a:rPr lang="fr-FR" dirty="0">
                <a:solidFill>
                  <a:srgbClr val="3B3B3B"/>
                </a:solidFill>
                <a:latin typeface="Consolas" panose="020B0609020204030204" pitchFamily="49" charset="0"/>
              </a:rPr>
              <a:t>  </a:t>
            </a:r>
            <a:r>
              <a:rPr lang="fr-FR" b="0" dirty="0" err="1">
                <a:solidFill>
                  <a:srgbClr val="0000FF"/>
                </a:solidFill>
                <a:effectLst/>
                <a:latin typeface="Consolas" panose="020B0609020204030204" pitchFamily="49" charset="0"/>
              </a:rPr>
              <a:t>const</a:t>
            </a:r>
            <a:r>
              <a:rPr lang="fr-FR" b="0" dirty="0">
                <a:solidFill>
                  <a:srgbClr val="3B3B3B"/>
                </a:solidFill>
                <a:effectLst/>
                <a:latin typeface="Consolas" panose="020B0609020204030204" pitchFamily="49" charset="0"/>
              </a:rPr>
              <a:t> </a:t>
            </a:r>
            <a:r>
              <a:rPr lang="fr-FR" b="0" dirty="0">
                <a:solidFill>
                  <a:srgbClr val="0070C1"/>
                </a:solidFill>
                <a:effectLst/>
                <a:latin typeface="Consolas" panose="020B0609020204030204" pitchFamily="49" charset="0"/>
              </a:rPr>
              <a:t>produits</a:t>
            </a:r>
            <a:r>
              <a:rPr lang="fr-FR" b="0" dirty="0">
                <a:solidFill>
                  <a:srgbClr val="3B3B3B"/>
                </a:solidFill>
                <a:effectLst/>
                <a:latin typeface="Consolas" panose="020B0609020204030204" pitchFamily="49" charset="0"/>
              </a:rPr>
              <a:t> </a:t>
            </a:r>
            <a:r>
              <a:rPr lang="fr-FR" b="0" dirty="0">
                <a:solidFill>
                  <a:srgbClr val="000000"/>
                </a:solidFill>
                <a:effectLst/>
                <a:latin typeface="Consolas" panose="020B0609020204030204" pitchFamily="49" charset="0"/>
              </a:rPr>
              <a:t>=</a:t>
            </a:r>
            <a:r>
              <a:rPr lang="fr-FR" b="0" dirty="0" err="1">
                <a:solidFill>
                  <a:srgbClr val="0070C1"/>
                </a:solidFill>
                <a:effectLst/>
                <a:latin typeface="Consolas" panose="020B0609020204030204" pitchFamily="49" charset="0"/>
              </a:rPr>
              <a:t>response</a:t>
            </a:r>
            <a:r>
              <a:rPr lang="fr-FR" b="0" dirty="0" err="1">
                <a:solidFill>
                  <a:srgbClr val="3B3B3B"/>
                </a:solidFill>
                <a:effectLst/>
                <a:latin typeface="Consolas" panose="020B0609020204030204" pitchFamily="49" charset="0"/>
              </a:rPr>
              <a:t>.</a:t>
            </a:r>
            <a:r>
              <a:rPr lang="fr-FR" b="0" dirty="0" err="1">
                <a:solidFill>
                  <a:srgbClr val="001080"/>
                </a:solidFill>
                <a:effectLst/>
                <a:latin typeface="Consolas" panose="020B0609020204030204" pitchFamily="49" charset="0"/>
              </a:rPr>
              <a:t>data</a:t>
            </a:r>
            <a:endParaRPr lang="fr-FR" b="0" dirty="0">
              <a:solidFill>
                <a:srgbClr val="3B3B3B"/>
              </a:solidFill>
              <a:effectLst/>
              <a:latin typeface="Consolas" panose="020B0609020204030204" pitchFamily="49" charset="0"/>
            </a:endParaRPr>
          </a:p>
          <a:p>
            <a:pPr marL="0" indent="0">
              <a:buNone/>
            </a:pPr>
            <a:endParaRPr lang="fr-FR" dirty="0"/>
          </a:p>
        </p:txBody>
      </p:sp>
    </p:spTree>
    <p:extLst>
      <p:ext uri="{BB962C8B-B14F-4D97-AF65-F5344CB8AC3E}">
        <p14:creationId xmlns:p14="http://schemas.microsoft.com/office/powerpoint/2010/main" val="4029157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194B53-9B69-4957-BB90-375D9014CEE0}"/>
              </a:ext>
            </a:extLst>
          </p:cNvPr>
          <p:cNvSpPr>
            <a:spLocks noGrp="1"/>
          </p:cNvSpPr>
          <p:nvPr>
            <p:ph type="title"/>
          </p:nvPr>
        </p:nvSpPr>
        <p:spPr/>
        <p:txBody>
          <a:bodyPr/>
          <a:lstStyle/>
          <a:p>
            <a:r>
              <a:rPr lang="fr-FR" dirty="0"/>
              <a:t>La date de création</a:t>
            </a:r>
          </a:p>
        </p:txBody>
      </p:sp>
      <p:sp>
        <p:nvSpPr>
          <p:cNvPr id="3" name="Espace réservé du contenu 2">
            <a:extLst>
              <a:ext uri="{FF2B5EF4-FFF2-40B4-BE49-F238E27FC236}">
                <a16:creationId xmlns:a16="http://schemas.microsoft.com/office/drawing/2014/main" id="{603FC41D-2C28-4DF0-9EE1-2A24E145C613}"/>
              </a:ext>
            </a:extLst>
          </p:cNvPr>
          <p:cNvSpPr>
            <a:spLocks noGrp="1"/>
          </p:cNvSpPr>
          <p:nvPr>
            <p:ph idx="1"/>
          </p:nvPr>
        </p:nvSpPr>
        <p:spPr>
          <a:xfrm>
            <a:off x="838200" y="1495845"/>
            <a:ext cx="10515600" cy="4351338"/>
          </a:xfrm>
        </p:spPr>
        <p:txBody>
          <a:bodyPr/>
          <a:lstStyle/>
          <a:p>
            <a:r>
              <a:rPr lang="fr-FR"/>
              <a:t>Le </a:t>
            </a:r>
            <a:r>
              <a:rPr lang="fr-FR" dirty="0"/>
              <a:t>schéma de la base de données du </a:t>
            </a:r>
            <a:r>
              <a:rPr lang="fr-FR"/>
              <a:t>service commande:</a:t>
            </a:r>
            <a:endParaRPr lang="fr-FR" dirty="0"/>
          </a:p>
          <a:p>
            <a:pPr marL="0" indent="0">
              <a:buNone/>
            </a:pPr>
            <a:endParaRPr lang="fr-FR" dirty="0"/>
          </a:p>
        </p:txBody>
      </p:sp>
      <p:sp>
        <p:nvSpPr>
          <p:cNvPr id="5" name="ZoneTexte 4">
            <a:extLst>
              <a:ext uri="{FF2B5EF4-FFF2-40B4-BE49-F238E27FC236}">
                <a16:creationId xmlns:a16="http://schemas.microsoft.com/office/drawing/2014/main" id="{4F01F7F4-52C8-486B-913C-13EA5B092594}"/>
              </a:ext>
            </a:extLst>
          </p:cNvPr>
          <p:cNvSpPr txBox="1"/>
          <p:nvPr/>
        </p:nvSpPr>
        <p:spPr>
          <a:xfrm>
            <a:off x="459697" y="2025908"/>
            <a:ext cx="11532433" cy="4832092"/>
          </a:xfrm>
          <a:prstGeom prst="rect">
            <a:avLst/>
          </a:prstGeom>
          <a:noFill/>
        </p:spPr>
        <p:txBody>
          <a:bodyPr wrap="square">
            <a:spAutoFit/>
          </a:bodyPr>
          <a:lstStyle/>
          <a:p>
            <a:r>
              <a:rPr lang="fr-FR" sz="2800" b="0" dirty="0" err="1">
                <a:solidFill>
                  <a:srgbClr val="0000FF"/>
                </a:solidFill>
                <a:effectLst/>
                <a:latin typeface="Consolas" panose="020B0609020204030204" pitchFamily="49" charset="0"/>
              </a:rPr>
              <a:t>const</a:t>
            </a:r>
            <a:r>
              <a:rPr lang="fr-FR" sz="2800" b="0" dirty="0">
                <a:solidFill>
                  <a:srgbClr val="3B3B3B"/>
                </a:solidFill>
                <a:effectLst/>
                <a:latin typeface="Consolas" panose="020B0609020204030204" pitchFamily="49" charset="0"/>
              </a:rPr>
              <a:t> </a:t>
            </a:r>
            <a:r>
              <a:rPr lang="fr-FR" sz="2800" b="0" dirty="0" err="1">
                <a:solidFill>
                  <a:srgbClr val="0070C1"/>
                </a:solidFill>
                <a:effectLst/>
                <a:latin typeface="Consolas" panose="020B0609020204030204" pitchFamily="49" charset="0"/>
              </a:rPr>
              <a:t>CommandeSchema</a:t>
            </a:r>
            <a:r>
              <a:rPr lang="fr-FR" sz="2800" b="0" dirty="0">
                <a:solidFill>
                  <a:srgbClr val="3B3B3B"/>
                </a:solidFill>
                <a:effectLst/>
                <a:latin typeface="Consolas" panose="020B0609020204030204" pitchFamily="49" charset="0"/>
              </a:rPr>
              <a:t> </a:t>
            </a:r>
            <a:r>
              <a:rPr lang="fr-FR" sz="2800" b="0" dirty="0">
                <a:solidFill>
                  <a:srgbClr val="000000"/>
                </a:solidFill>
                <a:effectLst/>
                <a:latin typeface="Consolas" panose="020B0609020204030204" pitchFamily="49" charset="0"/>
              </a:rPr>
              <a:t>=</a:t>
            </a:r>
            <a:r>
              <a:rPr lang="fr-FR" sz="2800" b="0" dirty="0">
                <a:solidFill>
                  <a:srgbClr val="3B3B3B"/>
                </a:solidFill>
                <a:effectLst/>
                <a:latin typeface="Consolas" panose="020B0609020204030204" pitchFamily="49" charset="0"/>
              </a:rPr>
              <a:t> </a:t>
            </a:r>
            <a:r>
              <a:rPr lang="fr-FR" sz="2800" b="0" dirty="0" err="1">
                <a:solidFill>
                  <a:srgbClr val="267F99"/>
                </a:solidFill>
                <a:effectLst/>
                <a:latin typeface="Consolas" panose="020B0609020204030204" pitchFamily="49" charset="0"/>
              </a:rPr>
              <a:t>mongoose</a:t>
            </a:r>
            <a:r>
              <a:rPr lang="fr-FR" sz="2800" b="0" dirty="0" err="1">
                <a:solidFill>
                  <a:srgbClr val="3B3B3B"/>
                </a:solidFill>
                <a:effectLst/>
                <a:latin typeface="Consolas" panose="020B0609020204030204" pitchFamily="49" charset="0"/>
              </a:rPr>
              <a:t>.</a:t>
            </a:r>
            <a:r>
              <a:rPr lang="fr-FR" sz="2800" b="0" dirty="0" err="1">
                <a:solidFill>
                  <a:srgbClr val="267F99"/>
                </a:solidFill>
                <a:effectLst/>
                <a:latin typeface="Consolas" panose="020B0609020204030204" pitchFamily="49" charset="0"/>
              </a:rPr>
              <a:t>Schema</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r>
              <a:rPr lang="fr-FR" sz="2800" b="0" dirty="0">
                <a:solidFill>
                  <a:srgbClr val="001080"/>
                </a:solidFill>
                <a:effectLst/>
                <a:latin typeface="Consolas" panose="020B0609020204030204" pitchFamily="49" charset="0"/>
              </a:rPr>
              <a:t>produits:</a:t>
            </a:r>
            <a:r>
              <a:rPr lang="fr-FR" sz="2800" b="0" dirty="0">
                <a:solidFill>
                  <a:srgbClr val="3B3B3B"/>
                </a:solidFill>
                <a:effectLst/>
                <a:latin typeface="Consolas" panose="020B0609020204030204" pitchFamily="49" charset="0"/>
              </a:rPr>
              <a:t> {</a:t>
            </a:r>
          </a:p>
          <a:p>
            <a:r>
              <a:rPr lang="fr-FR" sz="2800" b="0" dirty="0">
                <a:solidFill>
                  <a:srgbClr val="3B3B3B"/>
                </a:solidFill>
                <a:effectLst/>
                <a:latin typeface="Consolas" panose="020B0609020204030204" pitchFamily="49" charset="0"/>
              </a:rPr>
              <a:t>      </a:t>
            </a:r>
            <a:r>
              <a:rPr lang="fr-FR" sz="2800" b="0" dirty="0">
                <a:solidFill>
                  <a:srgbClr val="001080"/>
                </a:solidFill>
                <a:effectLst/>
                <a:latin typeface="Consolas" panose="020B0609020204030204" pitchFamily="49" charset="0"/>
              </a:rPr>
              <a:t>type:</a:t>
            </a:r>
            <a:r>
              <a:rPr lang="fr-FR" sz="2800" b="0" dirty="0">
                <a:solidFill>
                  <a:srgbClr val="3B3B3B"/>
                </a:solidFill>
                <a:effectLst/>
                <a:latin typeface="Consolas" panose="020B0609020204030204" pitchFamily="49" charset="0"/>
              </a:rPr>
              <a:t>[</a:t>
            </a:r>
            <a:r>
              <a:rPr lang="fr-FR" sz="2800" b="0" dirty="0">
                <a:solidFill>
                  <a:srgbClr val="267F99"/>
                </a:solidFill>
                <a:effectLst/>
                <a:latin typeface="Consolas" panose="020B0609020204030204" pitchFamily="49" charset="0"/>
              </a:rPr>
              <a:t>String</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p>
          <a:p>
            <a:r>
              <a:rPr lang="fr-FR" sz="2800" b="0" dirty="0">
                <a:solidFill>
                  <a:srgbClr val="3B3B3B"/>
                </a:solidFill>
                <a:effectLst/>
                <a:latin typeface="Consolas" panose="020B0609020204030204" pitchFamily="49" charset="0"/>
              </a:rPr>
              <a:t>    </a:t>
            </a:r>
            <a:r>
              <a:rPr lang="fr-FR" sz="2800" b="0" dirty="0">
                <a:solidFill>
                  <a:srgbClr val="267F99"/>
                </a:solidFill>
                <a:effectLst/>
                <a:latin typeface="Consolas" panose="020B0609020204030204" pitchFamily="49" charset="0"/>
              </a:rPr>
              <a:t>email</a:t>
            </a:r>
            <a:r>
              <a:rPr lang="fr-FR" sz="2800" b="0" dirty="0">
                <a:solidFill>
                  <a:srgbClr val="001080"/>
                </a:solidFill>
                <a:effectLst/>
                <a:latin typeface="Consolas" panose="020B0609020204030204" pitchFamily="49" charset="0"/>
              </a:rPr>
              <a:t>:</a:t>
            </a:r>
            <a:r>
              <a:rPr lang="fr-FR" sz="2800" b="0" dirty="0">
                <a:solidFill>
                  <a:srgbClr val="3B3B3B"/>
                </a:solidFill>
                <a:effectLst/>
                <a:latin typeface="Consolas" panose="020B0609020204030204" pitchFamily="49" charset="0"/>
              </a:rPr>
              <a:t> </a:t>
            </a:r>
            <a:r>
              <a:rPr lang="fr-FR" sz="2800" b="0" dirty="0">
                <a:solidFill>
                  <a:srgbClr val="267F99"/>
                </a:solidFill>
                <a:effectLst/>
                <a:latin typeface="Consolas" panose="020B0609020204030204" pitchFamily="49" charset="0"/>
              </a:rPr>
              <a:t>String</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r>
              <a:rPr lang="fr-FR" sz="2800" b="0" dirty="0" err="1">
                <a:solidFill>
                  <a:srgbClr val="267F99"/>
                </a:solidFill>
                <a:effectLst/>
                <a:latin typeface="Consolas" panose="020B0609020204030204" pitchFamily="49" charset="0"/>
              </a:rPr>
              <a:t>prix_total</a:t>
            </a:r>
            <a:r>
              <a:rPr lang="fr-FR" sz="2800" b="0" dirty="0">
                <a:solidFill>
                  <a:srgbClr val="001080"/>
                </a:solidFill>
                <a:effectLst/>
                <a:latin typeface="Consolas" panose="020B0609020204030204" pitchFamily="49" charset="0"/>
              </a:rPr>
              <a:t>:</a:t>
            </a:r>
            <a:r>
              <a:rPr lang="fr-FR" sz="2800" b="0" dirty="0">
                <a:solidFill>
                  <a:srgbClr val="3B3B3B"/>
                </a:solidFill>
                <a:effectLst/>
                <a:latin typeface="Consolas" panose="020B0609020204030204" pitchFamily="49" charset="0"/>
              </a:rPr>
              <a:t> </a:t>
            </a:r>
            <a:r>
              <a:rPr lang="fr-FR" sz="2800" b="0" dirty="0" err="1">
                <a:solidFill>
                  <a:srgbClr val="267F99"/>
                </a:solidFill>
                <a:effectLst/>
                <a:latin typeface="Consolas" panose="020B0609020204030204" pitchFamily="49" charset="0"/>
              </a:rPr>
              <a:t>Number</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r>
              <a:rPr lang="fr-FR" sz="2800" b="0" dirty="0" err="1">
                <a:solidFill>
                  <a:srgbClr val="001080"/>
                </a:solidFill>
                <a:effectLst/>
                <a:latin typeface="Consolas" panose="020B0609020204030204" pitchFamily="49" charset="0"/>
              </a:rPr>
              <a:t>created_at</a:t>
            </a:r>
            <a:r>
              <a:rPr lang="fr-FR" sz="2800" b="0" dirty="0">
                <a:solidFill>
                  <a:srgbClr val="001080"/>
                </a:solidFill>
                <a:effectLst/>
                <a:latin typeface="Consolas" panose="020B0609020204030204" pitchFamily="49" charset="0"/>
              </a:rPr>
              <a:t>:</a:t>
            </a:r>
            <a:r>
              <a:rPr lang="fr-FR" sz="2800" b="0" dirty="0">
                <a:solidFill>
                  <a:srgbClr val="3B3B3B"/>
                </a:solidFill>
                <a:effectLst/>
                <a:latin typeface="Consolas" panose="020B0609020204030204" pitchFamily="49" charset="0"/>
              </a:rPr>
              <a:t> {</a:t>
            </a:r>
          </a:p>
          <a:p>
            <a:r>
              <a:rPr lang="fr-FR" sz="2800" b="0" dirty="0">
                <a:solidFill>
                  <a:srgbClr val="3B3B3B"/>
                </a:solidFill>
                <a:effectLst/>
                <a:latin typeface="Consolas" panose="020B0609020204030204" pitchFamily="49" charset="0"/>
              </a:rPr>
              <a:t>      </a:t>
            </a:r>
            <a:r>
              <a:rPr lang="fr-FR" sz="2800" b="0" dirty="0">
                <a:solidFill>
                  <a:srgbClr val="267F99"/>
                </a:solidFill>
                <a:effectLst/>
                <a:latin typeface="Consolas" panose="020B0609020204030204" pitchFamily="49" charset="0"/>
              </a:rPr>
              <a:t>type</a:t>
            </a:r>
            <a:r>
              <a:rPr lang="fr-FR" sz="2800" b="0" dirty="0">
                <a:solidFill>
                  <a:srgbClr val="001080"/>
                </a:solidFill>
                <a:effectLst/>
                <a:latin typeface="Consolas" panose="020B0609020204030204" pitchFamily="49" charset="0"/>
              </a:rPr>
              <a:t>:</a:t>
            </a:r>
            <a:r>
              <a:rPr lang="fr-FR" sz="2800" b="0" dirty="0">
                <a:solidFill>
                  <a:srgbClr val="3B3B3B"/>
                </a:solidFill>
                <a:effectLst/>
                <a:latin typeface="Consolas" panose="020B0609020204030204" pitchFamily="49" charset="0"/>
              </a:rPr>
              <a:t> </a:t>
            </a:r>
            <a:r>
              <a:rPr lang="fr-FR" sz="2800" b="0" dirty="0">
                <a:solidFill>
                  <a:srgbClr val="267F99"/>
                </a:solidFill>
                <a:effectLst/>
                <a:latin typeface="Consolas" panose="020B0609020204030204" pitchFamily="49" charset="0"/>
              </a:rPr>
              <a:t>Date</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r>
              <a:rPr lang="fr-FR" sz="2800" b="0" dirty="0">
                <a:solidFill>
                  <a:srgbClr val="001080"/>
                </a:solidFill>
                <a:effectLst/>
                <a:latin typeface="Consolas" panose="020B0609020204030204" pitchFamily="49" charset="0"/>
              </a:rPr>
              <a:t>default:</a:t>
            </a:r>
            <a:r>
              <a:rPr lang="fr-FR" sz="2800" b="0" dirty="0">
                <a:solidFill>
                  <a:srgbClr val="3B3B3B"/>
                </a:solidFill>
                <a:effectLst/>
                <a:latin typeface="Consolas" panose="020B0609020204030204" pitchFamily="49" charset="0"/>
              </a:rPr>
              <a:t> </a:t>
            </a:r>
            <a:r>
              <a:rPr lang="fr-FR" sz="2800" b="0" dirty="0" err="1">
                <a:solidFill>
                  <a:srgbClr val="267F99"/>
                </a:solidFill>
                <a:effectLst/>
                <a:latin typeface="Consolas" panose="020B0609020204030204" pitchFamily="49" charset="0"/>
              </a:rPr>
              <a:t>Date</a:t>
            </a:r>
            <a:r>
              <a:rPr lang="fr-FR" sz="2800" b="0" dirty="0" err="1">
                <a:solidFill>
                  <a:srgbClr val="3B3B3B"/>
                </a:solidFill>
                <a:effectLst/>
                <a:latin typeface="Consolas" panose="020B0609020204030204" pitchFamily="49" charset="0"/>
              </a:rPr>
              <a:t>.</a:t>
            </a:r>
            <a:r>
              <a:rPr lang="fr-FR" sz="2800" b="0" dirty="0" err="1">
                <a:solidFill>
                  <a:srgbClr val="795E26"/>
                </a:solidFill>
                <a:effectLst/>
                <a:latin typeface="Consolas" panose="020B0609020204030204" pitchFamily="49" charset="0"/>
              </a:rPr>
              <a:t>now</a:t>
            </a:r>
            <a:r>
              <a:rPr lang="fr-FR" sz="2800" b="0" dirty="0">
                <a:solidFill>
                  <a:srgbClr val="3B3B3B"/>
                </a:solidFill>
                <a:effectLst/>
                <a:latin typeface="Consolas" panose="020B0609020204030204" pitchFamily="49" charset="0"/>
              </a:rPr>
              <a:t>(),</a:t>
            </a:r>
          </a:p>
          <a:p>
            <a:r>
              <a:rPr lang="fr-FR" sz="2800" b="0" dirty="0">
                <a:solidFill>
                  <a:srgbClr val="3B3B3B"/>
                </a:solidFill>
                <a:effectLst/>
                <a:latin typeface="Consolas" panose="020B0609020204030204" pitchFamily="49" charset="0"/>
              </a:rPr>
              <a:t>      },</a:t>
            </a:r>
          </a:p>
          <a:p>
            <a:r>
              <a:rPr lang="fr-FR" sz="28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4136678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4A2411-5F45-440B-9D6B-195E2B1774F8}"/>
              </a:ext>
            </a:extLst>
          </p:cNvPr>
          <p:cNvSpPr>
            <a:spLocks noGrp="1"/>
          </p:cNvSpPr>
          <p:nvPr>
            <p:ph type="title"/>
          </p:nvPr>
        </p:nvSpPr>
        <p:spPr/>
        <p:txBody>
          <a:bodyPr/>
          <a:lstStyle/>
          <a:p>
            <a:r>
              <a:rPr lang="fr-FR" dirty="0"/>
              <a:t>Suite TP site E-commerce</a:t>
            </a:r>
          </a:p>
        </p:txBody>
      </p:sp>
      <p:sp>
        <p:nvSpPr>
          <p:cNvPr id="3" name="Espace réservé du contenu 2">
            <a:extLst>
              <a:ext uri="{FF2B5EF4-FFF2-40B4-BE49-F238E27FC236}">
                <a16:creationId xmlns:a16="http://schemas.microsoft.com/office/drawing/2014/main" id="{5BA4B92E-3D5E-4AF5-89E5-2C32C6D69539}"/>
              </a:ext>
            </a:extLst>
          </p:cNvPr>
          <p:cNvSpPr>
            <a:spLocks noGrp="1"/>
          </p:cNvSpPr>
          <p:nvPr>
            <p:ph idx="1"/>
          </p:nvPr>
        </p:nvSpPr>
        <p:spPr>
          <a:xfrm>
            <a:off x="838200" y="1918741"/>
            <a:ext cx="10314482" cy="5051685"/>
          </a:xfrm>
        </p:spPr>
        <p:txBody>
          <a:bodyPr>
            <a:normAutofit lnSpcReduction="10000"/>
          </a:bodyPr>
          <a:lstStyle/>
          <a:p>
            <a:pPr marL="0" indent="0">
              <a:buNone/>
            </a:pPr>
            <a:r>
              <a:rPr lang="fr-FR" sz="2600" dirty="0"/>
              <a:t>Ajouter les modifications nécessaires dans les services produit et commande pour mettre en place les mécanismes suivants:</a:t>
            </a:r>
          </a:p>
          <a:p>
            <a:pPr marL="514350" indent="-514350">
              <a:buFont typeface="+mj-lt"/>
              <a:buAutoNum type="arabicPeriod"/>
            </a:pPr>
            <a:r>
              <a:rPr lang="fr-FR" sz="2600" dirty="0"/>
              <a:t>A l’achat d’un produit la valeur en stock est décrémenté de 1.</a:t>
            </a:r>
          </a:p>
          <a:p>
            <a:pPr marL="514350" indent="-514350">
              <a:buFont typeface="+mj-lt"/>
              <a:buAutoNum type="arabicPeriod"/>
            </a:pPr>
            <a:r>
              <a:rPr lang="fr-FR" sz="2600" dirty="0"/>
              <a:t>A l’ajout d’une commande avec le </a:t>
            </a:r>
            <a:r>
              <a:rPr lang="fr-FR" sz="2600" dirty="0" err="1"/>
              <a:t>request</a:t>
            </a:r>
            <a:r>
              <a:rPr lang="fr-FR" sz="2600" dirty="0"/>
              <a:t> suivant</a:t>
            </a:r>
          </a:p>
          <a:p>
            <a:pPr marL="514350" indent="-514350">
              <a:buFont typeface="+mj-lt"/>
              <a:buAutoNum type="arabicPeriod"/>
            </a:pPr>
            <a:endParaRPr lang="fr-FR" sz="2600" dirty="0"/>
          </a:p>
          <a:p>
            <a:pPr marL="514350" indent="-514350">
              <a:buFont typeface="+mj-lt"/>
              <a:buAutoNum type="arabicPeriod"/>
            </a:pPr>
            <a:endParaRPr lang="fr-FR" sz="2600" dirty="0"/>
          </a:p>
          <a:p>
            <a:pPr marL="514350" indent="-514350">
              <a:buFont typeface="+mj-lt"/>
              <a:buAutoNum type="arabicPeriod"/>
            </a:pPr>
            <a:endParaRPr lang="fr-FR" sz="2600" dirty="0"/>
          </a:p>
          <a:p>
            <a:pPr marL="514350" indent="-514350">
              <a:buFont typeface="+mj-lt"/>
              <a:buAutoNum type="arabicPeriod"/>
            </a:pPr>
            <a:endParaRPr lang="fr-FR" sz="2600" dirty="0"/>
          </a:p>
          <a:p>
            <a:pPr marL="0" indent="0">
              <a:buNone/>
            </a:pPr>
            <a:r>
              <a:rPr lang="fr-FR" sz="2600" dirty="0"/>
              <a:t> </a:t>
            </a:r>
          </a:p>
          <a:p>
            <a:pPr marL="0" indent="0">
              <a:buNone/>
            </a:pPr>
            <a:endParaRPr lang="fr-FR" sz="2600" dirty="0"/>
          </a:p>
          <a:p>
            <a:pPr marL="0" indent="0">
              <a:buNone/>
            </a:pPr>
            <a:r>
              <a:rPr lang="fr-FR" sz="2600" dirty="0"/>
              <a:t>Le prix total est calculé et le stock est modifié selon la quantité.</a:t>
            </a:r>
          </a:p>
          <a:p>
            <a:pPr marL="0" indent="0">
              <a:buNone/>
            </a:pPr>
            <a:endParaRPr lang="fr-FR" dirty="0"/>
          </a:p>
        </p:txBody>
      </p:sp>
      <p:sp>
        <p:nvSpPr>
          <p:cNvPr id="5" name="ZoneTexte 4">
            <a:extLst>
              <a:ext uri="{FF2B5EF4-FFF2-40B4-BE49-F238E27FC236}">
                <a16:creationId xmlns:a16="http://schemas.microsoft.com/office/drawing/2014/main" id="{AA60D5A9-D8F9-4F5B-9076-E12757B5E47E}"/>
              </a:ext>
            </a:extLst>
          </p:cNvPr>
          <p:cNvSpPr txBox="1"/>
          <p:nvPr/>
        </p:nvSpPr>
        <p:spPr>
          <a:xfrm>
            <a:off x="1412822" y="3896363"/>
            <a:ext cx="8495675" cy="2246769"/>
          </a:xfrm>
          <a:prstGeom prst="rect">
            <a:avLst/>
          </a:prstGeom>
          <a:noFill/>
        </p:spPr>
        <p:txBody>
          <a:bodyPr wrap="square">
            <a:spAutoFit/>
          </a:bodyPr>
          <a:lstStyle/>
          <a:p>
            <a:r>
              <a:rPr lang="fr-FR" sz="2000" b="0" dirty="0">
                <a:solidFill>
                  <a:srgbClr val="3B3B3B"/>
                </a:solidFill>
                <a:effectLst/>
                <a:latin typeface="Consolas" panose="020B0609020204030204" pitchFamily="49" charset="0"/>
              </a:rPr>
              <a:t>{</a:t>
            </a:r>
          </a:p>
          <a:p>
            <a:r>
              <a:rPr lang="fr-FR" sz="2000" b="0" dirty="0">
                <a:solidFill>
                  <a:srgbClr val="A31515"/>
                </a:solidFill>
                <a:effectLst/>
                <a:latin typeface="Consolas" panose="020B0609020204030204" pitchFamily="49" charset="0"/>
              </a:rPr>
              <a:t>"produits"</a:t>
            </a:r>
            <a:r>
              <a:rPr lang="fr-FR" sz="2000" b="0" dirty="0">
                <a:solidFill>
                  <a:srgbClr val="001080"/>
                </a:solidFill>
                <a:effectLst/>
                <a:latin typeface="Consolas" panose="020B0609020204030204" pitchFamily="49" charset="0"/>
              </a:rPr>
              <a:t>:</a:t>
            </a:r>
            <a:r>
              <a:rPr lang="fr-FR" sz="2000" b="0" dirty="0">
                <a:solidFill>
                  <a:srgbClr val="3B3B3B"/>
                </a:solidFill>
                <a:effectLst/>
                <a:latin typeface="Consolas" panose="020B0609020204030204" pitchFamily="49" charset="0"/>
              </a:rPr>
              <a:t>[</a:t>
            </a:r>
          </a:p>
          <a:p>
            <a:r>
              <a:rPr lang="fr-FR" sz="2000" dirty="0">
                <a:solidFill>
                  <a:srgbClr val="3B3B3B"/>
                </a:solidFill>
                <a:latin typeface="Consolas" panose="020B0609020204030204" pitchFamily="49" charset="0"/>
              </a:rPr>
              <a:t>		</a:t>
            </a:r>
            <a:r>
              <a:rPr lang="fr-FR" sz="2000" b="0" dirty="0">
                <a:solidFill>
                  <a:srgbClr val="3B3B3B"/>
                </a:solidFill>
                <a:effectLst/>
                <a:latin typeface="Consolas" panose="020B0609020204030204" pitchFamily="49" charset="0"/>
              </a:rPr>
              <a:t>{</a:t>
            </a:r>
            <a:r>
              <a:rPr lang="fr-FR" sz="2000" b="0" dirty="0">
                <a:solidFill>
                  <a:srgbClr val="A31515"/>
                </a:solidFill>
                <a:effectLst/>
                <a:latin typeface="Consolas" panose="020B0609020204030204" pitchFamily="49" charset="0"/>
              </a:rPr>
              <a:t>"nom"</a:t>
            </a:r>
            <a:r>
              <a:rPr lang="fr-FR" sz="2000" b="0" dirty="0">
                <a:solidFill>
                  <a:srgbClr val="001080"/>
                </a:solidFill>
                <a:effectLst/>
                <a:latin typeface="Consolas" panose="020B0609020204030204" pitchFamily="49" charset="0"/>
              </a:rPr>
              <a:t>:</a:t>
            </a:r>
            <a:r>
              <a:rPr lang="fr-FR" sz="2000" b="0" dirty="0">
                <a:solidFill>
                  <a:srgbClr val="A31515"/>
                </a:solidFill>
                <a:effectLst/>
                <a:latin typeface="Consolas" panose="020B0609020204030204" pitchFamily="49" charset="0"/>
              </a:rPr>
              <a:t>"PC"</a:t>
            </a:r>
            <a:r>
              <a:rPr lang="fr-FR" sz="2000" b="0" dirty="0">
                <a:solidFill>
                  <a:srgbClr val="3B3B3B"/>
                </a:solidFill>
                <a:effectLst/>
                <a:latin typeface="Consolas" panose="020B0609020204030204" pitchFamily="49" charset="0"/>
              </a:rPr>
              <a:t>,</a:t>
            </a:r>
            <a:r>
              <a:rPr lang="fr-FR" sz="2000" b="0" dirty="0">
                <a:solidFill>
                  <a:srgbClr val="A31515"/>
                </a:solidFill>
                <a:effectLst/>
                <a:latin typeface="Consolas" panose="020B0609020204030204" pitchFamily="49" charset="0"/>
              </a:rPr>
              <a:t>"quantite"</a:t>
            </a:r>
            <a:r>
              <a:rPr lang="fr-FR" sz="2000" b="0" dirty="0">
                <a:solidFill>
                  <a:srgbClr val="001080"/>
                </a:solidFill>
                <a:effectLst/>
                <a:latin typeface="Consolas" panose="020B0609020204030204" pitchFamily="49" charset="0"/>
              </a:rPr>
              <a:t>:</a:t>
            </a:r>
            <a:r>
              <a:rPr lang="fr-FR" sz="2000" b="0" dirty="0">
                <a:solidFill>
                  <a:srgbClr val="098658"/>
                </a:solidFill>
                <a:effectLst/>
                <a:latin typeface="Consolas" panose="020B0609020204030204" pitchFamily="49" charset="0"/>
              </a:rPr>
              <a:t>5</a:t>
            </a:r>
            <a:r>
              <a:rPr lang="fr-FR" sz="2000" b="0" dirty="0">
                <a:solidFill>
                  <a:srgbClr val="3B3B3B"/>
                </a:solidFill>
                <a:effectLst/>
                <a:latin typeface="Consolas" panose="020B0609020204030204" pitchFamily="49" charset="0"/>
              </a:rPr>
              <a:t>},</a:t>
            </a:r>
          </a:p>
          <a:p>
            <a:r>
              <a:rPr lang="fr-FR" sz="2000" b="0" dirty="0">
                <a:solidFill>
                  <a:srgbClr val="3B3B3B"/>
                </a:solidFill>
                <a:effectLst/>
                <a:latin typeface="Consolas" panose="020B0609020204030204" pitchFamily="49" charset="0"/>
              </a:rPr>
              <a:t>             {</a:t>
            </a:r>
            <a:r>
              <a:rPr lang="fr-FR" sz="2000" b="0" dirty="0">
                <a:solidFill>
                  <a:srgbClr val="A31515"/>
                </a:solidFill>
                <a:effectLst/>
                <a:latin typeface="Consolas" panose="020B0609020204030204" pitchFamily="49" charset="0"/>
              </a:rPr>
              <a:t>"nom"</a:t>
            </a:r>
            <a:r>
              <a:rPr lang="fr-FR" sz="2000" b="0" dirty="0">
                <a:solidFill>
                  <a:srgbClr val="001080"/>
                </a:solidFill>
                <a:effectLst/>
                <a:latin typeface="Consolas" panose="020B0609020204030204" pitchFamily="49" charset="0"/>
              </a:rPr>
              <a:t>:</a:t>
            </a:r>
            <a:r>
              <a:rPr lang="fr-FR" sz="2000" b="0" dirty="0">
                <a:solidFill>
                  <a:srgbClr val="A31515"/>
                </a:solidFill>
                <a:effectLst/>
                <a:latin typeface="Consolas" panose="020B0609020204030204" pitchFamily="49" charset="0"/>
              </a:rPr>
              <a:t>"Souirs"</a:t>
            </a:r>
            <a:r>
              <a:rPr lang="fr-FR" sz="2000" b="0" dirty="0">
                <a:solidFill>
                  <a:srgbClr val="3B3B3B"/>
                </a:solidFill>
                <a:effectLst/>
                <a:latin typeface="Consolas" panose="020B0609020204030204" pitchFamily="49" charset="0"/>
              </a:rPr>
              <a:t>,</a:t>
            </a:r>
            <a:r>
              <a:rPr lang="fr-FR" sz="2000" b="0" dirty="0">
                <a:solidFill>
                  <a:srgbClr val="A31515"/>
                </a:solidFill>
                <a:effectLst/>
                <a:latin typeface="Consolas" panose="020B0609020204030204" pitchFamily="49" charset="0"/>
              </a:rPr>
              <a:t>"quantite"</a:t>
            </a:r>
            <a:r>
              <a:rPr lang="fr-FR" sz="2000" b="0" dirty="0">
                <a:solidFill>
                  <a:srgbClr val="001080"/>
                </a:solidFill>
                <a:effectLst/>
                <a:latin typeface="Consolas" panose="020B0609020204030204" pitchFamily="49" charset="0"/>
              </a:rPr>
              <a:t>:</a:t>
            </a:r>
            <a:r>
              <a:rPr lang="fr-FR" sz="2000" b="0" dirty="0">
                <a:solidFill>
                  <a:srgbClr val="098658"/>
                </a:solidFill>
                <a:effectLst/>
                <a:latin typeface="Consolas" panose="020B0609020204030204" pitchFamily="49" charset="0"/>
              </a:rPr>
              <a:t>10</a:t>
            </a:r>
            <a:r>
              <a:rPr lang="fr-FR" sz="2000" b="0" dirty="0">
                <a:solidFill>
                  <a:srgbClr val="3B3B3B"/>
                </a:solidFill>
                <a:effectLst/>
                <a:latin typeface="Consolas" panose="020B0609020204030204" pitchFamily="49" charset="0"/>
              </a:rPr>
              <a:t>},</a:t>
            </a:r>
          </a:p>
          <a:p>
            <a:r>
              <a:rPr lang="fr-FR" sz="2000" b="0" dirty="0">
                <a:solidFill>
                  <a:srgbClr val="3B3B3B"/>
                </a:solidFill>
                <a:effectLst/>
                <a:latin typeface="Consolas" panose="020B0609020204030204" pitchFamily="49" charset="0"/>
              </a:rPr>
              <a:t>             {</a:t>
            </a:r>
            <a:r>
              <a:rPr lang="fr-FR" sz="2000" b="0" dirty="0">
                <a:solidFill>
                  <a:srgbClr val="A31515"/>
                </a:solidFill>
                <a:effectLst/>
                <a:latin typeface="Consolas" panose="020B0609020204030204" pitchFamily="49" charset="0"/>
              </a:rPr>
              <a:t>"nom"</a:t>
            </a:r>
            <a:r>
              <a:rPr lang="fr-FR" sz="2000" b="0" dirty="0">
                <a:solidFill>
                  <a:srgbClr val="001080"/>
                </a:solidFill>
                <a:effectLst/>
                <a:latin typeface="Consolas" panose="020B0609020204030204" pitchFamily="49" charset="0"/>
              </a:rPr>
              <a:t>:</a:t>
            </a:r>
            <a:r>
              <a:rPr lang="fr-FR" sz="2000" b="0" dirty="0">
                <a:solidFill>
                  <a:srgbClr val="A31515"/>
                </a:solidFill>
                <a:effectLst/>
                <a:latin typeface="Consolas" panose="020B0609020204030204" pitchFamily="49" charset="0"/>
              </a:rPr>
              <a:t>"Clavier"</a:t>
            </a:r>
            <a:r>
              <a:rPr lang="fr-FR" sz="2000" b="0" dirty="0">
                <a:solidFill>
                  <a:srgbClr val="3B3B3B"/>
                </a:solidFill>
                <a:effectLst/>
                <a:latin typeface="Consolas" panose="020B0609020204030204" pitchFamily="49" charset="0"/>
              </a:rPr>
              <a:t>,</a:t>
            </a:r>
            <a:r>
              <a:rPr lang="fr-FR" sz="2000" b="0" dirty="0">
                <a:solidFill>
                  <a:srgbClr val="A31515"/>
                </a:solidFill>
                <a:effectLst/>
                <a:latin typeface="Consolas" panose="020B0609020204030204" pitchFamily="49" charset="0"/>
              </a:rPr>
              <a:t>"quantite"</a:t>
            </a:r>
            <a:r>
              <a:rPr lang="fr-FR" sz="2000" b="0" dirty="0">
                <a:solidFill>
                  <a:srgbClr val="001080"/>
                </a:solidFill>
                <a:effectLst/>
                <a:latin typeface="Consolas" panose="020B0609020204030204" pitchFamily="49" charset="0"/>
              </a:rPr>
              <a:t>:</a:t>
            </a:r>
            <a:r>
              <a:rPr lang="fr-FR" sz="2000" b="0" dirty="0">
                <a:solidFill>
                  <a:srgbClr val="098658"/>
                </a:solidFill>
                <a:effectLst/>
                <a:latin typeface="Consolas" panose="020B0609020204030204" pitchFamily="49" charset="0"/>
              </a:rPr>
              <a:t>10</a:t>
            </a:r>
            <a:r>
              <a:rPr lang="fr-FR" sz="2000" b="0" dirty="0">
                <a:solidFill>
                  <a:srgbClr val="3B3B3B"/>
                </a:solidFill>
                <a:effectLst/>
                <a:latin typeface="Consolas" panose="020B0609020204030204" pitchFamily="49" charset="0"/>
              </a:rPr>
              <a:t>}</a:t>
            </a:r>
          </a:p>
          <a:p>
            <a:r>
              <a:rPr lang="fr-FR" sz="2000" b="0" dirty="0">
                <a:solidFill>
                  <a:srgbClr val="3B3B3B"/>
                </a:solidFill>
                <a:effectLst/>
                <a:latin typeface="Consolas" panose="020B0609020204030204" pitchFamily="49" charset="0"/>
              </a:rPr>
              <a:t>             ]</a:t>
            </a:r>
          </a:p>
          <a:p>
            <a:r>
              <a:rPr lang="fr-FR" sz="20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912257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E0A49E-5E31-4D18-AE50-8E10148A830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C79C64E-F343-4F89-A5AD-97418EDBE76D}"/>
              </a:ext>
            </a:extLst>
          </p:cNvPr>
          <p:cNvSpPr>
            <a:spLocks noGrp="1"/>
          </p:cNvSpPr>
          <p:nvPr>
            <p:ph idx="1"/>
          </p:nvPr>
        </p:nvSpPr>
        <p:spPr/>
        <p:txBody>
          <a:bodyPr/>
          <a:lstStyle/>
          <a:p>
            <a:endParaRPr lang="fr-FR"/>
          </a:p>
        </p:txBody>
      </p:sp>
      <p:sp>
        <p:nvSpPr>
          <p:cNvPr id="4" name="ZoneTexte 3">
            <a:extLst>
              <a:ext uri="{FF2B5EF4-FFF2-40B4-BE49-F238E27FC236}">
                <a16:creationId xmlns:a16="http://schemas.microsoft.com/office/drawing/2014/main" id="{1A23E9C9-014B-441F-9967-AC45FB086A98}"/>
              </a:ext>
            </a:extLst>
          </p:cNvPr>
          <p:cNvSpPr txBox="1"/>
          <p:nvPr/>
        </p:nvSpPr>
        <p:spPr>
          <a:xfrm>
            <a:off x="591185" y="1920207"/>
            <a:ext cx="11222182" cy="4893647"/>
          </a:xfrm>
          <a:prstGeom prst="rect">
            <a:avLst/>
          </a:prstGeom>
          <a:noFill/>
        </p:spPr>
        <p:txBody>
          <a:bodyPr wrap="square">
            <a:spAutoFit/>
          </a:bodyPr>
          <a:lstStyle/>
          <a:p>
            <a:r>
              <a:rPr lang="fr-FR" sz="2400" b="0" dirty="0" err="1">
                <a:solidFill>
                  <a:srgbClr val="0000FF"/>
                </a:solidFill>
                <a:effectLst/>
                <a:latin typeface="Consolas" panose="020B0609020204030204" pitchFamily="49" charset="0"/>
              </a:rPr>
              <a:t>async</a:t>
            </a:r>
            <a:r>
              <a:rPr lang="fr-FR" sz="2400" b="0" dirty="0">
                <a:solidFill>
                  <a:srgbClr val="000000"/>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function</a:t>
            </a:r>
            <a:r>
              <a:rPr lang="fr-FR" sz="2400" b="0" dirty="0">
                <a:solidFill>
                  <a:srgbClr val="000000"/>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envoyerMessage</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008000"/>
                </a:solidFill>
                <a:effectLst/>
                <a:latin typeface="Consolas" panose="020B0609020204030204" pitchFamily="49" charset="0"/>
              </a:rPr>
              <a:t>//Connexion au serveur</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var </a:t>
            </a:r>
            <a:r>
              <a:rPr lang="fr-FR" sz="2400" b="0" dirty="0" err="1">
                <a:solidFill>
                  <a:srgbClr val="001080"/>
                </a:solidFill>
                <a:effectLst/>
                <a:latin typeface="Consolas" panose="020B0609020204030204" pitchFamily="49" charset="0"/>
              </a:rPr>
              <a:t>connection</a:t>
            </a:r>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amqp</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connect</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amqp</a:t>
            </a:r>
            <a:r>
              <a:rPr lang="fr-FR" sz="2400" b="0" dirty="0">
                <a:solidFill>
                  <a:srgbClr val="A31515"/>
                </a:solidFill>
                <a:effectLst/>
                <a:latin typeface="Consolas" panose="020B0609020204030204" pitchFamily="49" charset="0"/>
              </a:rPr>
              <a:t>://localhost:5672"</a:t>
            </a:r>
            <a:r>
              <a:rPr lang="fr-FR" sz="2400" b="0" dirty="0">
                <a:solidFill>
                  <a:srgbClr val="000000"/>
                </a:solidFill>
                <a:effectLst/>
                <a:latin typeface="Consolas" panose="020B0609020204030204" pitchFamily="49" charset="0"/>
              </a:rPr>
              <a:t>)</a:t>
            </a:r>
          </a:p>
          <a:p>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a:solidFill>
                  <a:srgbClr val="008000"/>
                </a:solidFill>
                <a:effectLst/>
                <a:latin typeface="Consolas" panose="020B0609020204030204" pitchFamily="49" charset="0"/>
              </a:rPr>
              <a:t>//Création d'un canal de </a:t>
            </a:r>
            <a:r>
              <a:rPr lang="fr-FR" sz="2400" b="0" dirty="0" err="1">
                <a:solidFill>
                  <a:srgbClr val="008000"/>
                </a:solidFill>
                <a:effectLst/>
                <a:latin typeface="Consolas" panose="020B0609020204030204" pitchFamily="49" charset="0"/>
              </a:rPr>
              <a:t>comunication</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var </a:t>
            </a:r>
            <a:r>
              <a:rPr lang="fr-FR" sz="2400" b="0" dirty="0">
                <a:solidFill>
                  <a:srgbClr val="001080"/>
                </a:solidFill>
                <a:effectLst/>
                <a:latin typeface="Consolas" panose="020B0609020204030204" pitchFamily="49" charset="0"/>
              </a:rPr>
              <a:t>canal</a:t>
            </a:r>
            <a:r>
              <a:rPr lang="fr-FR" sz="2400" b="0" dirty="0">
                <a:solidFill>
                  <a:srgbClr val="000000"/>
                </a:solidFill>
                <a:effectLst/>
                <a:latin typeface="Consolas" panose="020B0609020204030204" pitchFamily="49" charset="0"/>
              </a:rPr>
              <a:t> =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connection</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createChannel</a:t>
            </a:r>
            <a:r>
              <a:rPr lang="fr-FR" sz="2400" b="0" dirty="0">
                <a:solidFill>
                  <a:srgbClr val="000000"/>
                </a:solidFill>
                <a:effectLst/>
                <a:latin typeface="Consolas" panose="020B0609020204030204" pitchFamily="49" charset="0"/>
              </a:rPr>
              <a:t>();</a:t>
            </a:r>
          </a:p>
          <a:p>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a:solidFill>
                  <a:srgbClr val="008000"/>
                </a:solidFill>
                <a:effectLst/>
                <a:latin typeface="Consolas" panose="020B0609020204030204" pitchFamily="49" charset="0"/>
              </a:rPr>
              <a:t>//Création de la file d'attente ou utilisation si elle existe</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a:solidFill>
                  <a:srgbClr val="0000FF"/>
                </a:solidFill>
                <a:effectLst/>
                <a:latin typeface="Consolas" panose="020B0609020204030204" pitchFamily="49" charset="0"/>
              </a:rPr>
              <a:t>var</a:t>
            </a:r>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queue</a:t>
            </a:r>
            <a:r>
              <a:rPr lang="fr-FR" sz="2400" b="0" dirty="0">
                <a:solidFill>
                  <a:srgbClr val="000000"/>
                </a:solidFill>
                <a:effectLst/>
                <a:latin typeface="Consolas" panose="020B0609020204030204" pitchFamily="49" charset="0"/>
              </a:rPr>
              <a:t> =</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Add</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products</a:t>
            </a:r>
            <a:r>
              <a:rPr lang="fr-FR" sz="2400" b="0" dirty="0">
                <a:solidFill>
                  <a:srgbClr val="A31515"/>
                </a:solidFill>
                <a:effectLst/>
                <a:latin typeface="Consolas" panose="020B0609020204030204" pitchFamily="49" charset="0"/>
              </a:rPr>
              <a:t>"</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a:solidFill>
                  <a:srgbClr val="0000FF"/>
                </a:solidFill>
                <a:effectLst/>
                <a:latin typeface="Consolas" panose="020B0609020204030204" pitchFamily="49" charset="0"/>
              </a:rPr>
              <a:t>var</a:t>
            </a:r>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msg</a:t>
            </a:r>
            <a:r>
              <a:rPr lang="fr-FR" sz="2400" b="0" dirty="0">
                <a:solidFill>
                  <a:srgbClr val="000000"/>
                </a:solidFill>
                <a:effectLst/>
                <a:latin typeface="Consolas" panose="020B0609020204030204" pitchFamily="49" charset="0"/>
              </a:rPr>
              <a:t> =  </a:t>
            </a:r>
            <a:r>
              <a:rPr lang="fr-FR" sz="2400" b="0" dirty="0">
                <a:solidFill>
                  <a:srgbClr val="A31515"/>
                </a:solidFill>
                <a:effectLst/>
                <a:latin typeface="Consolas" panose="020B0609020204030204" pitchFamily="49" charset="0"/>
              </a:rPr>
              <a:t>"Un nouveau produit a été ajouté !!!"</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canal</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assertQueue</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queue</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canal</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sendToQueue</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queue</a:t>
            </a:r>
            <a:r>
              <a:rPr lang="fr-FR" sz="2400" b="0" dirty="0" err="1">
                <a:solidFill>
                  <a:srgbClr val="000000"/>
                </a:solidFill>
                <a:effectLst/>
                <a:latin typeface="Consolas" panose="020B0609020204030204" pitchFamily="49" charset="0"/>
              </a:rPr>
              <a:t>,</a:t>
            </a:r>
            <a:r>
              <a:rPr lang="fr-FR" sz="2400" b="0" dirty="0" err="1">
                <a:solidFill>
                  <a:srgbClr val="267F99"/>
                </a:solidFill>
                <a:effectLst/>
                <a:latin typeface="Consolas" panose="020B0609020204030204" pitchFamily="49" charset="0"/>
              </a:rPr>
              <a:t>Buffer</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from</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msg</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console</a:t>
            </a:r>
            <a:r>
              <a:rPr lang="fr-FR" sz="2400" b="0" dirty="0">
                <a:solidFill>
                  <a:srgbClr val="000000"/>
                </a:solidFill>
                <a:effectLst/>
                <a:latin typeface="Consolas" panose="020B0609020204030204" pitchFamily="49" charset="0"/>
              </a:rPr>
              <a:t>.</a:t>
            </a:r>
            <a:r>
              <a:rPr lang="fr-FR" sz="2400" b="0" dirty="0">
                <a:solidFill>
                  <a:srgbClr val="795E26"/>
                </a:solidFill>
                <a:effectLst/>
                <a:latin typeface="Consolas" panose="020B0609020204030204" pitchFamily="49" charset="0"/>
              </a:rPr>
              <a:t>log</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'Message Envoyé %s'</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msg</a:t>
            </a:r>
            <a:r>
              <a:rPr lang="fr-FR" sz="2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58668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98D9FC-5910-4B01-A9F3-19F56C65172C}"/>
              </a:ext>
            </a:extLst>
          </p:cNvPr>
          <p:cNvSpPr>
            <a:spLocks noGrp="1"/>
          </p:cNvSpPr>
          <p:nvPr>
            <p:ph type="title"/>
          </p:nvPr>
        </p:nvSpPr>
        <p:spPr/>
        <p:txBody>
          <a:bodyPr/>
          <a:lstStyle/>
          <a:p>
            <a:r>
              <a:rPr lang="fr-FR" dirty="0" err="1"/>
              <a:t>Tp</a:t>
            </a:r>
            <a:r>
              <a:rPr lang="fr-FR" dirty="0"/>
              <a:t> PRODUITS ET COMMANDE</a:t>
            </a:r>
          </a:p>
        </p:txBody>
      </p:sp>
      <p:sp>
        <p:nvSpPr>
          <p:cNvPr id="3" name="Espace réservé du contenu 2">
            <a:extLst>
              <a:ext uri="{FF2B5EF4-FFF2-40B4-BE49-F238E27FC236}">
                <a16:creationId xmlns:a16="http://schemas.microsoft.com/office/drawing/2014/main" id="{E40F7908-A19A-4E1E-9109-F76DA8C01490}"/>
              </a:ext>
            </a:extLst>
          </p:cNvPr>
          <p:cNvSpPr>
            <a:spLocks noGrp="1"/>
          </p:cNvSpPr>
          <p:nvPr>
            <p:ph idx="1"/>
          </p:nvPr>
        </p:nvSpPr>
        <p:spPr>
          <a:xfrm>
            <a:off x="412258" y="2038663"/>
            <a:ext cx="11029615" cy="1680290"/>
          </a:xfrm>
        </p:spPr>
        <p:txBody>
          <a:bodyPr>
            <a:normAutofit/>
          </a:bodyPr>
          <a:lstStyle/>
          <a:p>
            <a:r>
              <a:rPr lang="fr-FR" sz="3200" dirty="0"/>
              <a:t>Dans le service utilisateur, ajouter un une nouvelle api qui permet de lire les messages envoyées par le service produit.</a:t>
            </a:r>
          </a:p>
          <a:p>
            <a:r>
              <a:rPr lang="fr-FR" sz="3200" dirty="0"/>
              <a:t>Seuls les utilisateurs authentifiés peuvent lire ces messages.</a:t>
            </a:r>
          </a:p>
          <a:p>
            <a:endParaRPr lang="fr-FR" sz="2400" dirty="0"/>
          </a:p>
        </p:txBody>
      </p:sp>
      <p:sp>
        <p:nvSpPr>
          <p:cNvPr id="4" name="ZoneTexte 3">
            <a:extLst>
              <a:ext uri="{FF2B5EF4-FFF2-40B4-BE49-F238E27FC236}">
                <a16:creationId xmlns:a16="http://schemas.microsoft.com/office/drawing/2014/main" id="{0430E431-CE6A-435F-A0B1-AB9C7FB61CDE}"/>
              </a:ext>
            </a:extLst>
          </p:cNvPr>
          <p:cNvSpPr txBox="1"/>
          <p:nvPr/>
        </p:nvSpPr>
        <p:spPr>
          <a:xfrm>
            <a:off x="581192" y="3488043"/>
            <a:ext cx="10691748" cy="3416320"/>
          </a:xfrm>
          <a:prstGeom prst="rect">
            <a:avLst/>
          </a:prstGeom>
          <a:noFill/>
        </p:spPr>
        <p:txBody>
          <a:bodyPr wrap="square">
            <a:spAutoFit/>
          </a:bodyPr>
          <a:lstStyle/>
          <a:p>
            <a:r>
              <a:rPr lang="fr-FR" sz="2400" b="0" dirty="0" err="1">
                <a:solidFill>
                  <a:srgbClr val="0000FF"/>
                </a:solidFill>
                <a:effectLst/>
                <a:latin typeface="Consolas" panose="020B0609020204030204" pitchFamily="49" charset="0"/>
              </a:rPr>
              <a:t>async</a:t>
            </a:r>
            <a:r>
              <a:rPr lang="fr-FR" sz="2400" b="0" dirty="0">
                <a:solidFill>
                  <a:srgbClr val="000000"/>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function</a:t>
            </a:r>
            <a:r>
              <a:rPr lang="fr-FR" sz="2400" b="0" dirty="0">
                <a:solidFill>
                  <a:srgbClr val="000000"/>
                </a:solidFill>
                <a:effectLst/>
                <a:latin typeface="Consolas" panose="020B0609020204030204" pitchFamily="49" charset="0"/>
              </a:rPr>
              <a:t> </a:t>
            </a:r>
            <a:r>
              <a:rPr lang="fr-FR" sz="2400" b="0" dirty="0" err="1">
                <a:solidFill>
                  <a:srgbClr val="795E26"/>
                </a:solidFill>
                <a:effectLst/>
                <a:latin typeface="Consolas" panose="020B0609020204030204" pitchFamily="49" charset="0"/>
              </a:rPr>
              <a:t>recevoirMessage</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0000FF"/>
                </a:solidFill>
                <a:effectLst/>
                <a:latin typeface="Consolas" panose="020B0609020204030204" pitchFamily="49" charset="0"/>
              </a:rPr>
              <a:t>const</a:t>
            </a:r>
            <a:r>
              <a:rPr lang="fr-FR" sz="2400" b="0" dirty="0">
                <a:solidFill>
                  <a:srgbClr val="000000"/>
                </a:solidFill>
                <a:effectLst/>
                <a:latin typeface="Consolas" panose="020B0609020204030204" pitchFamily="49" charset="0"/>
              </a:rPr>
              <a:t> </a:t>
            </a:r>
            <a:r>
              <a:rPr lang="fr-FR" sz="2400" b="0" dirty="0" err="1">
                <a:solidFill>
                  <a:srgbClr val="0070C1"/>
                </a:solidFill>
                <a:effectLst/>
                <a:latin typeface="Consolas" panose="020B0609020204030204" pitchFamily="49" charset="0"/>
              </a:rPr>
              <a:t>amqpServer</a:t>
            </a:r>
            <a:r>
              <a:rPr lang="fr-FR" sz="2400" b="0" dirty="0">
                <a:solidFill>
                  <a:srgbClr val="000000"/>
                </a:solidFill>
                <a:effectLst/>
                <a:latin typeface="Consolas" panose="020B0609020204030204" pitchFamily="49" charset="0"/>
              </a:rPr>
              <a:t> = </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amqp</a:t>
            </a:r>
            <a:r>
              <a:rPr lang="fr-FR" sz="2400" b="0" dirty="0">
                <a:solidFill>
                  <a:srgbClr val="A31515"/>
                </a:solidFill>
                <a:effectLst/>
                <a:latin typeface="Consolas" panose="020B0609020204030204" pitchFamily="49" charset="0"/>
              </a:rPr>
              <a:t>://localhost:5672"</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a:solidFill>
                  <a:srgbClr val="0000FF"/>
                </a:solidFill>
                <a:effectLst/>
                <a:latin typeface="Consolas" panose="020B0609020204030204" pitchFamily="49" charset="0"/>
              </a:rPr>
              <a:t>var</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connection</a:t>
            </a:r>
            <a:r>
              <a:rPr lang="fr-FR" sz="2400" b="0" dirty="0">
                <a:solidFill>
                  <a:srgbClr val="000000"/>
                </a:solidFill>
                <a:effectLst/>
                <a:latin typeface="Consolas" panose="020B0609020204030204" pitchFamily="49" charset="0"/>
              </a:rPr>
              <a:t> =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amqp</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connect</a:t>
            </a:r>
            <a:r>
              <a:rPr lang="fr-FR" sz="2400" b="0" dirty="0">
                <a:solidFill>
                  <a:srgbClr val="000000"/>
                </a:solidFill>
                <a:effectLst/>
                <a:latin typeface="Consolas" panose="020B0609020204030204" pitchFamily="49" charset="0"/>
              </a:rPr>
              <a:t>(</a:t>
            </a:r>
            <a:r>
              <a:rPr lang="fr-FR" sz="2400" b="0" dirty="0" err="1">
                <a:solidFill>
                  <a:srgbClr val="0070C1"/>
                </a:solidFill>
                <a:effectLst/>
                <a:latin typeface="Consolas" panose="020B0609020204030204" pitchFamily="49" charset="0"/>
              </a:rPr>
              <a:t>amqpServer</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0000FF"/>
                </a:solidFill>
                <a:effectLst/>
                <a:latin typeface="Consolas" panose="020B0609020204030204" pitchFamily="49" charset="0"/>
              </a:rPr>
              <a:t>var</a:t>
            </a:r>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canal</a:t>
            </a:r>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connection</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createChannel</a:t>
            </a:r>
            <a:r>
              <a:rPr lang="fr-FR" sz="2400" b="0" dirty="0">
                <a:solidFill>
                  <a:srgbClr val="000000"/>
                </a:solidFill>
                <a:effectLst/>
                <a:latin typeface="Consolas" panose="020B0609020204030204" pitchFamily="49" charset="0"/>
              </a:rPr>
              <a:t>() </a:t>
            </a:r>
          </a:p>
          <a:p>
            <a:r>
              <a:rPr lang="fr-FR" sz="2400" b="0" dirty="0">
                <a:solidFill>
                  <a:srgbClr val="000000"/>
                </a:solidFill>
                <a:effectLst/>
                <a:latin typeface="Consolas" panose="020B0609020204030204" pitchFamily="49" charset="0"/>
              </a:rPr>
              <a:t>    </a:t>
            </a:r>
            <a:r>
              <a:rPr lang="fr-FR" sz="2400" b="0" dirty="0">
                <a:solidFill>
                  <a:srgbClr val="0000FF"/>
                </a:solidFill>
                <a:effectLst/>
                <a:latin typeface="Consolas" panose="020B0609020204030204" pitchFamily="49" charset="0"/>
              </a:rPr>
              <a:t>var</a:t>
            </a:r>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queue</a:t>
            </a:r>
            <a:r>
              <a:rPr lang="fr-FR" sz="2400" b="0" dirty="0">
                <a:solidFill>
                  <a:srgbClr val="000000"/>
                </a:solidFill>
                <a:effectLst/>
                <a:latin typeface="Consolas" panose="020B0609020204030204" pitchFamily="49" charset="0"/>
              </a:rPr>
              <a:t> =</a:t>
            </a:r>
            <a:r>
              <a:rPr lang="fr-FR" sz="2400" b="0" dirty="0">
                <a:solidFill>
                  <a:srgbClr val="A31515"/>
                </a:solidFill>
                <a:effectLst/>
                <a:latin typeface="Consolas" panose="020B0609020204030204" pitchFamily="49" charset="0"/>
              </a:rPr>
              <a:t>"</a:t>
            </a:r>
            <a:r>
              <a:rPr lang="fr-FR" sz="2400" b="0" dirty="0" err="1">
                <a:solidFill>
                  <a:srgbClr val="A31515"/>
                </a:solidFill>
                <a:effectLst/>
                <a:latin typeface="Consolas" panose="020B0609020204030204" pitchFamily="49" charset="0"/>
              </a:rPr>
              <a:t>Add</a:t>
            </a:r>
            <a:r>
              <a:rPr lang="fr-FR" sz="2400" b="0" dirty="0">
                <a:solidFill>
                  <a:srgbClr val="A31515"/>
                </a:solidFill>
                <a:effectLst/>
                <a:latin typeface="Consolas" panose="020B0609020204030204" pitchFamily="49" charset="0"/>
              </a:rPr>
              <a:t> </a:t>
            </a:r>
            <a:r>
              <a:rPr lang="fr-FR" sz="2400" b="0" dirty="0" err="1">
                <a:solidFill>
                  <a:srgbClr val="A31515"/>
                </a:solidFill>
                <a:effectLst/>
                <a:latin typeface="Consolas" panose="020B0609020204030204" pitchFamily="49" charset="0"/>
              </a:rPr>
              <a:t>products</a:t>
            </a:r>
            <a:r>
              <a:rPr lang="fr-FR" sz="2400" b="0" dirty="0">
                <a:solidFill>
                  <a:srgbClr val="A31515"/>
                </a:solidFill>
                <a:effectLst/>
                <a:latin typeface="Consolas" panose="020B0609020204030204" pitchFamily="49" charset="0"/>
              </a:rPr>
              <a:t>"</a:t>
            </a:r>
            <a:endParaRPr lang="fr-FR" sz="2400" b="0" dirty="0">
              <a:solidFill>
                <a:srgbClr val="000000"/>
              </a:solidFill>
              <a:effectLst/>
              <a:latin typeface="Consolas" panose="020B0609020204030204" pitchFamily="49" charset="0"/>
            </a:endParaRPr>
          </a:p>
          <a:p>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canal</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assertQueue</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queue</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err="1">
                <a:solidFill>
                  <a:srgbClr val="AF00DB"/>
                </a:solidFill>
                <a:effectLst/>
                <a:latin typeface="Consolas" panose="020B0609020204030204" pitchFamily="49" charset="0"/>
              </a:rPr>
              <a:t>await</a:t>
            </a:r>
            <a:r>
              <a:rPr lang="fr-FR" sz="2400" b="0" dirty="0">
                <a:solidFill>
                  <a:srgbClr val="000000"/>
                </a:solidFill>
                <a:effectLst/>
                <a:latin typeface="Consolas" panose="020B0609020204030204" pitchFamily="49" charset="0"/>
              </a:rPr>
              <a:t> </a:t>
            </a:r>
            <a:r>
              <a:rPr lang="fr-FR" sz="2400" b="0" dirty="0" err="1">
                <a:solidFill>
                  <a:srgbClr val="001080"/>
                </a:solidFill>
                <a:effectLst/>
                <a:latin typeface="Consolas" panose="020B0609020204030204" pitchFamily="49" charset="0"/>
              </a:rPr>
              <a:t>canal</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consume</a:t>
            </a:r>
            <a:r>
              <a:rPr lang="fr-FR" sz="2400" b="0" dirty="0">
                <a:solidFill>
                  <a:srgbClr val="000000"/>
                </a:solidFill>
                <a:effectLst/>
                <a:latin typeface="Consolas" panose="020B0609020204030204" pitchFamily="49" charset="0"/>
              </a:rPr>
              <a:t>(</a:t>
            </a:r>
            <a:r>
              <a:rPr lang="fr-FR" sz="2400" b="0" dirty="0">
                <a:solidFill>
                  <a:srgbClr val="001080"/>
                </a:solidFill>
                <a:effectLst/>
                <a:latin typeface="Consolas" panose="020B0609020204030204" pitchFamily="49" charset="0"/>
              </a:rPr>
              <a:t>queue</a:t>
            </a:r>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msg</a:t>
            </a:r>
            <a:r>
              <a:rPr lang="fr-FR" sz="2400" b="0" dirty="0">
                <a:solidFill>
                  <a:srgbClr val="000000"/>
                </a:solidFill>
                <a:effectLst/>
                <a:latin typeface="Consolas" panose="020B0609020204030204" pitchFamily="49" charset="0"/>
              </a:rPr>
              <a:t>)</a:t>
            </a:r>
            <a:r>
              <a:rPr lang="fr-FR" sz="2400" b="0" dirty="0">
                <a:solidFill>
                  <a:srgbClr val="0000FF"/>
                </a:solidFill>
                <a:effectLst/>
                <a:latin typeface="Consolas" panose="020B0609020204030204" pitchFamily="49" charset="0"/>
              </a:rPr>
              <a:t>=&gt;</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r>
              <a:rPr lang="fr-FR" sz="2400" b="0" dirty="0">
                <a:solidFill>
                  <a:srgbClr val="001080"/>
                </a:solidFill>
                <a:effectLst/>
                <a:latin typeface="Consolas" panose="020B0609020204030204" pitchFamily="49" charset="0"/>
              </a:rPr>
              <a:t>console</a:t>
            </a:r>
            <a:r>
              <a:rPr lang="fr-FR" sz="2400" b="0" dirty="0">
                <a:solidFill>
                  <a:srgbClr val="000000"/>
                </a:solidFill>
                <a:effectLst/>
                <a:latin typeface="Consolas" panose="020B0609020204030204" pitchFamily="49" charset="0"/>
              </a:rPr>
              <a:t>.</a:t>
            </a:r>
            <a:r>
              <a:rPr lang="fr-FR" sz="2400" b="0" dirty="0">
                <a:solidFill>
                  <a:srgbClr val="795E26"/>
                </a:solidFill>
                <a:effectLst/>
                <a:latin typeface="Consolas" panose="020B0609020204030204" pitchFamily="49" charset="0"/>
              </a:rPr>
              <a:t>log</a:t>
            </a:r>
            <a:r>
              <a:rPr lang="fr-FR" sz="2400" b="0" dirty="0">
                <a:solidFill>
                  <a:srgbClr val="000000"/>
                </a:solidFill>
                <a:effectLst/>
                <a:latin typeface="Consolas" panose="020B0609020204030204" pitchFamily="49" charset="0"/>
              </a:rPr>
              <a:t>(</a:t>
            </a:r>
            <a:r>
              <a:rPr lang="fr-FR" sz="2400" b="0" dirty="0">
                <a:solidFill>
                  <a:srgbClr val="A31515"/>
                </a:solidFill>
                <a:effectLst/>
                <a:latin typeface="Consolas" panose="020B0609020204030204" pitchFamily="49" charset="0"/>
              </a:rPr>
              <a:t>'Message reçu:%s'</a:t>
            </a:r>
            <a:r>
              <a:rPr lang="fr-FR" sz="2400" b="0" dirty="0">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msg</a:t>
            </a:r>
            <a:r>
              <a:rPr lang="fr-FR" sz="2400" b="0" dirty="0" err="1">
                <a:solidFill>
                  <a:srgbClr val="000000"/>
                </a:solidFill>
                <a:effectLst/>
                <a:latin typeface="Consolas" panose="020B0609020204030204" pitchFamily="49" charset="0"/>
              </a:rPr>
              <a:t>.</a:t>
            </a:r>
            <a:r>
              <a:rPr lang="fr-FR" sz="2400" b="0" dirty="0" err="1">
                <a:solidFill>
                  <a:srgbClr val="001080"/>
                </a:solidFill>
                <a:effectLst/>
                <a:latin typeface="Consolas" panose="020B0609020204030204" pitchFamily="49" charset="0"/>
              </a:rPr>
              <a:t>content</a:t>
            </a:r>
            <a:r>
              <a:rPr lang="fr-FR" sz="2400" b="0" dirty="0" err="1">
                <a:solidFill>
                  <a:srgbClr val="000000"/>
                </a:solidFill>
                <a:effectLst/>
                <a:latin typeface="Consolas" panose="020B0609020204030204" pitchFamily="49" charset="0"/>
              </a:rPr>
              <a:t>.</a:t>
            </a:r>
            <a:r>
              <a:rPr lang="fr-FR" sz="2400" b="0" dirty="0" err="1">
                <a:solidFill>
                  <a:srgbClr val="795E26"/>
                </a:solidFill>
                <a:effectLst/>
                <a:latin typeface="Consolas" panose="020B0609020204030204" pitchFamily="49" charset="0"/>
              </a:rPr>
              <a:t>toString</a:t>
            </a:r>
            <a:r>
              <a:rPr lang="fr-FR" sz="2400" b="0" dirty="0">
                <a:solidFill>
                  <a:srgbClr val="000000"/>
                </a:solidFill>
                <a:effectLst/>
                <a:latin typeface="Consolas" panose="020B0609020204030204" pitchFamily="49" charset="0"/>
              </a:rPr>
              <a:t>());</a:t>
            </a:r>
          </a:p>
          <a:p>
            <a:r>
              <a:rPr lang="fr-FR"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6148813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5822</TotalTime>
  <Words>3674</Words>
  <Application>Microsoft Office PowerPoint</Application>
  <PresentationFormat>Grand écran</PresentationFormat>
  <Paragraphs>303</Paragraphs>
  <Slides>37</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37</vt:i4>
      </vt:variant>
    </vt:vector>
  </HeadingPairs>
  <TitlesOfParts>
    <vt:vector size="46" baseType="lpstr">
      <vt:lpstr>Arial</vt:lpstr>
      <vt:lpstr>Calibri</vt:lpstr>
      <vt:lpstr>Calibri Light</vt:lpstr>
      <vt:lpstr>Consolas</vt:lpstr>
      <vt:lpstr>inherit</vt:lpstr>
      <vt:lpstr>Inter</vt:lpstr>
      <vt:lpstr>Roboto</vt:lpstr>
      <vt:lpstr>Ubuntu Mono</vt:lpstr>
      <vt:lpstr>Thème Office</vt:lpstr>
      <vt:lpstr>Système d’authentification</vt:lpstr>
      <vt:lpstr>TP: Système d’authentification </vt:lpstr>
      <vt:lpstr>JSON Web Token :Description</vt:lpstr>
      <vt:lpstr>JSON Web Token :Description</vt:lpstr>
      <vt:lpstr>Présentation PowerPoint</vt:lpstr>
      <vt:lpstr>Structure d’un jeton JWT </vt:lpstr>
      <vt:lpstr>Qu'est-ce que le JWT ? </vt:lpstr>
      <vt:lpstr>Inconvénients des jetons JWT</vt:lpstr>
      <vt:lpstr>Processus</vt:lpstr>
      <vt:lpstr>le stockage de mot de passe sécurisé</vt:lpstr>
      <vt:lpstr>le stockage de mot de passe sécurisé</vt:lpstr>
      <vt:lpstr>Qu'est-ce que le hachage de mot de passe ? </vt:lpstr>
      <vt:lpstr>Qu'est-ce que le salage de mot de passe ? </vt:lpstr>
      <vt:lpstr>Comment utiliser bcrypt pour hacher et vérifier un mot de passe</vt:lpstr>
      <vt:lpstr>REGISTER</vt:lpstr>
      <vt:lpstr>La fonction Post pour ajouter utilisateur</vt:lpstr>
      <vt:lpstr>Utilisation de bcrypt</vt:lpstr>
      <vt:lpstr>Utilisation de bcrypt</vt:lpstr>
      <vt:lpstr>HASHER LE MOT DE PASSSE UTILISATEUR</vt:lpstr>
      <vt:lpstr>La fonction login</vt:lpstr>
      <vt:lpstr>La fonction login</vt:lpstr>
      <vt:lpstr>La fonction login</vt:lpstr>
      <vt:lpstr>Présentation PowerPoint</vt:lpstr>
      <vt:lpstr>Implémentez le middleware d'authentification</vt:lpstr>
      <vt:lpstr>Implémentez le middleware d'authentification</vt:lpstr>
      <vt:lpstr>Implémentez le middleware d'authentification</vt:lpstr>
      <vt:lpstr>le middleware d'authentification</vt:lpstr>
      <vt:lpstr>Implémentez le middleware d'authentification</vt:lpstr>
      <vt:lpstr>Présentation PowerPoint</vt:lpstr>
      <vt:lpstr>Présentation PowerPoint</vt:lpstr>
      <vt:lpstr>Présentation PowerPoint</vt:lpstr>
      <vt:lpstr>Pour recupérer le nom du client</vt:lpstr>
      <vt:lpstr>Communication entre microservices</vt:lpstr>
      <vt:lpstr>La date de création</vt:lpstr>
      <vt:lpstr>Suite TP site E-commerce</vt:lpstr>
      <vt:lpstr>Présentation PowerPoint</vt:lpstr>
      <vt:lpstr>Tp PRODUITS ET COMMANDE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dc:creator>
  <cp:lastModifiedBy>ZAINA OUABOU</cp:lastModifiedBy>
  <cp:revision>91</cp:revision>
  <dcterms:created xsi:type="dcterms:W3CDTF">2023-02-27T09:38:16Z</dcterms:created>
  <dcterms:modified xsi:type="dcterms:W3CDTF">2026-02-18T11:15:46Z</dcterms:modified>
</cp:coreProperties>
</file>